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Roboto" panose="02000000000000000000" pitchFamily="2" charset="0"/>
      <p:regular r:id="rId16"/>
    </p:embeddedFont>
    <p:embeddedFont>
      <p:font typeface="Roboto Bold" panose="020B0604020202020204" charset="0"/>
      <p:regular r:id="rId17"/>
    </p:embeddedFont>
    <p:embeddedFont>
      <p:font typeface="Roboto Bold Italics"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72" y="37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kshithchowdary kuchipudi" userId="2c187ee62a75154b" providerId="LiveId" clId="{DF8986A8-6C56-4293-BFDA-CF3155AB4A20}"/>
    <pc:docChg chg="modSld">
      <pc:chgData name="Yokshithchowdary kuchipudi" userId="2c187ee62a75154b" providerId="LiveId" clId="{DF8986A8-6C56-4293-BFDA-CF3155AB4A20}" dt="2026-01-02T06:47:03.308" v="4" actId="14100"/>
      <pc:docMkLst>
        <pc:docMk/>
      </pc:docMkLst>
      <pc:sldChg chg="modSp mod">
        <pc:chgData name="Yokshithchowdary kuchipudi" userId="2c187ee62a75154b" providerId="LiveId" clId="{DF8986A8-6C56-4293-BFDA-CF3155AB4A20}" dt="2026-01-02T06:47:03.308" v="4" actId="14100"/>
        <pc:sldMkLst>
          <pc:docMk/>
          <pc:sldMk cId="0" sldId="258"/>
        </pc:sldMkLst>
        <pc:spChg chg="mod">
          <ac:chgData name="Yokshithchowdary kuchipudi" userId="2c187ee62a75154b" providerId="LiveId" clId="{DF8986A8-6C56-4293-BFDA-CF3155AB4A20}" dt="2026-01-02T06:46:40.728" v="0" actId="14100"/>
          <ac:spMkLst>
            <pc:docMk/>
            <pc:sldMk cId="0" sldId="258"/>
            <ac:spMk id="7" creationId="{00000000-0000-0000-0000-000000000000}"/>
          </ac:spMkLst>
        </pc:spChg>
        <pc:spChg chg="mod">
          <ac:chgData name="Yokshithchowdary kuchipudi" userId="2c187ee62a75154b" providerId="LiveId" clId="{DF8986A8-6C56-4293-BFDA-CF3155AB4A20}" dt="2026-01-02T06:46:46.149" v="1" actId="14100"/>
          <ac:spMkLst>
            <pc:docMk/>
            <pc:sldMk cId="0" sldId="258"/>
            <ac:spMk id="12" creationId="{00000000-0000-0000-0000-000000000000}"/>
          </ac:spMkLst>
        </pc:spChg>
        <pc:spChg chg="mod">
          <ac:chgData name="Yokshithchowdary kuchipudi" userId="2c187ee62a75154b" providerId="LiveId" clId="{DF8986A8-6C56-4293-BFDA-CF3155AB4A20}" dt="2026-01-02T06:46:53.851" v="2" actId="14100"/>
          <ac:spMkLst>
            <pc:docMk/>
            <pc:sldMk cId="0" sldId="258"/>
            <ac:spMk id="17" creationId="{00000000-0000-0000-0000-000000000000}"/>
          </ac:spMkLst>
        </pc:spChg>
        <pc:spChg chg="mod">
          <ac:chgData name="Yokshithchowdary kuchipudi" userId="2c187ee62a75154b" providerId="LiveId" clId="{DF8986A8-6C56-4293-BFDA-CF3155AB4A20}" dt="2026-01-02T06:47:03.308" v="4" actId="14100"/>
          <ac:spMkLst>
            <pc:docMk/>
            <pc:sldMk cId="0" sldId="258"/>
            <ac:spMk id="22" creationId="{00000000-0000-0000-0000-000000000000}"/>
          </ac:spMkLst>
        </pc:spChg>
        <pc:spChg chg="mod">
          <ac:chgData name="Yokshithchowdary kuchipudi" userId="2c187ee62a75154b" providerId="LiveId" clId="{DF8986A8-6C56-4293-BFDA-CF3155AB4A20}" dt="2026-01-02T06:46:58.806" v="3" actId="14100"/>
          <ac:spMkLst>
            <pc:docMk/>
            <pc:sldMk cId="0" sldId="258"/>
            <ac:spMk id="2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02.01.2026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hyperlink" Target="https://gamma.app/?utm_source=made-with-gamma"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18">
                <a:alpha val="90196"/>
              </a:srgbClr>
            </a:solidFill>
            <a:ln w="12700">
              <a:solidFill>
                <a:srgbClr val="000000"/>
              </a:solidFill>
            </a:ln>
          </p:spPr>
          <p:txBody>
            <a:bodyPr/>
            <a:lstStyle/>
            <a:p>
              <a:endParaRPr lang="en-IN"/>
            </a:p>
          </p:txBody>
        </p:sp>
      </p:grpSp>
      <p:sp>
        <p:nvSpPr>
          <p:cNvPr id="5" name="Freeform 5"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4"/>
            <a:stretch>
              <a:fillRect/>
            </a:stretch>
          </a:blipFill>
        </p:spPr>
        <p:txBody>
          <a:bodyPr/>
          <a:lstStyle/>
          <a:p>
            <a:endParaRPr lang="en-IN"/>
          </a:p>
        </p:txBody>
      </p:sp>
      <p:sp>
        <p:nvSpPr>
          <p:cNvPr id="6" name="TextBox 6"/>
          <p:cNvSpPr txBox="1"/>
          <p:nvPr/>
        </p:nvSpPr>
        <p:spPr>
          <a:xfrm>
            <a:off x="7850238" y="2287038"/>
            <a:ext cx="9445523" cy="1578769"/>
          </a:xfrm>
          <a:prstGeom prst="rect">
            <a:avLst/>
          </a:prstGeom>
        </p:spPr>
        <p:txBody>
          <a:bodyPr lIns="0" tIns="0" rIns="0" bIns="0" rtlCol="0" anchor="t">
            <a:spAutoFit/>
          </a:bodyPr>
          <a:lstStyle/>
          <a:p>
            <a:pPr algn="l">
              <a:lnSpc>
                <a:spcPts val="6062"/>
              </a:lnSpc>
            </a:pPr>
            <a:r>
              <a:rPr lang="en-US" sz="4875">
                <a:solidFill>
                  <a:srgbClr val="FFFFFF"/>
                </a:solidFill>
                <a:latin typeface="Roboto"/>
                <a:ea typeface="Roboto"/>
                <a:cs typeface="Roboto"/>
                <a:sym typeface="Roboto"/>
              </a:rPr>
              <a:t>Urban Emission Hotspot Mapping – Hyderabad</a:t>
            </a:r>
          </a:p>
        </p:txBody>
      </p:sp>
      <p:sp>
        <p:nvSpPr>
          <p:cNvPr id="7" name="TextBox 7"/>
          <p:cNvSpPr txBox="1"/>
          <p:nvPr/>
        </p:nvSpPr>
        <p:spPr>
          <a:xfrm>
            <a:off x="7850238" y="4142632"/>
            <a:ext cx="9445523" cy="492176"/>
          </a:xfrm>
          <a:prstGeom prst="rect">
            <a:avLst/>
          </a:prstGeom>
        </p:spPr>
        <p:txBody>
          <a:bodyPr lIns="0" tIns="0" rIns="0" bIns="0" rtlCol="0" anchor="t">
            <a:spAutoFit/>
          </a:bodyPr>
          <a:lstStyle/>
          <a:p>
            <a:pPr algn="l">
              <a:lnSpc>
                <a:spcPts val="3125"/>
              </a:lnSpc>
            </a:pPr>
            <a:r>
              <a:rPr lang="en-US" sz="1937">
                <a:solidFill>
                  <a:srgbClr val="CFD0D8"/>
                </a:solidFill>
                <a:latin typeface="Roboto"/>
                <a:ea typeface="Roboto"/>
                <a:cs typeface="Roboto"/>
                <a:sym typeface="Roboto"/>
              </a:rPr>
              <a:t>Data-Driven Climate Action for Targeted Urban Sustainability</a:t>
            </a:r>
          </a:p>
        </p:txBody>
      </p:sp>
      <p:sp>
        <p:nvSpPr>
          <p:cNvPr id="8" name="TextBox 8"/>
          <p:cNvSpPr txBox="1"/>
          <p:nvPr/>
        </p:nvSpPr>
        <p:spPr>
          <a:xfrm>
            <a:off x="7850238" y="4818612"/>
            <a:ext cx="9445523" cy="1165336"/>
          </a:xfrm>
          <a:prstGeom prst="rect">
            <a:avLst/>
          </a:prstGeom>
        </p:spPr>
        <p:txBody>
          <a:bodyPr lIns="0" tIns="0" rIns="0" bIns="0" rtlCol="0" anchor="t">
            <a:spAutoFit/>
          </a:bodyPr>
          <a:lstStyle/>
          <a:p>
            <a:pPr algn="l">
              <a:lnSpc>
                <a:spcPts val="3123"/>
              </a:lnSpc>
            </a:pPr>
            <a:r>
              <a:rPr lang="en-US" sz="1937">
                <a:solidFill>
                  <a:srgbClr val="CFD0D8"/>
                </a:solidFill>
                <a:latin typeface="Roboto"/>
                <a:ea typeface="Roboto"/>
                <a:cs typeface="Roboto"/>
                <a:sym typeface="Roboto"/>
              </a:rPr>
              <a:t>6 Priority Zones Identified. 10–25% CO₂ Reduction Potential.</a:t>
            </a:r>
          </a:p>
          <a:p>
            <a:pPr algn="l">
              <a:lnSpc>
                <a:spcPts val="3125"/>
              </a:lnSpc>
            </a:pPr>
            <a:endParaRPr lang="en-US" sz="1937">
              <a:solidFill>
                <a:srgbClr val="CFD0D8"/>
              </a:solidFill>
              <a:latin typeface="Roboto"/>
              <a:ea typeface="Roboto"/>
              <a:cs typeface="Roboto"/>
              <a:sym typeface="Roboto"/>
            </a:endParaRPr>
          </a:p>
          <a:p>
            <a:pPr algn="l">
              <a:lnSpc>
                <a:spcPts val="3125"/>
              </a:lnSpc>
            </a:pPr>
            <a:r>
              <a:rPr lang="en-US" sz="1937">
                <a:solidFill>
                  <a:srgbClr val="CFD0D8"/>
                </a:solidFill>
                <a:latin typeface="Roboto"/>
                <a:ea typeface="Roboto"/>
                <a:cs typeface="Roboto"/>
                <a:sym typeface="Roboto"/>
              </a:rPr>
              <a:t>Team AGNI </a:t>
            </a:r>
          </a:p>
        </p:txBody>
      </p:sp>
      <p:sp>
        <p:nvSpPr>
          <p:cNvPr id="9" name="TextBox 9"/>
          <p:cNvSpPr txBox="1"/>
          <p:nvPr/>
        </p:nvSpPr>
        <p:spPr>
          <a:xfrm>
            <a:off x="7850238" y="6288434"/>
            <a:ext cx="9445523" cy="1946386"/>
          </a:xfrm>
          <a:prstGeom prst="rect">
            <a:avLst/>
          </a:prstGeom>
        </p:spPr>
        <p:txBody>
          <a:bodyPr lIns="0" tIns="0" rIns="0" bIns="0" rtlCol="0" anchor="t">
            <a:spAutoFit/>
          </a:bodyPr>
          <a:lstStyle/>
          <a:p>
            <a:pPr algn="l">
              <a:lnSpc>
                <a:spcPts val="3123"/>
              </a:lnSpc>
            </a:pPr>
            <a:r>
              <a:rPr lang="en-US" sz="1937">
                <a:solidFill>
                  <a:srgbClr val="CFD0D8"/>
                </a:solidFill>
                <a:latin typeface="Roboto"/>
                <a:ea typeface="Roboto"/>
                <a:cs typeface="Roboto"/>
                <a:sym typeface="Roboto"/>
              </a:rPr>
              <a:t>Kuchipudi Yokshith - </a:t>
            </a:r>
            <a:r>
              <a:rPr lang="en-US" sz="1937" b="1">
                <a:solidFill>
                  <a:srgbClr val="CFD0D8"/>
                </a:solidFill>
                <a:latin typeface="Roboto Bold"/>
                <a:ea typeface="Roboto Bold"/>
                <a:cs typeface="Roboto Bold"/>
                <a:sym typeface="Roboto Bold"/>
              </a:rPr>
              <a:t>1M1BGI060098</a:t>
            </a:r>
          </a:p>
          <a:p>
            <a:pPr algn="l">
              <a:lnSpc>
                <a:spcPts val="3123"/>
              </a:lnSpc>
            </a:pPr>
            <a:r>
              <a:rPr lang="en-US" sz="1937">
                <a:solidFill>
                  <a:srgbClr val="CFD0D8"/>
                </a:solidFill>
                <a:latin typeface="Roboto"/>
                <a:ea typeface="Roboto"/>
                <a:cs typeface="Roboto"/>
                <a:sym typeface="Roboto"/>
              </a:rPr>
              <a:t>Dasu Swapnika - </a:t>
            </a:r>
            <a:r>
              <a:rPr lang="en-US" sz="1937" b="1">
                <a:solidFill>
                  <a:srgbClr val="CFD0D8"/>
                </a:solidFill>
                <a:latin typeface="Roboto Bold"/>
                <a:ea typeface="Roboto Bold"/>
                <a:cs typeface="Roboto Bold"/>
                <a:sym typeface="Roboto Bold"/>
              </a:rPr>
              <a:t>1M1BGI060088</a:t>
            </a:r>
          </a:p>
          <a:p>
            <a:pPr algn="l">
              <a:lnSpc>
                <a:spcPts val="3123"/>
              </a:lnSpc>
            </a:pPr>
            <a:r>
              <a:rPr lang="en-US" sz="1937">
                <a:solidFill>
                  <a:srgbClr val="CFD0D8"/>
                </a:solidFill>
                <a:latin typeface="Roboto"/>
                <a:ea typeface="Roboto"/>
                <a:cs typeface="Roboto"/>
                <a:sym typeface="Roboto"/>
              </a:rPr>
              <a:t>K Geetha Uma Maheswari - </a:t>
            </a:r>
            <a:r>
              <a:rPr lang="en-US" sz="1937" b="1">
                <a:solidFill>
                  <a:srgbClr val="CFD0D8"/>
                </a:solidFill>
                <a:latin typeface="Roboto Bold"/>
                <a:ea typeface="Roboto Bold"/>
                <a:cs typeface="Roboto Bold"/>
                <a:sym typeface="Roboto Bold"/>
              </a:rPr>
              <a:t>1M1BGI060133</a:t>
            </a:r>
          </a:p>
          <a:p>
            <a:pPr algn="l">
              <a:lnSpc>
                <a:spcPts val="3123"/>
              </a:lnSpc>
            </a:pPr>
            <a:r>
              <a:rPr lang="en-US" sz="1937">
                <a:solidFill>
                  <a:srgbClr val="CFD0D8"/>
                </a:solidFill>
                <a:latin typeface="Roboto"/>
                <a:ea typeface="Roboto"/>
                <a:cs typeface="Roboto"/>
                <a:sym typeface="Roboto"/>
              </a:rPr>
              <a:t>Revanth Kumar Merugu - 1</a:t>
            </a:r>
            <a:r>
              <a:rPr lang="en-US" sz="1937" b="1">
                <a:solidFill>
                  <a:srgbClr val="CFD0D8"/>
                </a:solidFill>
                <a:latin typeface="Roboto Bold"/>
                <a:ea typeface="Roboto Bold"/>
                <a:cs typeface="Roboto Bold"/>
                <a:sym typeface="Roboto Bold"/>
              </a:rPr>
              <a:t>M1BGI060124</a:t>
            </a:r>
          </a:p>
          <a:p>
            <a:pPr algn="l">
              <a:lnSpc>
                <a:spcPts val="3125"/>
              </a:lnSpc>
            </a:pPr>
            <a:endParaRPr lang="en-US" sz="1937" b="1">
              <a:solidFill>
                <a:srgbClr val="CFD0D8"/>
              </a:solidFill>
              <a:latin typeface="Roboto Bold"/>
              <a:ea typeface="Roboto Bold"/>
              <a:cs typeface="Roboto Bold"/>
              <a:sym typeface="Roboto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18">
                <a:alpha val="90196"/>
              </a:srgbClr>
            </a:solidFill>
            <a:ln w="12700">
              <a:solidFill>
                <a:srgbClr val="000000"/>
              </a:solidFill>
            </a:ln>
          </p:spPr>
          <p:txBody>
            <a:bodyPr/>
            <a:lstStyle/>
            <a:p>
              <a:endParaRPr lang="en-IN"/>
            </a:p>
          </p:txBody>
        </p:sp>
      </p:grpSp>
      <p:sp>
        <p:nvSpPr>
          <p:cNvPr id="5" name="TextBox 5"/>
          <p:cNvSpPr txBox="1"/>
          <p:nvPr/>
        </p:nvSpPr>
        <p:spPr>
          <a:xfrm>
            <a:off x="992238" y="1337367"/>
            <a:ext cx="9872510" cy="803672"/>
          </a:xfrm>
          <a:prstGeom prst="rect">
            <a:avLst/>
          </a:prstGeom>
        </p:spPr>
        <p:txBody>
          <a:bodyPr lIns="0" tIns="0" rIns="0" bIns="0" rtlCol="0" anchor="t">
            <a:spAutoFit/>
          </a:bodyPr>
          <a:lstStyle/>
          <a:p>
            <a:pPr algn="l">
              <a:lnSpc>
                <a:spcPts val="6062"/>
              </a:lnSpc>
            </a:pPr>
            <a:r>
              <a:rPr lang="en-US" sz="4875">
                <a:solidFill>
                  <a:srgbClr val="FFFFFF"/>
                </a:solidFill>
                <a:latin typeface="Roboto"/>
                <a:ea typeface="Roboto"/>
                <a:cs typeface="Roboto"/>
                <a:sym typeface="Roboto"/>
              </a:rPr>
              <a:t>Hyderabad's Air Pollution Challenge</a:t>
            </a:r>
          </a:p>
        </p:txBody>
      </p:sp>
      <p:sp>
        <p:nvSpPr>
          <p:cNvPr id="6" name="TextBox 6"/>
          <p:cNvSpPr txBox="1"/>
          <p:nvPr/>
        </p:nvSpPr>
        <p:spPr>
          <a:xfrm>
            <a:off x="992238" y="2732484"/>
            <a:ext cx="3721303" cy="493662"/>
          </a:xfrm>
          <a:prstGeom prst="rect">
            <a:avLst/>
          </a:prstGeom>
        </p:spPr>
        <p:txBody>
          <a:bodyPr lIns="0" tIns="0" rIns="0" bIns="0" rtlCol="0" anchor="t">
            <a:spAutoFit/>
          </a:bodyPr>
          <a:lstStyle/>
          <a:p>
            <a:pPr algn="l">
              <a:lnSpc>
                <a:spcPts val="3625"/>
              </a:lnSpc>
            </a:pPr>
            <a:r>
              <a:rPr lang="en-US" sz="2874">
                <a:solidFill>
                  <a:srgbClr val="FFFFFF"/>
                </a:solidFill>
                <a:latin typeface="Roboto"/>
                <a:ea typeface="Roboto"/>
                <a:cs typeface="Roboto"/>
                <a:sym typeface="Roboto"/>
              </a:rPr>
              <a:t>The Hidden Problem</a:t>
            </a:r>
          </a:p>
        </p:txBody>
      </p:sp>
      <p:sp>
        <p:nvSpPr>
          <p:cNvPr id="7" name="TextBox 7"/>
          <p:cNvSpPr txBox="1"/>
          <p:nvPr/>
        </p:nvSpPr>
        <p:spPr>
          <a:xfrm>
            <a:off x="992238" y="3378841"/>
            <a:ext cx="7849191" cy="1286027"/>
          </a:xfrm>
          <a:prstGeom prst="rect">
            <a:avLst/>
          </a:prstGeom>
        </p:spPr>
        <p:txBody>
          <a:bodyPr lIns="0" tIns="0" rIns="0" bIns="0" rtlCol="0" anchor="t">
            <a:spAutoFit/>
          </a:bodyPr>
          <a:lstStyle/>
          <a:p>
            <a:pPr algn="l">
              <a:lnSpc>
                <a:spcPts val="3125"/>
              </a:lnSpc>
            </a:pPr>
            <a:r>
              <a:rPr lang="en-US" sz="1937">
                <a:solidFill>
                  <a:srgbClr val="CFD0D8"/>
                </a:solidFill>
                <a:latin typeface="Roboto"/>
                <a:ea typeface="Roboto"/>
                <a:cs typeface="Roboto"/>
                <a:sym typeface="Roboto"/>
              </a:rPr>
              <a:t>Hyderabad's Air Quality Index exceeds 150 (Unhealthy) for 25–30% of winter days. But city-level averages mask a critical reality: pollution concentrations vary dramatically across neighborhoods.</a:t>
            </a:r>
          </a:p>
        </p:txBody>
      </p:sp>
      <p:sp>
        <p:nvSpPr>
          <p:cNvPr id="8" name="TextBox 8"/>
          <p:cNvSpPr txBox="1"/>
          <p:nvPr/>
        </p:nvSpPr>
        <p:spPr>
          <a:xfrm>
            <a:off x="992238" y="4792866"/>
            <a:ext cx="7849191" cy="2079869"/>
          </a:xfrm>
          <a:prstGeom prst="rect">
            <a:avLst/>
          </a:prstGeom>
        </p:spPr>
        <p:txBody>
          <a:bodyPr lIns="0" tIns="0" rIns="0" bIns="0" rtlCol="0" anchor="t">
            <a:spAutoFit/>
          </a:bodyPr>
          <a:lstStyle/>
          <a:p>
            <a:pPr algn="l">
              <a:lnSpc>
                <a:spcPts val="3125"/>
              </a:lnSpc>
            </a:pPr>
            <a:r>
              <a:rPr lang="en-US" sz="1937">
                <a:solidFill>
                  <a:srgbClr val="CFD0D8"/>
                </a:solidFill>
                <a:latin typeface="Roboto"/>
                <a:ea typeface="Roboto"/>
                <a:cs typeface="Roboto"/>
                <a:sym typeface="Roboto"/>
              </a:rPr>
              <a:t>Areas like </a:t>
            </a:r>
            <a:r>
              <a:rPr lang="en-US" sz="1937" b="1">
                <a:solidFill>
                  <a:srgbClr val="CFD0D8"/>
                </a:solidFill>
                <a:latin typeface="Roboto Bold"/>
                <a:ea typeface="Roboto Bold"/>
                <a:cs typeface="Roboto Bold"/>
                <a:sym typeface="Roboto Bold"/>
              </a:rPr>
              <a:t>Adikmet, Ameerpet, and Begumpet</a:t>
            </a:r>
            <a:r>
              <a:rPr lang="en-US" sz="1937">
                <a:solidFill>
                  <a:srgbClr val="CFD0D8"/>
                </a:solidFill>
                <a:latin typeface="Roboto"/>
                <a:ea typeface="Roboto"/>
                <a:cs typeface="Roboto"/>
                <a:sym typeface="Roboto"/>
              </a:rPr>
              <a:t> experience significantly worse conditions than the city average. Yet Greater Hyderabad Municipal Corporation (GHMC) policies focus primarily on city-wide measures, missing opportunities for targeted intervention where impact would be greatest.</a:t>
            </a:r>
          </a:p>
        </p:txBody>
      </p:sp>
      <p:sp>
        <p:nvSpPr>
          <p:cNvPr id="9" name="TextBox 9"/>
          <p:cNvSpPr txBox="1"/>
          <p:nvPr/>
        </p:nvSpPr>
        <p:spPr>
          <a:xfrm>
            <a:off x="992238" y="7000723"/>
            <a:ext cx="7849191" cy="1286027"/>
          </a:xfrm>
          <a:prstGeom prst="rect">
            <a:avLst/>
          </a:prstGeom>
        </p:spPr>
        <p:txBody>
          <a:bodyPr lIns="0" tIns="0" rIns="0" bIns="0" rtlCol="0" anchor="t">
            <a:spAutoFit/>
          </a:bodyPr>
          <a:lstStyle/>
          <a:p>
            <a:pPr algn="l">
              <a:lnSpc>
                <a:spcPts val="3125"/>
              </a:lnSpc>
            </a:pPr>
            <a:r>
              <a:rPr lang="en-US" sz="1937">
                <a:solidFill>
                  <a:srgbClr val="CFD0D8"/>
                </a:solidFill>
                <a:latin typeface="Roboto"/>
                <a:ea typeface="Roboto"/>
                <a:cs typeface="Roboto"/>
                <a:sym typeface="Roboto"/>
              </a:rPr>
              <a:t>The Opportunity: By mapping exactly where pollution concentrates, we can direct resources to areas that matter most—achieving faster, more cost-effective results than blanket approaches.</a:t>
            </a:r>
          </a:p>
        </p:txBody>
      </p:sp>
      <p:sp>
        <p:nvSpPr>
          <p:cNvPr id="10" name="Freeform 10" descr="preencoded.png"/>
          <p:cNvSpPr/>
          <p:nvPr/>
        </p:nvSpPr>
        <p:spPr>
          <a:xfrm>
            <a:off x="9456096" y="2792168"/>
            <a:ext cx="7844428" cy="5229520"/>
          </a:xfrm>
          <a:custGeom>
            <a:avLst/>
            <a:gdLst/>
            <a:ahLst/>
            <a:cxnLst/>
            <a:rect l="l" t="t" r="r" b="b"/>
            <a:pathLst>
              <a:path w="7844428" h="5229520">
                <a:moveTo>
                  <a:pt x="0" y="0"/>
                </a:moveTo>
                <a:lnTo>
                  <a:pt x="7844428" y="0"/>
                </a:lnTo>
                <a:lnTo>
                  <a:pt x="7844428" y="5229520"/>
                </a:lnTo>
                <a:lnTo>
                  <a:pt x="0" y="5229520"/>
                </a:lnTo>
                <a:lnTo>
                  <a:pt x="0" y="0"/>
                </a:lnTo>
                <a:close/>
              </a:path>
            </a:pathLst>
          </a:custGeom>
          <a:blipFill>
            <a:blip r:embed="rId4"/>
            <a:stretch>
              <a:fillRect l="-29" r="-29"/>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18">
                <a:alpha val="90196"/>
              </a:srgbClr>
            </a:solidFill>
            <a:ln w="12700">
              <a:solidFill>
                <a:srgbClr val="000000"/>
              </a:solidFill>
            </a:ln>
          </p:spPr>
          <p:txBody>
            <a:bodyPr/>
            <a:lstStyle/>
            <a:p>
              <a:endParaRPr lang="en-IN"/>
            </a:p>
          </p:txBody>
        </p:sp>
      </p:grpSp>
      <p:sp>
        <p:nvSpPr>
          <p:cNvPr id="5" name="TextBox 5"/>
          <p:cNvSpPr txBox="1"/>
          <p:nvPr/>
        </p:nvSpPr>
        <p:spPr>
          <a:xfrm>
            <a:off x="992238" y="1133027"/>
            <a:ext cx="6202261" cy="803672"/>
          </a:xfrm>
          <a:prstGeom prst="rect">
            <a:avLst/>
          </a:prstGeom>
        </p:spPr>
        <p:txBody>
          <a:bodyPr lIns="0" tIns="0" rIns="0" bIns="0" rtlCol="0" anchor="t">
            <a:spAutoFit/>
          </a:bodyPr>
          <a:lstStyle/>
          <a:p>
            <a:pPr algn="l">
              <a:lnSpc>
                <a:spcPts val="6062"/>
              </a:lnSpc>
            </a:pPr>
            <a:r>
              <a:rPr lang="en-US" sz="4875">
                <a:solidFill>
                  <a:srgbClr val="FFFFFF"/>
                </a:solidFill>
                <a:latin typeface="Roboto"/>
                <a:ea typeface="Roboto"/>
                <a:cs typeface="Roboto"/>
                <a:sym typeface="Roboto"/>
              </a:rPr>
              <a:t>Our Methodology</a:t>
            </a:r>
          </a:p>
        </p:txBody>
      </p:sp>
      <p:sp>
        <p:nvSpPr>
          <p:cNvPr id="6" name="TextBox 6"/>
          <p:cNvSpPr txBox="1"/>
          <p:nvPr/>
        </p:nvSpPr>
        <p:spPr>
          <a:xfrm>
            <a:off x="992238" y="2337492"/>
            <a:ext cx="16303523" cy="492176"/>
          </a:xfrm>
          <a:prstGeom prst="rect">
            <a:avLst/>
          </a:prstGeom>
        </p:spPr>
        <p:txBody>
          <a:bodyPr lIns="0" tIns="0" rIns="0" bIns="0" rtlCol="0" anchor="t">
            <a:spAutoFit/>
          </a:bodyPr>
          <a:lstStyle/>
          <a:p>
            <a:pPr algn="l">
              <a:lnSpc>
                <a:spcPts val="3125"/>
              </a:lnSpc>
            </a:pPr>
            <a:r>
              <a:rPr lang="en-US" sz="1937">
                <a:solidFill>
                  <a:srgbClr val="CFD0D8"/>
                </a:solidFill>
                <a:latin typeface="Roboto"/>
                <a:ea typeface="Roboto"/>
                <a:cs typeface="Roboto"/>
                <a:sym typeface="Roboto"/>
              </a:rPr>
              <a:t>We developed a Grid-Based Emission Index combining traffic intensity and industrial influence to identify pollution hotspots with precision.</a:t>
            </a:r>
          </a:p>
        </p:txBody>
      </p:sp>
      <p:sp>
        <p:nvSpPr>
          <p:cNvPr id="7" name="TextBox 7"/>
          <p:cNvSpPr txBox="1"/>
          <p:nvPr/>
        </p:nvSpPr>
        <p:spPr>
          <a:xfrm>
            <a:off x="992238" y="3013472"/>
            <a:ext cx="531762" cy="360291"/>
          </a:xfrm>
          <a:prstGeom prst="rect">
            <a:avLst/>
          </a:prstGeom>
        </p:spPr>
        <p:txBody>
          <a:bodyPr wrap="square" lIns="0" tIns="0" rIns="0" bIns="0" rtlCol="0" anchor="t">
            <a:spAutoFit/>
          </a:bodyPr>
          <a:lstStyle/>
          <a:p>
            <a:pPr algn="l">
              <a:lnSpc>
                <a:spcPts val="3125"/>
              </a:lnSpc>
            </a:pPr>
            <a:r>
              <a:rPr lang="en-US" sz="1937" dirty="0">
                <a:solidFill>
                  <a:srgbClr val="CFD0D8"/>
                </a:solidFill>
                <a:latin typeface="Roboto"/>
                <a:ea typeface="Roboto"/>
                <a:cs typeface="Roboto"/>
                <a:sym typeface="Roboto"/>
              </a:rPr>
              <a:t>01</a:t>
            </a:r>
          </a:p>
        </p:txBody>
      </p:sp>
      <p:grpSp>
        <p:nvGrpSpPr>
          <p:cNvPr id="8" name="Group 8"/>
          <p:cNvGrpSpPr/>
          <p:nvPr/>
        </p:nvGrpSpPr>
        <p:grpSpPr>
          <a:xfrm>
            <a:off x="992238" y="3501628"/>
            <a:ext cx="5269116" cy="28575"/>
            <a:chOff x="0" y="0"/>
            <a:chExt cx="7025488" cy="38100"/>
          </a:xfrm>
        </p:grpSpPr>
        <p:sp>
          <p:nvSpPr>
            <p:cNvPr id="9" name="Freeform 9"/>
            <p:cNvSpPr/>
            <p:nvPr/>
          </p:nvSpPr>
          <p:spPr>
            <a:xfrm>
              <a:off x="0" y="0"/>
              <a:ext cx="7025513" cy="38100"/>
            </a:xfrm>
            <a:custGeom>
              <a:avLst/>
              <a:gdLst/>
              <a:ahLst/>
              <a:cxnLst/>
              <a:rect l="l" t="t" r="r" b="b"/>
              <a:pathLst>
                <a:path w="7025513" h="38100">
                  <a:moveTo>
                    <a:pt x="0" y="0"/>
                  </a:moveTo>
                  <a:lnTo>
                    <a:pt x="7025513" y="0"/>
                  </a:lnTo>
                  <a:lnTo>
                    <a:pt x="7025513" y="38100"/>
                  </a:lnTo>
                  <a:lnTo>
                    <a:pt x="0" y="38100"/>
                  </a:lnTo>
                  <a:close/>
                </a:path>
              </a:pathLst>
            </a:custGeom>
            <a:solidFill>
              <a:srgbClr val="5A6ED8"/>
            </a:solidFill>
            <a:ln w="12700">
              <a:solidFill>
                <a:srgbClr val="000000"/>
              </a:solidFill>
            </a:ln>
          </p:spPr>
          <p:txBody>
            <a:bodyPr/>
            <a:lstStyle/>
            <a:p>
              <a:endParaRPr lang="en-IN"/>
            </a:p>
          </p:txBody>
        </p:sp>
      </p:grpSp>
      <p:sp>
        <p:nvSpPr>
          <p:cNvPr id="10" name="TextBox 10"/>
          <p:cNvSpPr txBox="1"/>
          <p:nvPr/>
        </p:nvSpPr>
        <p:spPr>
          <a:xfrm>
            <a:off x="992238" y="3663706"/>
            <a:ext cx="3101130" cy="406746"/>
          </a:xfrm>
          <a:prstGeom prst="rect">
            <a:avLst/>
          </a:prstGeom>
        </p:spPr>
        <p:txBody>
          <a:bodyPr lIns="0" tIns="0" rIns="0" bIns="0" rtlCol="0" anchor="t">
            <a:spAutoFit/>
          </a:bodyPr>
          <a:lstStyle/>
          <a:p>
            <a:pPr algn="l">
              <a:lnSpc>
                <a:spcPts val="2999"/>
              </a:lnSpc>
            </a:pPr>
            <a:r>
              <a:rPr lang="en-US" sz="2437">
                <a:solidFill>
                  <a:srgbClr val="CFD0D8"/>
                </a:solidFill>
                <a:latin typeface="Roboto"/>
                <a:ea typeface="Roboto"/>
                <a:cs typeface="Roboto"/>
                <a:sym typeface="Roboto"/>
              </a:rPr>
              <a:t>Grid Division</a:t>
            </a:r>
          </a:p>
        </p:txBody>
      </p:sp>
      <p:sp>
        <p:nvSpPr>
          <p:cNvPr id="11" name="TextBox 11"/>
          <p:cNvSpPr txBox="1"/>
          <p:nvPr/>
        </p:nvSpPr>
        <p:spPr>
          <a:xfrm>
            <a:off x="992238" y="4124030"/>
            <a:ext cx="5269116" cy="1682953"/>
          </a:xfrm>
          <a:prstGeom prst="rect">
            <a:avLst/>
          </a:prstGeom>
        </p:spPr>
        <p:txBody>
          <a:bodyPr lIns="0" tIns="0" rIns="0" bIns="0" rtlCol="0" anchor="t">
            <a:spAutoFit/>
          </a:bodyPr>
          <a:lstStyle/>
          <a:p>
            <a:pPr algn="l">
              <a:lnSpc>
                <a:spcPts val="3125"/>
              </a:lnSpc>
            </a:pPr>
            <a:r>
              <a:rPr lang="en-US" sz="1937" dirty="0">
                <a:solidFill>
                  <a:srgbClr val="CFD0D8"/>
                </a:solidFill>
                <a:latin typeface="Roboto"/>
                <a:ea typeface="Roboto"/>
                <a:cs typeface="Roboto"/>
                <a:sym typeface="Roboto"/>
              </a:rPr>
              <a:t>Divided GHMC into 600+ uniform cells (1 km × 1 km). Each cell receives a unique identifier for systematic tracking and analysis across the entire metropolitan area.</a:t>
            </a:r>
          </a:p>
        </p:txBody>
      </p:sp>
      <p:sp>
        <p:nvSpPr>
          <p:cNvPr id="12" name="TextBox 12"/>
          <p:cNvSpPr txBox="1"/>
          <p:nvPr/>
        </p:nvSpPr>
        <p:spPr>
          <a:xfrm>
            <a:off x="6509299" y="3013472"/>
            <a:ext cx="531762" cy="360291"/>
          </a:xfrm>
          <a:prstGeom prst="rect">
            <a:avLst/>
          </a:prstGeom>
        </p:spPr>
        <p:txBody>
          <a:bodyPr wrap="square" lIns="0" tIns="0" rIns="0" bIns="0" rtlCol="0" anchor="t">
            <a:spAutoFit/>
          </a:bodyPr>
          <a:lstStyle/>
          <a:p>
            <a:pPr algn="l">
              <a:lnSpc>
                <a:spcPts val="3125"/>
              </a:lnSpc>
            </a:pPr>
            <a:r>
              <a:rPr lang="en-US" sz="1937" dirty="0">
                <a:solidFill>
                  <a:srgbClr val="CFD0D8"/>
                </a:solidFill>
                <a:latin typeface="Roboto"/>
                <a:ea typeface="Roboto"/>
                <a:cs typeface="Roboto"/>
                <a:sym typeface="Roboto"/>
              </a:rPr>
              <a:t>02</a:t>
            </a:r>
          </a:p>
        </p:txBody>
      </p:sp>
      <p:grpSp>
        <p:nvGrpSpPr>
          <p:cNvPr id="13" name="Group 13"/>
          <p:cNvGrpSpPr/>
          <p:nvPr/>
        </p:nvGrpSpPr>
        <p:grpSpPr>
          <a:xfrm>
            <a:off x="6509299" y="3501628"/>
            <a:ext cx="5269259" cy="28575"/>
            <a:chOff x="0" y="0"/>
            <a:chExt cx="7025678" cy="38100"/>
          </a:xfrm>
        </p:grpSpPr>
        <p:sp>
          <p:nvSpPr>
            <p:cNvPr id="14" name="Freeform 14"/>
            <p:cNvSpPr/>
            <p:nvPr/>
          </p:nvSpPr>
          <p:spPr>
            <a:xfrm>
              <a:off x="0" y="0"/>
              <a:ext cx="7025640" cy="38100"/>
            </a:xfrm>
            <a:custGeom>
              <a:avLst/>
              <a:gdLst/>
              <a:ahLst/>
              <a:cxnLst/>
              <a:rect l="l" t="t" r="r" b="b"/>
              <a:pathLst>
                <a:path w="7025640" h="38100">
                  <a:moveTo>
                    <a:pt x="0" y="0"/>
                  </a:moveTo>
                  <a:lnTo>
                    <a:pt x="7025640" y="0"/>
                  </a:lnTo>
                  <a:lnTo>
                    <a:pt x="7025640" y="38100"/>
                  </a:lnTo>
                  <a:lnTo>
                    <a:pt x="0" y="38100"/>
                  </a:lnTo>
                  <a:close/>
                </a:path>
              </a:pathLst>
            </a:custGeom>
            <a:solidFill>
              <a:srgbClr val="5A6ED8"/>
            </a:solidFill>
            <a:ln w="12700">
              <a:solidFill>
                <a:srgbClr val="000000"/>
              </a:solidFill>
            </a:ln>
          </p:spPr>
          <p:txBody>
            <a:bodyPr/>
            <a:lstStyle/>
            <a:p>
              <a:endParaRPr lang="en-IN"/>
            </a:p>
          </p:txBody>
        </p:sp>
      </p:grpSp>
      <p:sp>
        <p:nvSpPr>
          <p:cNvPr id="15" name="TextBox 15"/>
          <p:cNvSpPr txBox="1"/>
          <p:nvPr/>
        </p:nvSpPr>
        <p:spPr>
          <a:xfrm>
            <a:off x="6509299" y="3663706"/>
            <a:ext cx="3706416" cy="406746"/>
          </a:xfrm>
          <a:prstGeom prst="rect">
            <a:avLst/>
          </a:prstGeom>
        </p:spPr>
        <p:txBody>
          <a:bodyPr lIns="0" tIns="0" rIns="0" bIns="0" rtlCol="0" anchor="t">
            <a:spAutoFit/>
          </a:bodyPr>
          <a:lstStyle/>
          <a:p>
            <a:pPr algn="l">
              <a:lnSpc>
                <a:spcPts val="2999"/>
              </a:lnSpc>
            </a:pPr>
            <a:r>
              <a:rPr lang="en-US" sz="2437">
                <a:solidFill>
                  <a:srgbClr val="CFD0D8"/>
                </a:solidFill>
                <a:latin typeface="Roboto"/>
                <a:ea typeface="Roboto"/>
                <a:cs typeface="Roboto"/>
                <a:sym typeface="Roboto"/>
              </a:rPr>
              <a:t>Traffic &amp; Industrial Scoring</a:t>
            </a:r>
          </a:p>
        </p:txBody>
      </p:sp>
      <p:sp>
        <p:nvSpPr>
          <p:cNvPr id="16" name="TextBox 16"/>
          <p:cNvSpPr txBox="1"/>
          <p:nvPr/>
        </p:nvSpPr>
        <p:spPr>
          <a:xfrm>
            <a:off x="6509299" y="4124030"/>
            <a:ext cx="5269259" cy="2079869"/>
          </a:xfrm>
          <a:prstGeom prst="rect">
            <a:avLst/>
          </a:prstGeom>
        </p:spPr>
        <p:txBody>
          <a:bodyPr lIns="0" tIns="0" rIns="0" bIns="0" rtlCol="0" anchor="t">
            <a:spAutoFit/>
          </a:bodyPr>
          <a:lstStyle/>
          <a:p>
            <a:pPr algn="l">
              <a:lnSpc>
                <a:spcPts val="3125"/>
              </a:lnSpc>
            </a:pPr>
            <a:r>
              <a:rPr lang="en-US" sz="1937" dirty="0">
                <a:solidFill>
                  <a:srgbClr val="CFD0D8"/>
                </a:solidFill>
                <a:latin typeface="Roboto"/>
                <a:ea typeface="Roboto"/>
                <a:cs typeface="Roboto"/>
                <a:sym typeface="Roboto"/>
              </a:rPr>
              <a:t>Calculated Traffic Score based on proximity to MMTS (Metro &amp; Bus) stops as congestion proxy. Determined Industrial Score using distance to major zones (Hadapsar, Jeedimetla, Miyapur). Both normalized to 0–1 scale.</a:t>
            </a:r>
          </a:p>
        </p:txBody>
      </p:sp>
      <p:sp>
        <p:nvSpPr>
          <p:cNvPr id="17" name="TextBox 17"/>
          <p:cNvSpPr txBox="1"/>
          <p:nvPr/>
        </p:nvSpPr>
        <p:spPr>
          <a:xfrm>
            <a:off x="12026503" y="3013472"/>
            <a:ext cx="531762" cy="360291"/>
          </a:xfrm>
          <a:prstGeom prst="rect">
            <a:avLst/>
          </a:prstGeom>
        </p:spPr>
        <p:txBody>
          <a:bodyPr wrap="square" lIns="0" tIns="0" rIns="0" bIns="0" rtlCol="0" anchor="t">
            <a:spAutoFit/>
          </a:bodyPr>
          <a:lstStyle/>
          <a:p>
            <a:pPr algn="l">
              <a:lnSpc>
                <a:spcPts val="3125"/>
              </a:lnSpc>
            </a:pPr>
            <a:r>
              <a:rPr lang="en-US" sz="1937" dirty="0">
                <a:solidFill>
                  <a:srgbClr val="CFD0D8"/>
                </a:solidFill>
                <a:latin typeface="Roboto"/>
                <a:ea typeface="Roboto"/>
                <a:cs typeface="Roboto"/>
                <a:sym typeface="Roboto"/>
              </a:rPr>
              <a:t>03</a:t>
            </a:r>
          </a:p>
        </p:txBody>
      </p:sp>
      <p:grpSp>
        <p:nvGrpSpPr>
          <p:cNvPr id="18" name="Group 18"/>
          <p:cNvGrpSpPr/>
          <p:nvPr/>
        </p:nvGrpSpPr>
        <p:grpSpPr>
          <a:xfrm>
            <a:off x="12026503" y="3501628"/>
            <a:ext cx="5269116" cy="28575"/>
            <a:chOff x="0" y="0"/>
            <a:chExt cx="7025488" cy="38100"/>
          </a:xfrm>
        </p:grpSpPr>
        <p:sp>
          <p:nvSpPr>
            <p:cNvPr id="19" name="Freeform 19"/>
            <p:cNvSpPr/>
            <p:nvPr/>
          </p:nvSpPr>
          <p:spPr>
            <a:xfrm>
              <a:off x="0" y="0"/>
              <a:ext cx="7025513" cy="38100"/>
            </a:xfrm>
            <a:custGeom>
              <a:avLst/>
              <a:gdLst/>
              <a:ahLst/>
              <a:cxnLst/>
              <a:rect l="l" t="t" r="r" b="b"/>
              <a:pathLst>
                <a:path w="7025513" h="38100">
                  <a:moveTo>
                    <a:pt x="0" y="0"/>
                  </a:moveTo>
                  <a:lnTo>
                    <a:pt x="7025513" y="0"/>
                  </a:lnTo>
                  <a:lnTo>
                    <a:pt x="7025513" y="38100"/>
                  </a:lnTo>
                  <a:lnTo>
                    <a:pt x="0" y="38100"/>
                  </a:lnTo>
                  <a:close/>
                </a:path>
              </a:pathLst>
            </a:custGeom>
            <a:solidFill>
              <a:srgbClr val="5A6ED8"/>
            </a:solidFill>
            <a:ln w="12700">
              <a:solidFill>
                <a:srgbClr val="000000"/>
              </a:solidFill>
            </a:ln>
          </p:spPr>
          <p:txBody>
            <a:bodyPr/>
            <a:lstStyle/>
            <a:p>
              <a:endParaRPr lang="en-IN"/>
            </a:p>
          </p:txBody>
        </p:sp>
      </p:grpSp>
      <p:sp>
        <p:nvSpPr>
          <p:cNvPr id="20" name="TextBox 20"/>
          <p:cNvSpPr txBox="1"/>
          <p:nvPr/>
        </p:nvSpPr>
        <p:spPr>
          <a:xfrm>
            <a:off x="12026503" y="3663706"/>
            <a:ext cx="3741534" cy="406746"/>
          </a:xfrm>
          <a:prstGeom prst="rect">
            <a:avLst/>
          </a:prstGeom>
        </p:spPr>
        <p:txBody>
          <a:bodyPr lIns="0" tIns="0" rIns="0" bIns="0" rtlCol="0" anchor="t">
            <a:spAutoFit/>
          </a:bodyPr>
          <a:lstStyle/>
          <a:p>
            <a:pPr algn="l">
              <a:lnSpc>
                <a:spcPts val="2999"/>
              </a:lnSpc>
            </a:pPr>
            <a:r>
              <a:rPr lang="en-US" sz="2437">
                <a:solidFill>
                  <a:srgbClr val="CFD0D8"/>
                </a:solidFill>
                <a:latin typeface="Roboto"/>
                <a:ea typeface="Roboto"/>
                <a:cs typeface="Roboto"/>
                <a:sym typeface="Roboto"/>
              </a:rPr>
              <a:t>Emission Index Calculation</a:t>
            </a:r>
          </a:p>
        </p:txBody>
      </p:sp>
      <p:sp>
        <p:nvSpPr>
          <p:cNvPr id="21" name="TextBox 21"/>
          <p:cNvSpPr txBox="1"/>
          <p:nvPr/>
        </p:nvSpPr>
        <p:spPr>
          <a:xfrm>
            <a:off x="12026503" y="4124030"/>
            <a:ext cx="5269116" cy="2079869"/>
          </a:xfrm>
          <a:prstGeom prst="rect">
            <a:avLst/>
          </a:prstGeom>
        </p:spPr>
        <p:txBody>
          <a:bodyPr lIns="0" tIns="0" rIns="0" bIns="0" rtlCol="0" anchor="t">
            <a:spAutoFit/>
          </a:bodyPr>
          <a:lstStyle/>
          <a:p>
            <a:pPr algn="l">
              <a:lnSpc>
                <a:spcPts val="3125"/>
              </a:lnSpc>
            </a:pPr>
            <a:r>
              <a:rPr lang="en-US" sz="1937" dirty="0">
                <a:solidFill>
                  <a:srgbClr val="CFD0D8"/>
                </a:solidFill>
                <a:latin typeface="Roboto"/>
                <a:ea typeface="Roboto"/>
                <a:cs typeface="Roboto"/>
                <a:sym typeface="Roboto"/>
              </a:rPr>
              <a:t>Combined scores using formula: </a:t>
            </a:r>
            <a:r>
              <a:rPr lang="en-US" sz="1937" b="1" dirty="0">
                <a:solidFill>
                  <a:srgbClr val="CFD0D8"/>
                </a:solidFill>
                <a:latin typeface="Roboto Bold"/>
                <a:ea typeface="Roboto Bold"/>
                <a:cs typeface="Roboto Bold"/>
                <a:sym typeface="Roboto Bold"/>
              </a:rPr>
              <a:t>Emission Index = 0.5 × Traffic Score + 0.5 × Industrial Score</a:t>
            </a:r>
            <a:r>
              <a:rPr lang="en-US" sz="1937" dirty="0">
                <a:solidFill>
                  <a:srgbClr val="CFD0D8"/>
                </a:solidFill>
                <a:latin typeface="Roboto"/>
                <a:ea typeface="Roboto"/>
                <a:cs typeface="Roboto"/>
                <a:sym typeface="Roboto"/>
              </a:rPr>
              <a:t>. Equal weighting acknowledges both sources as major contributors to urban pollution.</a:t>
            </a:r>
          </a:p>
        </p:txBody>
      </p:sp>
      <p:sp>
        <p:nvSpPr>
          <p:cNvPr id="22" name="TextBox 22"/>
          <p:cNvSpPr txBox="1"/>
          <p:nvPr/>
        </p:nvSpPr>
        <p:spPr>
          <a:xfrm>
            <a:off x="992238" y="6542637"/>
            <a:ext cx="531762" cy="360291"/>
          </a:xfrm>
          <a:prstGeom prst="rect">
            <a:avLst/>
          </a:prstGeom>
        </p:spPr>
        <p:txBody>
          <a:bodyPr wrap="square" lIns="0" tIns="0" rIns="0" bIns="0" rtlCol="0" anchor="t">
            <a:spAutoFit/>
          </a:bodyPr>
          <a:lstStyle/>
          <a:p>
            <a:pPr algn="l">
              <a:lnSpc>
                <a:spcPts val="3125"/>
              </a:lnSpc>
            </a:pPr>
            <a:r>
              <a:rPr lang="en-US" sz="1937" dirty="0">
                <a:solidFill>
                  <a:srgbClr val="CFD0D8"/>
                </a:solidFill>
                <a:latin typeface="Roboto"/>
                <a:ea typeface="Roboto"/>
                <a:cs typeface="Roboto"/>
                <a:sym typeface="Roboto"/>
              </a:rPr>
              <a:t>04</a:t>
            </a:r>
          </a:p>
        </p:txBody>
      </p:sp>
      <p:grpSp>
        <p:nvGrpSpPr>
          <p:cNvPr id="23" name="Group 23"/>
          <p:cNvGrpSpPr/>
          <p:nvPr/>
        </p:nvGrpSpPr>
        <p:grpSpPr>
          <a:xfrm>
            <a:off x="992238" y="7030793"/>
            <a:ext cx="8027641" cy="28575"/>
            <a:chOff x="0" y="0"/>
            <a:chExt cx="10703522" cy="38100"/>
          </a:xfrm>
        </p:grpSpPr>
        <p:sp>
          <p:nvSpPr>
            <p:cNvPr id="24" name="Freeform 24"/>
            <p:cNvSpPr/>
            <p:nvPr/>
          </p:nvSpPr>
          <p:spPr>
            <a:xfrm>
              <a:off x="0" y="0"/>
              <a:ext cx="10703560" cy="38100"/>
            </a:xfrm>
            <a:custGeom>
              <a:avLst/>
              <a:gdLst/>
              <a:ahLst/>
              <a:cxnLst/>
              <a:rect l="l" t="t" r="r" b="b"/>
              <a:pathLst>
                <a:path w="10703560" h="38100">
                  <a:moveTo>
                    <a:pt x="0" y="0"/>
                  </a:moveTo>
                  <a:lnTo>
                    <a:pt x="10703560" y="0"/>
                  </a:lnTo>
                  <a:lnTo>
                    <a:pt x="10703560" y="38100"/>
                  </a:lnTo>
                  <a:lnTo>
                    <a:pt x="0" y="38100"/>
                  </a:lnTo>
                  <a:close/>
                </a:path>
              </a:pathLst>
            </a:custGeom>
            <a:solidFill>
              <a:srgbClr val="5A6ED8"/>
            </a:solidFill>
            <a:ln w="12700">
              <a:solidFill>
                <a:srgbClr val="000000"/>
              </a:solidFill>
            </a:ln>
          </p:spPr>
          <p:txBody>
            <a:bodyPr/>
            <a:lstStyle/>
            <a:p>
              <a:endParaRPr lang="en-IN"/>
            </a:p>
          </p:txBody>
        </p:sp>
      </p:grpSp>
      <p:sp>
        <p:nvSpPr>
          <p:cNvPr id="25" name="TextBox 25"/>
          <p:cNvSpPr txBox="1"/>
          <p:nvPr/>
        </p:nvSpPr>
        <p:spPr>
          <a:xfrm>
            <a:off x="992238" y="7192861"/>
            <a:ext cx="3329883" cy="406746"/>
          </a:xfrm>
          <a:prstGeom prst="rect">
            <a:avLst/>
          </a:prstGeom>
        </p:spPr>
        <p:txBody>
          <a:bodyPr lIns="0" tIns="0" rIns="0" bIns="0" rtlCol="0" anchor="t">
            <a:spAutoFit/>
          </a:bodyPr>
          <a:lstStyle/>
          <a:p>
            <a:pPr algn="l">
              <a:lnSpc>
                <a:spcPts val="2999"/>
              </a:lnSpc>
            </a:pPr>
            <a:r>
              <a:rPr lang="en-US" sz="2437">
                <a:solidFill>
                  <a:srgbClr val="CFD0D8"/>
                </a:solidFill>
                <a:latin typeface="Roboto"/>
                <a:ea typeface="Roboto"/>
                <a:cs typeface="Roboto"/>
                <a:sym typeface="Roboto"/>
              </a:rPr>
              <a:t>Interactive Visualization</a:t>
            </a:r>
          </a:p>
        </p:txBody>
      </p:sp>
      <p:sp>
        <p:nvSpPr>
          <p:cNvPr id="26" name="TextBox 26"/>
          <p:cNvSpPr txBox="1"/>
          <p:nvPr/>
        </p:nvSpPr>
        <p:spPr>
          <a:xfrm>
            <a:off x="992238" y="7653185"/>
            <a:ext cx="8027641" cy="1286027"/>
          </a:xfrm>
          <a:prstGeom prst="rect">
            <a:avLst/>
          </a:prstGeom>
        </p:spPr>
        <p:txBody>
          <a:bodyPr lIns="0" tIns="0" rIns="0" bIns="0" rtlCol="0" anchor="t">
            <a:spAutoFit/>
          </a:bodyPr>
          <a:lstStyle/>
          <a:p>
            <a:pPr algn="l">
              <a:lnSpc>
                <a:spcPts val="3125"/>
              </a:lnSpc>
            </a:pPr>
            <a:r>
              <a:rPr lang="en-US" sz="1937">
                <a:solidFill>
                  <a:srgbClr val="CFD0D8"/>
                </a:solidFill>
                <a:latin typeface="Roboto"/>
                <a:ea typeface="Roboto"/>
                <a:cs typeface="Roboto"/>
                <a:sym typeface="Roboto"/>
              </a:rPr>
              <a:t>Created Folium heatmap showing all cells with color-coded risk levels. Built comprehensive Tableau dashboard with bar, scatter, and line chart views. Published with #1M1B hashtag for public access.</a:t>
            </a:r>
          </a:p>
        </p:txBody>
      </p:sp>
      <p:sp>
        <p:nvSpPr>
          <p:cNvPr id="27" name="TextBox 27"/>
          <p:cNvSpPr txBox="1"/>
          <p:nvPr/>
        </p:nvSpPr>
        <p:spPr>
          <a:xfrm>
            <a:off x="9267825" y="6542637"/>
            <a:ext cx="409575" cy="360291"/>
          </a:xfrm>
          <a:prstGeom prst="rect">
            <a:avLst/>
          </a:prstGeom>
        </p:spPr>
        <p:txBody>
          <a:bodyPr wrap="square" lIns="0" tIns="0" rIns="0" bIns="0" rtlCol="0" anchor="t">
            <a:spAutoFit/>
          </a:bodyPr>
          <a:lstStyle/>
          <a:p>
            <a:pPr algn="l">
              <a:lnSpc>
                <a:spcPts val="3125"/>
              </a:lnSpc>
            </a:pPr>
            <a:r>
              <a:rPr lang="en-US" sz="1937" dirty="0">
                <a:solidFill>
                  <a:srgbClr val="CFD0D8"/>
                </a:solidFill>
                <a:latin typeface="Roboto"/>
                <a:ea typeface="Roboto"/>
                <a:cs typeface="Roboto"/>
                <a:sym typeface="Roboto"/>
              </a:rPr>
              <a:t>05</a:t>
            </a:r>
          </a:p>
        </p:txBody>
      </p:sp>
      <p:grpSp>
        <p:nvGrpSpPr>
          <p:cNvPr id="28" name="Group 28"/>
          <p:cNvGrpSpPr/>
          <p:nvPr/>
        </p:nvGrpSpPr>
        <p:grpSpPr>
          <a:xfrm>
            <a:off x="9267825" y="7030793"/>
            <a:ext cx="8027784" cy="28575"/>
            <a:chOff x="0" y="0"/>
            <a:chExt cx="10703712" cy="38100"/>
          </a:xfrm>
        </p:grpSpPr>
        <p:sp>
          <p:nvSpPr>
            <p:cNvPr id="29" name="Freeform 29"/>
            <p:cNvSpPr/>
            <p:nvPr/>
          </p:nvSpPr>
          <p:spPr>
            <a:xfrm>
              <a:off x="0" y="0"/>
              <a:ext cx="10703687" cy="38100"/>
            </a:xfrm>
            <a:custGeom>
              <a:avLst/>
              <a:gdLst/>
              <a:ahLst/>
              <a:cxnLst/>
              <a:rect l="l" t="t" r="r" b="b"/>
              <a:pathLst>
                <a:path w="10703687" h="38100">
                  <a:moveTo>
                    <a:pt x="0" y="0"/>
                  </a:moveTo>
                  <a:lnTo>
                    <a:pt x="10703687" y="0"/>
                  </a:lnTo>
                  <a:lnTo>
                    <a:pt x="10703687" y="38100"/>
                  </a:lnTo>
                  <a:lnTo>
                    <a:pt x="0" y="38100"/>
                  </a:lnTo>
                  <a:close/>
                </a:path>
              </a:pathLst>
            </a:custGeom>
            <a:solidFill>
              <a:srgbClr val="5A6ED8"/>
            </a:solidFill>
            <a:ln w="12700">
              <a:solidFill>
                <a:srgbClr val="000000"/>
              </a:solidFill>
            </a:ln>
          </p:spPr>
          <p:txBody>
            <a:bodyPr/>
            <a:lstStyle/>
            <a:p>
              <a:endParaRPr lang="en-IN"/>
            </a:p>
          </p:txBody>
        </p:sp>
      </p:grpSp>
      <p:sp>
        <p:nvSpPr>
          <p:cNvPr id="30" name="TextBox 30"/>
          <p:cNvSpPr txBox="1"/>
          <p:nvPr/>
        </p:nvSpPr>
        <p:spPr>
          <a:xfrm>
            <a:off x="9267825" y="7192861"/>
            <a:ext cx="3101130" cy="406746"/>
          </a:xfrm>
          <a:prstGeom prst="rect">
            <a:avLst/>
          </a:prstGeom>
        </p:spPr>
        <p:txBody>
          <a:bodyPr lIns="0" tIns="0" rIns="0" bIns="0" rtlCol="0" anchor="t">
            <a:spAutoFit/>
          </a:bodyPr>
          <a:lstStyle/>
          <a:p>
            <a:pPr algn="l">
              <a:lnSpc>
                <a:spcPts val="2999"/>
              </a:lnSpc>
            </a:pPr>
            <a:r>
              <a:rPr lang="en-US" sz="2437">
                <a:solidFill>
                  <a:srgbClr val="CFD0D8"/>
                </a:solidFill>
                <a:latin typeface="Roboto"/>
                <a:ea typeface="Roboto"/>
                <a:cs typeface="Roboto"/>
                <a:sym typeface="Roboto"/>
              </a:rPr>
              <a:t>Hotspot Identification</a:t>
            </a:r>
          </a:p>
        </p:txBody>
      </p:sp>
      <p:sp>
        <p:nvSpPr>
          <p:cNvPr id="31" name="TextBox 31"/>
          <p:cNvSpPr txBox="1"/>
          <p:nvPr/>
        </p:nvSpPr>
        <p:spPr>
          <a:xfrm>
            <a:off x="9267825" y="7653185"/>
            <a:ext cx="8027784" cy="1286027"/>
          </a:xfrm>
          <a:prstGeom prst="rect">
            <a:avLst/>
          </a:prstGeom>
        </p:spPr>
        <p:txBody>
          <a:bodyPr lIns="0" tIns="0" rIns="0" bIns="0" rtlCol="0" anchor="t">
            <a:spAutoFit/>
          </a:bodyPr>
          <a:lstStyle/>
          <a:p>
            <a:pPr algn="l">
              <a:lnSpc>
                <a:spcPts val="3125"/>
              </a:lnSpc>
            </a:pPr>
            <a:r>
              <a:rPr lang="en-US" sz="1937">
                <a:solidFill>
                  <a:srgbClr val="CFD0D8"/>
                </a:solidFill>
                <a:latin typeface="Roboto"/>
                <a:ea typeface="Roboto"/>
                <a:cs typeface="Roboto"/>
                <a:sym typeface="Roboto"/>
              </a:rPr>
              <a:t>Ranked all cells by Emission Index. Identified top 6 priority zones using reverse geocoding. Developed targeted, sector-specific mitigation strategies for each hotspot type.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18">
                <a:alpha val="90196"/>
              </a:srgbClr>
            </a:solidFill>
            <a:ln w="12700">
              <a:solidFill>
                <a:srgbClr val="000000"/>
              </a:solidFill>
            </a:ln>
          </p:spPr>
          <p:txBody>
            <a:bodyPr/>
            <a:lstStyle/>
            <a:p>
              <a:endParaRPr lang="en-IN"/>
            </a:p>
          </p:txBody>
        </p:sp>
      </p:grpSp>
      <p:sp>
        <p:nvSpPr>
          <p:cNvPr id="5" name="TextBox 5"/>
          <p:cNvSpPr txBox="1"/>
          <p:nvPr/>
        </p:nvSpPr>
        <p:spPr>
          <a:xfrm>
            <a:off x="976903" y="633565"/>
            <a:ext cx="7542762" cy="801291"/>
          </a:xfrm>
          <a:prstGeom prst="rect">
            <a:avLst/>
          </a:prstGeom>
        </p:spPr>
        <p:txBody>
          <a:bodyPr lIns="0" tIns="0" rIns="0" bIns="0" rtlCol="0" anchor="t">
            <a:spAutoFit/>
          </a:bodyPr>
          <a:lstStyle/>
          <a:p>
            <a:pPr algn="l">
              <a:lnSpc>
                <a:spcPts val="6000"/>
              </a:lnSpc>
            </a:pPr>
            <a:r>
              <a:rPr lang="en-US" sz="4750">
                <a:solidFill>
                  <a:srgbClr val="FFFFFF"/>
                </a:solidFill>
                <a:latin typeface="Roboto"/>
                <a:ea typeface="Roboto"/>
                <a:cs typeface="Roboto"/>
                <a:sym typeface="Roboto"/>
              </a:rPr>
              <a:t>Six Priority Zones Identified</a:t>
            </a:r>
          </a:p>
        </p:txBody>
      </p:sp>
      <p:sp>
        <p:nvSpPr>
          <p:cNvPr id="6" name="TextBox 6"/>
          <p:cNvSpPr txBox="1"/>
          <p:nvPr/>
        </p:nvSpPr>
        <p:spPr>
          <a:xfrm>
            <a:off x="976903" y="1837582"/>
            <a:ext cx="16334184" cy="867070"/>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Our analysis identified six critical hotspots where targeted intervention could achieve 10–25% CO₂ reduction—far exceeding the impact of city-wide uniform policies.</a:t>
            </a:r>
          </a:p>
        </p:txBody>
      </p:sp>
      <p:grpSp>
        <p:nvGrpSpPr>
          <p:cNvPr id="7" name="Group 7"/>
          <p:cNvGrpSpPr/>
          <p:nvPr/>
        </p:nvGrpSpPr>
        <p:grpSpPr>
          <a:xfrm>
            <a:off x="972141" y="2974629"/>
            <a:ext cx="16343709" cy="4946894"/>
            <a:chOff x="0" y="0"/>
            <a:chExt cx="21791612" cy="6595859"/>
          </a:xfrm>
        </p:grpSpPr>
        <p:sp>
          <p:nvSpPr>
            <p:cNvPr id="8" name="Freeform 8"/>
            <p:cNvSpPr/>
            <p:nvPr/>
          </p:nvSpPr>
          <p:spPr>
            <a:xfrm>
              <a:off x="0" y="0"/>
              <a:ext cx="21791676" cy="6595872"/>
            </a:xfrm>
            <a:custGeom>
              <a:avLst/>
              <a:gdLst/>
              <a:ahLst/>
              <a:cxnLst/>
              <a:rect l="l" t="t" r="r" b="b"/>
              <a:pathLst>
                <a:path w="21791676" h="6595872">
                  <a:moveTo>
                    <a:pt x="0" y="143129"/>
                  </a:moveTo>
                  <a:cubicBezTo>
                    <a:pt x="0" y="64135"/>
                    <a:pt x="64135" y="0"/>
                    <a:pt x="143383" y="0"/>
                  </a:cubicBezTo>
                  <a:lnTo>
                    <a:pt x="21648294" y="0"/>
                  </a:lnTo>
                  <a:lnTo>
                    <a:pt x="21648294" y="6350"/>
                  </a:lnTo>
                  <a:lnTo>
                    <a:pt x="21648294" y="0"/>
                  </a:lnTo>
                  <a:cubicBezTo>
                    <a:pt x="21727415" y="0"/>
                    <a:pt x="21791676" y="64135"/>
                    <a:pt x="21791676" y="143129"/>
                  </a:cubicBezTo>
                  <a:lnTo>
                    <a:pt x="21785326" y="143129"/>
                  </a:lnTo>
                  <a:lnTo>
                    <a:pt x="21791676" y="143129"/>
                  </a:lnTo>
                  <a:lnTo>
                    <a:pt x="21791676" y="6452743"/>
                  </a:lnTo>
                  <a:lnTo>
                    <a:pt x="21785326" y="6452743"/>
                  </a:lnTo>
                  <a:lnTo>
                    <a:pt x="21791676" y="6452743"/>
                  </a:lnTo>
                  <a:cubicBezTo>
                    <a:pt x="21791676" y="6531864"/>
                    <a:pt x="21727542" y="6595872"/>
                    <a:pt x="21648294" y="6595872"/>
                  </a:cubicBezTo>
                  <a:lnTo>
                    <a:pt x="21648294" y="6589522"/>
                  </a:lnTo>
                  <a:lnTo>
                    <a:pt x="21648294" y="6595872"/>
                  </a:lnTo>
                  <a:lnTo>
                    <a:pt x="143383" y="6595872"/>
                  </a:lnTo>
                  <a:lnTo>
                    <a:pt x="143383" y="6589522"/>
                  </a:lnTo>
                  <a:lnTo>
                    <a:pt x="143383" y="6595872"/>
                  </a:lnTo>
                  <a:cubicBezTo>
                    <a:pt x="64135" y="6595872"/>
                    <a:pt x="0" y="6531737"/>
                    <a:pt x="0" y="6452743"/>
                  </a:cubicBezTo>
                  <a:lnTo>
                    <a:pt x="0" y="143129"/>
                  </a:lnTo>
                  <a:lnTo>
                    <a:pt x="6350" y="143129"/>
                  </a:lnTo>
                  <a:lnTo>
                    <a:pt x="0" y="143129"/>
                  </a:lnTo>
                  <a:moveTo>
                    <a:pt x="12700" y="143129"/>
                  </a:moveTo>
                  <a:lnTo>
                    <a:pt x="12700" y="6452743"/>
                  </a:lnTo>
                  <a:lnTo>
                    <a:pt x="6350" y="6452743"/>
                  </a:lnTo>
                  <a:lnTo>
                    <a:pt x="12700" y="6452743"/>
                  </a:lnTo>
                  <a:cubicBezTo>
                    <a:pt x="12700" y="6524752"/>
                    <a:pt x="71120" y="6583172"/>
                    <a:pt x="143383" y="6583172"/>
                  </a:cubicBezTo>
                  <a:lnTo>
                    <a:pt x="21648294" y="6583172"/>
                  </a:lnTo>
                  <a:cubicBezTo>
                    <a:pt x="21720429" y="6583172"/>
                    <a:pt x="21778976" y="6524752"/>
                    <a:pt x="21778976" y="6452743"/>
                  </a:cubicBezTo>
                  <a:lnTo>
                    <a:pt x="21778976" y="143129"/>
                  </a:lnTo>
                  <a:cubicBezTo>
                    <a:pt x="21778976" y="71120"/>
                    <a:pt x="21720556" y="12700"/>
                    <a:pt x="21648294" y="12700"/>
                  </a:cubicBezTo>
                  <a:lnTo>
                    <a:pt x="143383" y="12700"/>
                  </a:lnTo>
                  <a:lnTo>
                    <a:pt x="143383" y="6350"/>
                  </a:lnTo>
                  <a:lnTo>
                    <a:pt x="143383" y="12700"/>
                  </a:lnTo>
                  <a:cubicBezTo>
                    <a:pt x="71120" y="12700"/>
                    <a:pt x="12700" y="71120"/>
                    <a:pt x="12700" y="143129"/>
                  </a:cubicBezTo>
                  <a:close/>
                </a:path>
              </a:pathLst>
            </a:custGeom>
            <a:solidFill>
              <a:srgbClr val="FFFFFF">
                <a:alpha val="5490"/>
              </a:srgbClr>
            </a:solidFill>
            <a:ln w="12700">
              <a:solidFill>
                <a:srgbClr val="000000"/>
              </a:solidFill>
            </a:ln>
          </p:spPr>
          <p:txBody>
            <a:bodyPr/>
            <a:lstStyle/>
            <a:p>
              <a:endParaRPr lang="en-IN"/>
            </a:p>
          </p:txBody>
        </p:sp>
      </p:grpSp>
      <p:grpSp>
        <p:nvGrpSpPr>
          <p:cNvPr id="9" name="Group 9"/>
          <p:cNvGrpSpPr/>
          <p:nvPr/>
        </p:nvGrpSpPr>
        <p:grpSpPr>
          <a:xfrm>
            <a:off x="986428" y="2988916"/>
            <a:ext cx="16315134" cy="702621"/>
            <a:chOff x="0" y="0"/>
            <a:chExt cx="21753512" cy="936828"/>
          </a:xfrm>
        </p:grpSpPr>
        <p:sp>
          <p:nvSpPr>
            <p:cNvPr id="10" name="Freeform 10"/>
            <p:cNvSpPr/>
            <p:nvPr/>
          </p:nvSpPr>
          <p:spPr>
            <a:xfrm>
              <a:off x="0" y="0"/>
              <a:ext cx="21753576" cy="936879"/>
            </a:xfrm>
            <a:custGeom>
              <a:avLst/>
              <a:gdLst/>
              <a:ahLst/>
              <a:cxnLst/>
              <a:rect l="l" t="t" r="r" b="b"/>
              <a:pathLst>
                <a:path w="21753576" h="936879">
                  <a:moveTo>
                    <a:pt x="0" y="0"/>
                  </a:moveTo>
                  <a:lnTo>
                    <a:pt x="21753576" y="0"/>
                  </a:lnTo>
                  <a:lnTo>
                    <a:pt x="21753576" y="936879"/>
                  </a:lnTo>
                  <a:lnTo>
                    <a:pt x="0" y="936879"/>
                  </a:lnTo>
                  <a:close/>
                </a:path>
              </a:pathLst>
            </a:custGeom>
            <a:solidFill>
              <a:srgbClr val="FFFFFF">
                <a:alpha val="0"/>
              </a:srgbClr>
            </a:solidFill>
            <a:ln w="12700">
              <a:solidFill>
                <a:srgbClr val="000000"/>
              </a:solidFill>
            </a:ln>
          </p:spPr>
          <p:txBody>
            <a:bodyPr/>
            <a:lstStyle/>
            <a:p>
              <a:endParaRPr lang="en-IN"/>
            </a:p>
          </p:txBody>
        </p:sp>
      </p:grpSp>
      <p:sp>
        <p:nvSpPr>
          <p:cNvPr id="11" name="TextBox 11"/>
          <p:cNvSpPr txBox="1"/>
          <p:nvPr/>
        </p:nvSpPr>
        <p:spPr>
          <a:xfrm>
            <a:off x="1230811" y="3059163"/>
            <a:ext cx="1138238" cy="476402"/>
          </a:xfrm>
          <a:prstGeom prst="rect">
            <a:avLst/>
          </a:prstGeom>
        </p:spPr>
        <p:txBody>
          <a:bodyPr lIns="0" tIns="0" rIns="0" bIns="0" rtlCol="0" anchor="t">
            <a:spAutoFit/>
          </a:bodyPr>
          <a:lstStyle/>
          <a:p>
            <a:pPr algn="l">
              <a:lnSpc>
                <a:spcPts val="3062"/>
              </a:lnSpc>
            </a:pPr>
            <a:r>
              <a:rPr lang="en-US" sz="1874" b="1">
                <a:solidFill>
                  <a:srgbClr val="CFD0D8"/>
                </a:solidFill>
                <a:latin typeface="Roboto Bold"/>
                <a:ea typeface="Roboto Bold"/>
                <a:cs typeface="Roboto Bold"/>
                <a:sym typeface="Roboto Bold"/>
              </a:rPr>
              <a:t>Rank</a:t>
            </a:r>
          </a:p>
        </p:txBody>
      </p:sp>
      <p:sp>
        <p:nvSpPr>
          <p:cNvPr id="12" name="TextBox 12"/>
          <p:cNvSpPr txBox="1"/>
          <p:nvPr/>
        </p:nvSpPr>
        <p:spPr>
          <a:xfrm>
            <a:off x="2867025" y="3059163"/>
            <a:ext cx="4396530" cy="476402"/>
          </a:xfrm>
          <a:prstGeom prst="rect">
            <a:avLst/>
          </a:prstGeom>
        </p:spPr>
        <p:txBody>
          <a:bodyPr lIns="0" tIns="0" rIns="0" bIns="0" rtlCol="0" anchor="t">
            <a:spAutoFit/>
          </a:bodyPr>
          <a:lstStyle/>
          <a:p>
            <a:pPr algn="l">
              <a:lnSpc>
                <a:spcPts val="3062"/>
              </a:lnSpc>
            </a:pPr>
            <a:r>
              <a:rPr lang="en-US" sz="1874" b="1">
                <a:solidFill>
                  <a:srgbClr val="CFD0D8"/>
                </a:solidFill>
                <a:latin typeface="Roboto Bold"/>
                <a:ea typeface="Roboto Bold"/>
                <a:cs typeface="Roboto Bold"/>
                <a:sym typeface="Roboto Bold"/>
              </a:rPr>
              <a:t>Area</a:t>
            </a:r>
          </a:p>
        </p:txBody>
      </p:sp>
      <p:sp>
        <p:nvSpPr>
          <p:cNvPr id="13" name="TextBox 13"/>
          <p:cNvSpPr txBox="1"/>
          <p:nvPr/>
        </p:nvSpPr>
        <p:spPr>
          <a:xfrm>
            <a:off x="7761532" y="3059163"/>
            <a:ext cx="3580809" cy="476402"/>
          </a:xfrm>
          <a:prstGeom prst="rect">
            <a:avLst/>
          </a:prstGeom>
        </p:spPr>
        <p:txBody>
          <a:bodyPr lIns="0" tIns="0" rIns="0" bIns="0" rtlCol="0" anchor="t">
            <a:spAutoFit/>
          </a:bodyPr>
          <a:lstStyle/>
          <a:p>
            <a:pPr algn="l">
              <a:lnSpc>
                <a:spcPts val="3062"/>
              </a:lnSpc>
            </a:pPr>
            <a:r>
              <a:rPr lang="en-US" sz="1874" b="1">
                <a:solidFill>
                  <a:srgbClr val="CFD0D8"/>
                </a:solidFill>
                <a:latin typeface="Roboto Bold"/>
                <a:ea typeface="Roboto Bold"/>
                <a:cs typeface="Roboto Bold"/>
                <a:sym typeface="Roboto Bold"/>
              </a:rPr>
              <a:t>Emission Index</a:t>
            </a:r>
          </a:p>
        </p:txBody>
      </p:sp>
      <p:sp>
        <p:nvSpPr>
          <p:cNvPr id="14" name="TextBox 14"/>
          <p:cNvSpPr txBox="1"/>
          <p:nvPr/>
        </p:nvSpPr>
        <p:spPr>
          <a:xfrm>
            <a:off x="11840318" y="3059163"/>
            <a:ext cx="5217023" cy="476402"/>
          </a:xfrm>
          <a:prstGeom prst="rect">
            <a:avLst/>
          </a:prstGeom>
        </p:spPr>
        <p:txBody>
          <a:bodyPr lIns="0" tIns="0" rIns="0" bIns="0" rtlCol="0" anchor="t">
            <a:spAutoFit/>
          </a:bodyPr>
          <a:lstStyle/>
          <a:p>
            <a:pPr algn="l">
              <a:lnSpc>
                <a:spcPts val="3062"/>
              </a:lnSpc>
            </a:pPr>
            <a:r>
              <a:rPr lang="en-US" sz="1874" b="1">
                <a:solidFill>
                  <a:srgbClr val="CFD0D8"/>
                </a:solidFill>
                <a:latin typeface="Roboto Bold"/>
                <a:ea typeface="Roboto Bold"/>
                <a:cs typeface="Roboto Bold"/>
                <a:sym typeface="Roboto Bold"/>
              </a:rPr>
              <a:t>Hotspot Type</a:t>
            </a:r>
          </a:p>
        </p:txBody>
      </p:sp>
      <p:grpSp>
        <p:nvGrpSpPr>
          <p:cNvPr id="15" name="Group 15"/>
          <p:cNvGrpSpPr/>
          <p:nvPr/>
        </p:nvGrpSpPr>
        <p:grpSpPr>
          <a:xfrm>
            <a:off x="986428" y="3691528"/>
            <a:ext cx="16315134" cy="702621"/>
            <a:chOff x="0" y="0"/>
            <a:chExt cx="21753512" cy="936828"/>
          </a:xfrm>
        </p:grpSpPr>
        <p:sp>
          <p:nvSpPr>
            <p:cNvPr id="16" name="Freeform 16"/>
            <p:cNvSpPr/>
            <p:nvPr/>
          </p:nvSpPr>
          <p:spPr>
            <a:xfrm>
              <a:off x="0" y="0"/>
              <a:ext cx="21753576" cy="936879"/>
            </a:xfrm>
            <a:custGeom>
              <a:avLst/>
              <a:gdLst/>
              <a:ahLst/>
              <a:cxnLst/>
              <a:rect l="l" t="t" r="r" b="b"/>
              <a:pathLst>
                <a:path w="21753576" h="936879">
                  <a:moveTo>
                    <a:pt x="0" y="0"/>
                  </a:moveTo>
                  <a:lnTo>
                    <a:pt x="21753576" y="0"/>
                  </a:lnTo>
                  <a:lnTo>
                    <a:pt x="21753576" y="936879"/>
                  </a:lnTo>
                  <a:lnTo>
                    <a:pt x="0" y="936879"/>
                  </a:lnTo>
                  <a:close/>
                </a:path>
              </a:pathLst>
            </a:custGeom>
            <a:solidFill>
              <a:srgbClr val="000000">
                <a:alpha val="0"/>
              </a:srgbClr>
            </a:solidFill>
            <a:ln w="12700">
              <a:solidFill>
                <a:srgbClr val="000000"/>
              </a:solidFill>
            </a:ln>
          </p:spPr>
          <p:txBody>
            <a:bodyPr/>
            <a:lstStyle/>
            <a:p>
              <a:endParaRPr lang="en-IN"/>
            </a:p>
          </p:txBody>
        </p:sp>
      </p:grpSp>
      <p:sp>
        <p:nvSpPr>
          <p:cNvPr id="17" name="TextBox 17"/>
          <p:cNvSpPr txBox="1"/>
          <p:nvPr/>
        </p:nvSpPr>
        <p:spPr>
          <a:xfrm>
            <a:off x="1230811" y="3761784"/>
            <a:ext cx="1138238"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1</a:t>
            </a:r>
          </a:p>
        </p:txBody>
      </p:sp>
      <p:sp>
        <p:nvSpPr>
          <p:cNvPr id="18" name="TextBox 18"/>
          <p:cNvSpPr txBox="1"/>
          <p:nvPr/>
        </p:nvSpPr>
        <p:spPr>
          <a:xfrm>
            <a:off x="2867025" y="3761784"/>
            <a:ext cx="4396530"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Adikmet</a:t>
            </a:r>
          </a:p>
        </p:txBody>
      </p:sp>
      <p:sp>
        <p:nvSpPr>
          <p:cNvPr id="19" name="TextBox 19"/>
          <p:cNvSpPr txBox="1"/>
          <p:nvPr/>
        </p:nvSpPr>
        <p:spPr>
          <a:xfrm>
            <a:off x="7761532" y="3761784"/>
            <a:ext cx="3580809" cy="476402"/>
          </a:xfrm>
          <a:prstGeom prst="rect">
            <a:avLst/>
          </a:prstGeom>
        </p:spPr>
        <p:txBody>
          <a:bodyPr lIns="0" tIns="0" rIns="0" bIns="0" rtlCol="0" anchor="t">
            <a:spAutoFit/>
          </a:bodyPr>
          <a:lstStyle/>
          <a:p>
            <a:pPr algn="l">
              <a:lnSpc>
                <a:spcPts val="3062"/>
              </a:lnSpc>
            </a:pPr>
            <a:r>
              <a:rPr lang="en-US" sz="1874">
                <a:solidFill>
                  <a:srgbClr val="5A6ED8"/>
                </a:solidFill>
                <a:latin typeface="Roboto"/>
                <a:ea typeface="Roboto"/>
                <a:cs typeface="Roboto"/>
                <a:sym typeface="Roboto"/>
              </a:rPr>
              <a:t>0.81</a:t>
            </a:r>
          </a:p>
        </p:txBody>
      </p:sp>
      <p:sp>
        <p:nvSpPr>
          <p:cNvPr id="20" name="TextBox 20"/>
          <p:cNvSpPr txBox="1"/>
          <p:nvPr/>
        </p:nvSpPr>
        <p:spPr>
          <a:xfrm>
            <a:off x="11840318" y="3761784"/>
            <a:ext cx="5217023"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Mixed (Traffic + Industrial)</a:t>
            </a:r>
          </a:p>
        </p:txBody>
      </p:sp>
      <p:grpSp>
        <p:nvGrpSpPr>
          <p:cNvPr id="21" name="Group 21"/>
          <p:cNvGrpSpPr/>
          <p:nvPr/>
        </p:nvGrpSpPr>
        <p:grpSpPr>
          <a:xfrm>
            <a:off x="986428" y="4394149"/>
            <a:ext cx="16315134" cy="702621"/>
            <a:chOff x="0" y="0"/>
            <a:chExt cx="21753512" cy="936828"/>
          </a:xfrm>
        </p:grpSpPr>
        <p:sp>
          <p:nvSpPr>
            <p:cNvPr id="22" name="Freeform 22"/>
            <p:cNvSpPr/>
            <p:nvPr/>
          </p:nvSpPr>
          <p:spPr>
            <a:xfrm>
              <a:off x="0" y="0"/>
              <a:ext cx="21753576" cy="936879"/>
            </a:xfrm>
            <a:custGeom>
              <a:avLst/>
              <a:gdLst/>
              <a:ahLst/>
              <a:cxnLst/>
              <a:rect l="l" t="t" r="r" b="b"/>
              <a:pathLst>
                <a:path w="21753576" h="936879">
                  <a:moveTo>
                    <a:pt x="0" y="0"/>
                  </a:moveTo>
                  <a:lnTo>
                    <a:pt x="21753576" y="0"/>
                  </a:lnTo>
                  <a:lnTo>
                    <a:pt x="21753576" y="936879"/>
                  </a:lnTo>
                  <a:lnTo>
                    <a:pt x="0" y="936879"/>
                  </a:lnTo>
                  <a:close/>
                </a:path>
              </a:pathLst>
            </a:custGeom>
            <a:solidFill>
              <a:srgbClr val="FFFFFF">
                <a:alpha val="0"/>
              </a:srgbClr>
            </a:solidFill>
            <a:ln w="12700">
              <a:solidFill>
                <a:srgbClr val="000000"/>
              </a:solidFill>
            </a:ln>
          </p:spPr>
          <p:txBody>
            <a:bodyPr/>
            <a:lstStyle/>
            <a:p>
              <a:endParaRPr lang="en-IN"/>
            </a:p>
          </p:txBody>
        </p:sp>
      </p:grpSp>
      <p:sp>
        <p:nvSpPr>
          <p:cNvPr id="23" name="TextBox 23"/>
          <p:cNvSpPr txBox="1"/>
          <p:nvPr/>
        </p:nvSpPr>
        <p:spPr>
          <a:xfrm>
            <a:off x="1230811" y="4464396"/>
            <a:ext cx="1138238"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2</a:t>
            </a:r>
          </a:p>
        </p:txBody>
      </p:sp>
      <p:sp>
        <p:nvSpPr>
          <p:cNvPr id="24" name="TextBox 24"/>
          <p:cNvSpPr txBox="1"/>
          <p:nvPr/>
        </p:nvSpPr>
        <p:spPr>
          <a:xfrm>
            <a:off x="2867025" y="4464396"/>
            <a:ext cx="4396530"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R.K. Nagar–Malkajgiri</a:t>
            </a:r>
          </a:p>
        </p:txBody>
      </p:sp>
      <p:sp>
        <p:nvSpPr>
          <p:cNvPr id="25" name="TextBox 25"/>
          <p:cNvSpPr txBox="1"/>
          <p:nvPr/>
        </p:nvSpPr>
        <p:spPr>
          <a:xfrm>
            <a:off x="7761532" y="4464396"/>
            <a:ext cx="3580809" cy="476402"/>
          </a:xfrm>
          <a:prstGeom prst="rect">
            <a:avLst/>
          </a:prstGeom>
        </p:spPr>
        <p:txBody>
          <a:bodyPr lIns="0" tIns="0" rIns="0" bIns="0" rtlCol="0" anchor="t">
            <a:spAutoFit/>
          </a:bodyPr>
          <a:lstStyle/>
          <a:p>
            <a:pPr algn="l">
              <a:lnSpc>
                <a:spcPts val="3062"/>
              </a:lnSpc>
            </a:pPr>
            <a:r>
              <a:rPr lang="en-US" sz="1874">
                <a:solidFill>
                  <a:srgbClr val="5A6ED8"/>
                </a:solidFill>
                <a:latin typeface="Roboto"/>
                <a:ea typeface="Roboto"/>
                <a:cs typeface="Roboto"/>
                <a:sym typeface="Roboto"/>
              </a:rPr>
              <a:t>0.80</a:t>
            </a:r>
          </a:p>
        </p:txBody>
      </p:sp>
      <p:sp>
        <p:nvSpPr>
          <p:cNvPr id="26" name="TextBox 26"/>
          <p:cNvSpPr txBox="1"/>
          <p:nvPr/>
        </p:nvSpPr>
        <p:spPr>
          <a:xfrm>
            <a:off x="11840318" y="4464396"/>
            <a:ext cx="5217023"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Traffic-Dominated</a:t>
            </a:r>
          </a:p>
        </p:txBody>
      </p:sp>
      <p:grpSp>
        <p:nvGrpSpPr>
          <p:cNvPr id="27" name="Group 27"/>
          <p:cNvGrpSpPr/>
          <p:nvPr/>
        </p:nvGrpSpPr>
        <p:grpSpPr>
          <a:xfrm>
            <a:off x="986428" y="5096770"/>
            <a:ext cx="16315134" cy="702621"/>
            <a:chOff x="0" y="0"/>
            <a:chExt cx="21753512" cy="936828"/>
          </a:xfrm>
        </p:grpSpPr>
        <p:sp>
          <p:nvSpPr>
            <p:cNvPr id="28" name="Freeform 28"/>
            <p:cNvSpPr/>
            <p:nvPr/>
          </p:nvSpPr>
          <p:spPr>
            <a:xfrm>
              <a:off x="0" y="0"/>
              <a:ext cx="21753576" cy="936879"/>
            </a:xfrm>
            <a:custGeom>
              <a:avLst/>
              <a:gdLst/>
              <a:ahLst/>
              <a:cxnLst/>
              <a:rect l="l" t="t" r="r" b="b"/>
              <a:pathLst>
                <a:path w="21753576" h="936879">
                  <a:moveTo>
                    <a:pt x="0" y="0"/>
                  </a:moveTo>
                  <a:lnTo>
                    <a:pt x="21753576" y="0"/>
                  </a:lnTo>
                  <a:lnTo>
                    <a:pt x="21753576" y="936879"/>
                  </a:lnTo>
                  <a:lnTo>
                    <a:pt x="0" y="936879"/>
                  </a:lnTo>
                  <a:close/>
                </a:path>
              </a:pathLst>
            </a:custGeom>
            <a:solidFill>
              <a:srgbClr val="000000">
                <a:alpha val="0"/>
              </a:srgbClr>
            </a:solidFill>
            <a:ln w="12700">
              <a:solidFill>
                <a:srgbClr val="000000"/>
              </a:solidFill>
            </a:ln>
          </p:spPr>
          <p:txBody>
            <a:bodyPr/>
            <a:lstStyle/>
            <a:p>
              <a:endParaRPr lang="en-IN"/>
            </a:p>
          </p:txBody>
        </p:sp>
      </p:grpSp>
      <p:sp>
        <p:nvSpPr>
          <p:cNvPr id="29" name="TextBox 29"/>
          <p:cNvSpPr txBox="1"/>
          <p:nvPr/>
        </p:nvSpPr>
        <p:spPr>
          <a:xfrm>
            <a:off x="1230811" y="5167017"/>
            <a:ext cx="1138238"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3</a:t>
            </a:r>
          </a:p>
        </p:txBody>
      </p:sp>
      <p:sp>
        <p:nvSpPr>
          <p:cNvPr id="30" name="TextBox 30"/>
          <p:cNvSpPr txBox="1"/>
          <p:nvPr/>
        </p:nvSpPr>
        <p:spPr>
          <a:xfrm>
            <a:off x="2867025" y="5167017"/>
            <a:ext cx="4396530"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Begumpet–HPS / Sardar Patel Rd</a:t>
            </a:r>
          </a:p>
        </p:txBody>
      </p:sp>
      <p:sp>
        <p:nvSpPr>
          <p:cNvPr id="31" name="TextBox 31"/>
          <p:cNvSpPr txBox="1"/>
          <p:nvPr/>
        </p:nvSpPr>
        <p:spPr>
          <a:xfrm>
            <a:off x="7761532" y="5167017"/>
            <a:ext cx="3580809"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0.72</a:t>
            </a:r>
          </a:p>
        </p:txBody>
      </p:sp>
      <p:sp>
        <p:nvSpPr>
          <p:cNvPr id="32" name="TextBox 32"/>
          <p:cNvSpPr txBox="1"/>
          <p:nvPr/>
        </p:nvSpPr>
        <p:spPr>
          <a:xfrm>
            <a:off x="11840318" y="5167017"/>
            <a:ext cx="5217023"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Traffic-Dominated</a:t>
            </a:r>
          </a:p>
        </p:txBody>
      </p:sp>
      <p:grpSp>
        <p:nvGrpSpPr>
          <p:cNvPr id="33" name="Group 33"/>
          <p:cNvGrpSpPr/>
          <p:nvPr/>
        </p:nvGrpSpPr>
        <p:grpSpPr>
          <a:xfrm>
            <a:off x="986428" y="5799382"/>
            <a:ext cx="16315134" cy="702621"/>
            <a:chOff x="0" y="0"/>
            <a:chExt cx="21753512" cy="936828"/>
          </a:xfrm>
        </p:grpSpPr>
        <p:sp>
          <p:nvSpPr>
            <p:cNvPr id="34" name="Freeform 34"/>
            <p:cNvSpPr/>
            <p:nvPr/>
          </p:nvSpPr>
          <p:spPr>
            <a:xfrm>
              <a:off x="0" y="0"/>
              <a:ext cx="21753576" cy="936879"/>
            </a:xfrm>
            <a:custGeom>
              <a:avLst/>
              <a:gdLst/>
              <a:ahLst/>
              <a:cxnLst/>
              <a:rect l="l" t="t" r="r" b="b"/>
              <a:pathLst>
                <a:path w="21753576" h="936879">
                  <a:moveTo>
                    <a:pt x="0" y="0"/>
                  </a:moveTo>
                  <a:lnTo>
                    <a:pt x="21753576" y="0"/>
                  </a:lnTo>
                  <a:lnTo>
                    <a:pt x="21753576" y="936879"/>
                  </a:lnTo>
                  <a:lnTo>
                    <a:pt x="0" y="936879"/>
                  </a:lnTo>
                  <a:close/>
                </a:path>
              </a:pathLst>
            </a:custGeom>
            <a:solidFill>
              <a:srgbClr val="FFFFFF">
                <a:alpha val="0"/>
              </a:srgbClr>
            </a:solidFill>
            <a:ln w="12700">
              <a:solidFill>
                <a:srgbClr val="000000"/>
              </a:solidFill>
            </a:ln>
          </p:spPr>
          <p:txBody>
            <a:bodyPr/>
            <a:lstStyle/>
            <a:p>
              <a:endParaRPr lang="en-IN"/>
            </a:p>
          </p:txBody>
        </p:sp>
      </p:grpSp>
      <p:sp>
        <p:nvSpPr>
          <p:cNvPr id="35" name="TextBox 35"/>
          <p:cNvSpPr txBox="1"/>
          <p:nvPr/>
        </p:nvSpPr>
        <p:spPr>
          <a:xfrm>
            <a:off x="1230811" y="5869629"/>
            <a:ext cx="1138238"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4</a:t>
            </a:r>
          </a:p>
        </p:txBody>
      </p:sp>
      <p:sp>
        <p:nvSpPr>
          <p:cNvPr id="36" name="TextBox 36"/>
          <p:cNvSpPr txBox="1"/>
          <p:nvPr/>
        </p:nvSpPr>
        <p:spPr>
          <a:xfrm>
            <a:off x="2867025" y="5869629"/>
            <a:ext cx="4396530"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Ameerpet Corridor</a:t>
            </a:r>
          </a:p>
        </p:txBody>
      </p:sp>
      <p:sp>
        <p:nvSpPr>
          <p:cNvPr id="37" name="TextBox 37"/>
          <p:cNvSpPr txBox="1"/>
          <p:nvPr/>
        </p:nvSpPr>
        <p:spPr>
          <a:xfrm>
            <a:off x="7761532" y="5869629"/>
            <a:ext cx="3580809"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0.70–0.72</a:t>
            </a:r>
          </a:p>
        </p:txBody>
      </p:sp>
      <p:sp>
        <p:nvSpPr>
          <p:cNvPr id="38" name="TextBox 38"/>
          <p:cNvSpPr txBox="1"/>
          <p:nvPr/>
        </p:nvSpPr>
        <p:spPr>
          <a:xfrm>
            <a:off x="11840318" y="5869629"/>
            <a:ext cx="5217023"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Mixed (Transport Hub)</a:t>
            </a:r>
          </a:p>
        </p:txBody>
      </p:sp>
      <p:grpSp>
        <p:nvGrpSpPr>
          <p:cNvPr id="39" name="Group 39"/>
          <p:cNvGrpSpPr/>
          <p:nvPr/>
        </p:nvGrpSpPr>
        <p:grpSpPr>
          <a:xfrm>
            <a:off x="986428" y="6502003"/>
            <a:ext cx="16315134" cy="702621"/>
            <a:chOff x="0" y="0"/>
            <a:chExt cx="21753512" cy="936828"/>
          </a:xfrm>
        </p:grpSpPr>
        <p:sp>
          <p:nvSpPr>
            <p:cNvPr id="40" name="Freeform 40"/>
            <p:cNvSpPr/>
            <p:nvPr/>
          </p:nvSpPr>
          <p:spPr>
            <a:xfrm>
              <a:off x="0" y="0"/>
              <a:ext cx="21753576" cy="936879"/>
            </a:xfrm>
            <a:custGeom>
              <a:avLst/>
              <a:gdLst/>
              <a:ahLst/>
              <a:cxnLst/>
              <a:rect l="l" t="t" r="r" b="b"/>
              <a:pathLst>
                <a:path w="21753576" h="936879">
                  <a:moveTo>
                    <a:pt x="0" y="0"/>
                  </a:moveTo>
                  <a:lnTo>
                    <a:pt x="21753576" y="0"/>
                  </a:lnTo>
                  <a:lnTo>
                    <a:pt x="21753576" y="936879"/>
                  </a:lnTo>
                  <a:lnTo>
                    <a:pt x="0" y="936879"/>
                  </a:lnTo>
                  <a:close/>
                </a:path>
              </a:pathLst>
            </a:custGeom>
            <a:solidFill>
              <a:srgbClr val="000000">
                <a:alpha val="0"/>
              </a:srgbClr>
            </a:solidFill>
            <a:ln w="12700">
              <a:solidFill>
                <a:srgbClr val="000000"/>
              </a:solidFill>
            </a:ln>
          </p:spPr>
          <p:txBody>
            <a:bodyPr/>
            <a:lstStyle/>
            <a:p>
              <a:endParaRPr lang="en-IN"/>
            </a:p>
          </p:txBody>
        </p:sp>
      </p:grpSp>
      <p:sp>
        <p:nvSpPr>
          <p:cNvPr id="41" name="TextBox 41"/>
          <p:cNvSpPr txBox="1"/>
          <p:nvPr/>
        </p:nvSpPr>
        <p:spPr>
          <a:xfrm>
            <a:off x="1230811" y="6572250"/>
            <a:ext cx="1138238"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5</a:t>
            </a:r>
          </a:p>
        </p:txBody>
      </p:sp>
      <p:sp>
        <p:nvSpPr>
          <p:cNvPr id="42" name="TextBox 42"/>
          <p:cNvSpPr txBox="1"/>
          <p:nvPr/>
        </p:nvSpPr>
        <p:spPr>
          <a:xfrm>
            <a:off x="2867025" y="6572250"/>
            <a:ext cx="4396530"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Somajiguda–Necklace Rd</a:t>
            </a:r>
          </a:p>
        </p:txBody>
      </p:sp>
      <p:sp>
        <p:nvSpPr>
          <p:cNvPr id="43" name="TextBox 43"/>
          <p:cNvSpPr txBox="1"/>
          <p:nvPr/>
        </p:nvSpPr>
        <p:spPr>
          <a:xfrm>
            <a:off x="7761532" y="6572250"/>
            <a:ext cx="3580809"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0.68</a:t>
            </a:r>
          </a:p>
        </p:txBody>
      </p:sp>
      <p:sp>
        <p:nvSpPr>
          <p:cNvPr id="44" name="TextBox 44"/>
          <p:cNvSpPr txBox="1"/>
          <p:nvPr/>
        </p:nvSpPr>
        <p:spPr>
          <a:xfrm>
            <a:off x="11840318" y="6572250"/>
            <a:ext cx="5217023"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Mixed (Tourism + Congestion)</a:t>
            </a:r>
          </a:p>
        </p:txBody>
      </p:sp>
      <p:grpSp>
        <p:nvGrpSpPr>
          <p:cNvPr id="45" name="Group 45"/>
          <p:cNvGrpSpPr/>
          <p:nvPr/>
        </p:nvGrpSpPr>
        <p:grpSpPr>
          <a:xfrm>
            <a:off x="986428" y="7204624"/>
            <a:ext cx="16315134" cy="702621"/>
            <a:chOff x="0" y="0"/>
            <a:chExt cx="21753512" cy="936828"/>
          </a:xfrm>
        </p:grpSpPr>
        <p:sp>
          <p:nvSpPr>
            <p:cNvPr id="46" name="Freeform 46"/>
            <p:cNvSpPr/>
            <p:nvPr/>
          </p:nvSpPr>
          <p:spPr>
            <a:xfrm>
              <a:off x="0" y="0"/>
              <a:ext cx="21753576" cy="936879"/>
            </a:xfrm>
            <a:custGeom>
              <a:avLst/>
              <a:gdLst/>
              <a:ahLst/>
              <a:cxnLst/>
              <a:rect l="l" t="t" r="r" b="b"/>
              <a:pathLst>
                <a:path w="21753576" h="936879">
                  <a:moveTo>
                    <a:pt x="0" y="0"/>
                  </a:moveTo>
                  <a:lnTo>
                    <a:pt x="21753576" y="0"/>
                  </a:lnTo>
                  <a:lnTo>
                    <a:pt x="21753576" y="936879"/>
                  </a:lnTo>
                  <a:lnTo>
                    <a:pt x="0" y="936879"/>
                  </a:lnTo>
                  <a:close/>
                </a:path>
              </a:pathLst>
            </a:custGeom>
            <a:solidFill>
              <a:srgbClr val="FFFFFF">
                <a:alpha val="0"/>
              </a:srgbClr>
            </a:solidFill>
            <a:ln w="12700">
              <a:solidFill>
                <a:srgbClr val="000000"/>
              </a:solidFill>
            </a:ln>
          </p:spPr>
          <p:txBody>
            <a:bodyPr/>
            <a:lstStyle/>
            <a:p>
              <a:endParaRPr lang="en-IN"/>
            </a:p>
          </p:txBody>
        </p:sp>
      </p:grpSp>
      <p:sp>
        <p:nvSpPr>
          <p:cNvPr id="47" name="TextBox 47"/>
          <p:cNvSpPr txBox="1"/>
          <p:nvPr/>
        </p:nvSpPr>
        <p:spPr>
          <a:xfrm>
            <a:off x="1230811" y="7274871"/>
            <a:ext cx="1138238"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6</a:t>
            </a:r>
          </a:p>
        </p:txBody>
      </p:sp>
      <p:sp>
        <p:nvSpPr>
          <p:cNvPr id="48" name="TextBox 48"/>
          <p:cNvSpPr txBox="1"/>
          <p:nvPr/>
        </p:nvSpPr>
        <p:spPr>
          <a:xfrm>
            <a:off x="2867025" y="7274871"/>
            <a:ext cx="4396530"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Gayatri Nagar–Lingampally–Rail Vihar</a:t>
            </a:r>
          </a:p>
        </p:txBody>
      </p:sp>
      <p:sp>
        <p:nvSpPr>
          <p:cNvPr id="49" name="TextBox 49"/>
          <p:cNvSpPr txBox="1"/>
          <p:nvPr/>
        </p:nvSpPr>
        <p:spPr>
          <a:xfrm>
            <a:off x="7761532" y="7274871"/>
            <a:ext cx="3580809"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0.67</a:t>
            </a:r>
          </a:p>
        </p:txBody>
      </p:sp>
      <p:sp>
        <p:nvSpPr>
          <p:cNvPr id="50" name="TextBox 50"/>
          <p:cNvSpPr txBox="1"/>
          <p:nvPr/>
        </p:nvSpPr>
        <p:spPr>
          <a:xfrm>
            <a:off x="11840318" y="7274871"/>
            <a:ext cx="5217023" cy="476402"/>
          </a:xfrm>
          <a:prstGeom prst="rect">
            <a:avLst/>
          </a:prstGeom>
        </p:spPr>
        <p:txBody>
          <a:bodyPr lIns="0" tIns="0" rIns="0" bIns="0" rtlCol="0" anchor="t">
            <a:spAutoFit/>
          </a:bodyPr>
          <a:lstStyle/>
          <a:p>
            <a:pPr algn="l">
              <a:lnSpc>
                <a:spcPts val="3062"/>
              </a:lnSpc>
            </a:pPr>
            <a:r>
              <a:rPr lang="en-US" sz="1874">
                <a:solidFill>
                  <a:srgbClr val="CFD0D8"/>
                </a:solidFill>
                <a:latin typeface="Roboto"/>
                <a:ea typeface="Roboto"/>
                <a:cs typeface="Roboto"/>
                <a:sym typeface="Roboto"/>
              </a:rPr>
              <a:t>Traffic-Dominated</a:t>
            </a:r>
          </a:p>
        </p:txBody>
      </p:sp>
      <p:grpSp>
        <p:nvGrpSpPr>
          <p:cNvPr id="51" name="Group 51"/>
          <p:cNvGrpSpPr/>
          <p:nvPr/>
        </p:nvGrpSpPr>
        <p:grpSpPr>
          <a:xfrm>
            <a:off x="976903" y="8191500"/>
            <a:ext cx="16334184" cy="1428455"/>
            <a:chOff x="0" y="0"/>
            <a:chExt cx="21778912" cy="1904606"/>
          </a:xfrm>
        </p:grpSpPr>
        <p:sp>
          <p:nvSpPr>
            <p:cNvPr id="52" name="Freeform 52"/>
            <p:cNvSpPr/>
            <p:nvPr/>
          </p:nvSpPr>
          <p:spPr>
            <a:xfrm>
              <a:off x="0" y="0"/>
              <a:ext cx="21778849" cy="1904619"/>
            </a:xfrm>
            <a:custGeom>
              <a:avLst/>
              <a:gdLst/>
              <a:ahLst/>
              <a:cxnLst/>
              <a:rect l="l" t="t" r="r" b="b"/>
              <a:pathLst>
                <a:path w="21778849" h="1904619">
                  <a:moveTo>
                    <a:pt x="0" y="136779"/>
                  </a:moveTo>
                  <a:cubicBezTo>
                    <a:pt x="0" y="61214"/>
                    <a:pt x="61214" y="0"/>
                    <a:pt x="136779" y="0"/>
                  </a:cubicBezTo>
                  <a:lnTo>
                    <a:pt x="21642070" y="0"/>
                  </a:lnTo>
                  <a:cubicBezTo>
                    <a:pt x="21717634" y="0"/>
                    <a:pt x="21778849" y="61214"/>
                    <a:pt x="21778849" y="136779"/>
                  </a:cubicBezTo>
                  <a:lnTo>
                    <a:pt x="21778849" y="1767840"/>
                  </a:lnTo>
                  <a:cubicBezTo>
                    <a:pt x="21778849" y="1843405"/>
                    <a:pt x="21717634" y="1904619"/>
                    <a:pt x="21642070" y="1904619"/>
                  </a:cubicBezTo>
                  <a:lnTo>
                    <a:pt x="136779" y="1904619"/>
                  </a:lnTo>
                  <a:cubicBezTo>
                    <a:pt x="61214" y="1904619"/>
                    <a:pt x="0" y="1843405"/>
                    <a:pt x="0" y="1767840"/>
                  </a:cubicBezTo>
                  <a:close/>
                </a:path>
              </a:pathLst>
            </a:custGeom>
            <a:solidFill>
              <a:srgbClr val="0F163E"/>
            </a:solidFill>
            <a:ln w="12700">
              <a:solidFill>
                <a:srgbClr val="000000"/>
              </a:solidFill>
            </a:ln>
          </p:spPr>
          <p:txBody>
            <a:bodyPr/>
            <a:lstStyle/>
            <a:p>
              <a:endParaRPr lang="en-IN"/>
            </a:p>
          </p:txBody>
        </p:sp>
      </p:grpSp>
      <p:sp>
        <p:nvSpPr>
          <p:cNvPr id="53" name="Freeform 53" descr="preencoded.png"/>
          <p:cNvSpPr/>
          <p:nvPr/>
        </p:nvSpPr>
        <p:spPr>
          <a:xfrm>
            <a:off x="1221134" y="8559251"/>
            <a:ext cx="305248" cy="244231"/>
          </a:xfrm>
          <a:custGeom>
            <a:avLst/>
            <a:gdLst/>
            <a:ahLst/>
            <a:cxnLst/>
            <a:rect l="l" t="t" r="r" b="b"/>
            <a:pathLst>
              <a:path w="305248" h="244231">
                <a:moveTo>
                  <a:pt x="0" y="0"/>
                </a:moveTo>
                <a:lnTo>
                  <a:pt x="305247" y="0"/>
                </a:lnTo>
                <a:lnTo>
                  <a:pt x="305247" y="244230"/>
                </a:lnTo>
                <a:lnTo>
                  <a:pt x="0" y="244230"/>
                </a:lnTo>
                <a:lnTo>
                  <a:pt x="0" y="0"/>
                </a:lnTo>
                <a:close/>
              </a:path>
            </a:pathLst>
          </a:custGeom>
          <a:blipFill>
            <a:blip r:embed="rId4"/>
            <a:stretch>
              <a:fillRect t="-776" b="-772"/>
            </a:stretch>
          </a:blipFill>
        </p:spPr>
        <p:txBody>
          <a:bodyPr/>
          <a:lstStyle/>
          <a:p>
            <a:endParaRPr lang="en-IN"/>
          </a:p>
        </p:txBody>
      </p:sp>
      <p:sp>
        <p:nvSpPr>
          <p:cNvPr id="54" name="TextBox 54"/>
          <p:cNvSpPr txBox="1"/>
          <p:nvPr/>
        </p:nvSpPr>
        <p:spPr>
          <a:xfrm>
            <a:off x="1770612" y="8411023"/>
            <a:ext cx="15296255" cy="867070"/>
          </a:xfrm>
          <a:prstGeom prst="rect">
            <a:avLst/>
          </a:prstGeom>
        </p:spPr>
        <p:txBody>
          <a:bodyPr lIns="0" tIns="0" rIns="0" bIns="0" rtlCol="0" anchor="t">
            <a:spAutoFit/>
          </a:bodyPr>
          <a:lstStyle/>
          <a:p>
            <a:pPr algn="l">
              <a:lnSpc>
                <a:spcPts val="3062"/>
              </a:lnSpc>
            </a:pPr>
            <a:r>
              <a:rPr lang="en-US" sz="1874" b="1">
                <a:solidFill>
                  <a:srgbClr val="FFFFFF"/>
                </a:solidFill>
                <a:latin typeface="Roboto Bold"/>
                <a:ea typeface="Roboto Bold"/>
                <a:cs typeface="Roboto Bold"/>
                <a:sym typeface="Roboto Bold"/>
              </a:rPr>
              <a:t>Key Insight:</a:t>
            </a:r>
            <a:r>
              <a:rPr lang="en-US" sz="1874">
                <a:solidFill>
                  <a:srgbClr val="FFFFFF"/>
                </a:solidFill>
                <a:latin typeface="Roboto"/>
                <a:ea typeface="Roboto"/>
                <a:cs typeface="Roboto"/>
                <a:sym typeface="Roboto"/>
              </a:rPr>
              <a:t> These six zones concentrate disproportionate emission potential. A targeted 10–20% reduction in these areas would significantly improve city-wide air quality while using 3–5x fewer resources than blanket policies.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18">
                <a:alpha val="90196"/>
              </a:srgbClr>
            </a:solidFill>
            <a:ln w="12700">
              <a:solidFill>
                <a:srgbClr val="000000"/>
              </a:solidFill>
            </a:ln>
          </p:spPr>
          <p:txBody>
            <a:bodyPr/>
            <a:lstStyle/>
            <a:p>
              <a:endParaRPr lang="en-IN"/>
            </a:p>
          </p:txBody>
        </p:sp>
      </p:grpSp>
      <p:sp>
        <p:nvSpPr>
          <p:cNvPr id="5" name="TextBox 5"/>
          <p:cNvSpPr txBox="1"/>
          <p:nvPr/>
        </p:nvSpPr>
        <p:spPr>
          <a:xfrm>
            <a:off x="773754" y="504234"/>
            <a:ext cx="7603779" cy="633117"/>
          </a:xfrm>
          <a:prstGeom prst="rect">
            <a:avLst/>
          </a:prstGeom>
        </p:spPr>
        <p:txBody>
          <a:bodyPr lIns="0" tIns="0" rIns="0" bIns="0" rtlCol="0" anchor="t">
            <a:spAutoFit/>
          </a:bodyPr>
          <a:lstStyle/>
          <a:p>
            <a:pPr algn="l">
              <a:lnSpc>
                <a:spcPts val="4750"/>
              </a:lnSpc>
            </a:pPr>
            <a:r>
              <a:rPr lang="en-US" sz="3749">
                <a:solidFill>
                  <a:srgbClr val="FFFFFF"/>
                </a:solidFill>
                <a:latin typeface="Roboto"/>
                <a:ea typeface="Roboto"/>
                <a:cs typeface="Roboto"/>
                <a:sym typeface="Roboto"/>
              </a:rPr>
              <a:t>Interactive Data Visualization Tools</a:t>
            </a:r>
          </a:p>
        </p:txBody>
      </p:sp>
      <p:sp>
        <p:nvSpPr>
          <p:cNvPr id="6" name="TextBox 6"/>
          <p:cNvSpPr txBox="1"/>
          <p:nvPr/>
        </p:nvSpPr>
        <p:spPr>
          <a:xfrm>
            <a:off x="773754" y="1592161"/>
            <a:ext cx="2902001" cy="391268"/>
          </a:xfrm>
          <a:prstGeom prst="rect">
            <a:avLst/>
          </a:prstGeom>
        </p:spPr>
        <p:txBody>
          <a:bodyPr lIns="0" tIns="0" rIns="0" bIns="0" rtlCol="0" anchor="t">
            <a:spAutoFit/>
          </a:bodyPr>
          <a:lstStyle/>
          <a:p>
            <a:pPr algn="l">
              <a:lnSpc>
                <a:spcPts val="2812"/>
              </a:lnSpc>
            </a:pPr>
            <a:r>
              <a:rPr lang="en-US" sz="2249">
                <a:solidFill>
                  <a:srgbClr val="FFFFFF"/>
                </a:solidFill>
                <a:latin typeface="Roboto"/>
                <a:ea typeface="Roboto"/>
                <a:cs typeface="Roboto"/>
                <a:sym typeface="Roboto"/>
              </a:rPr>
              <a:t>Folium Heatmap</a:t>
            </a:r>
          </a:p>
        </p:txBody>
      </p:sp>
      <p:sp>
        <p:nvSpPr>
          <p:cNvPr id="7" name="Freeform 7" descr="preencoded.png"/>
          <p:cNvSpPr/>
          <p:nvPr/>
        </p:nvSpPr>
        <p:spPr>
          <a:xfrm>
            <a:off x="2310403" y="2201018"/>
            <a:ext cx="5060899" cy="4250084"/>
          </a:xfrm>
          <a:custGeom>
            <a:avLst/>
            <a:gdLst/>
            <a:ahLst/>
            <a:cxnLst/>
            <a:rect l="l" t="t" r="r" b="b"/>
            <a:pathLst>
              <a:path w="5060899" h="4250084">
                <a:moveTo>
                  <a:pt x="0" y="0"/>
                </a:moveTo>
                <a:lnTo>
                  <a:pt x="5060899" y="0"/>
                </a:lnTo>
                <a:lnTo>
                  <a:pt x="5060899" y="4250084"/>
                </a:lnTo>
                <a:lnTo>
                  <a:pt x="0" y="4250084"/>
                </a:lnTo>
                <a:lnTo>
                  <a:pt x="0" y="0"/>
                </a:lnTo>
                <a:close/>
              </a:path>
            </a:pathLst>
          </a:custGeom>
          <a:blipFill>
            <a:blip r:embed="rId4"/>
            <a:stretch>
              <a:fillRect t="-8" b="-8"/>
            </a:stretch>
          </a:blipFill>
        </p:spPr>
        <p:txBody>
          <a:bodyPr/>
          <a:lstStyle/>
          <a:p>
            <a:endParaRPr lang="en-IN"/>
          </a:p>
        </p:txBody>
      </p:sp>
      <p:sp>
        <p:nvSpPr>
          <p:cNvPr id="8" name="TextBox 8"/>
          <p:cNvSpPr txBox="1"/>
          <p:nvPr/>
        </p:nvSpPr>
        <p:spPr>
          <a:xfrm>
            <a:off x="773754" y="6602016"/>
            <a:ext cx="8134350" cy="995363"/>
          </a:xfrm>
          <a:prstGeom prst="rect">
            <a:avLst/>
          </a:prstGeom>
        </p:spPr>
        <p:txBody>
          <a:bodyPr lIns="0" tIns="0" rIns="0" bIns="0" rtlCol="0" anchor="t">
            <a:spAutoFit/>
          </a:bodyPr>
          <a:lstStyle/>
          <a:p>
            <a:pPr algn="l">
              <a:lnSpc>
                <a:spcPts val="2375"/>
              </a:lnSpc>
            </a:pPr>
            <a:r>
              <a:rPr lang="en-US" sz="1500">
                <a:solidFill>
                  <a:srgbClr val="CFD0D8"/>
                </a:solidFill>
                <a:latin typeface="Roboto"/>
                <a:ea typeface="Roboto"/>
                <a:cs typeface="Roboto"/>
                <a:sym typeface="Roboto"/>
              </a:rPr>
              <a:t>Interactive choropleth map visualizes all 600+ grid cells with color gradient from yellow (low risk) through orange to red (high risk). Clickable pop-ups reveal Cell ID, Traffic Score, Industrial Score, Emission Index, and Area Name.</a:t>
            </a:r>
          </a:p>
        </p:txBody>
      </p:sp>
      <p:sp>
        <p:nvSpPr>
          <p:cNvPr id="9" name="TextBox 9"/>
          <p:cNvSpPr txBox="1"/>
          <p:nvPr/>
        </p:nvSpPr>
        <p:spPr>
          <a:xfrm>
            <a:off x="773754" y="7704687"/>
            <a:ext cx="8134350" cy="685800"/>
          </a:xfrm>
          <a:prstGeom prst="rect">
            <a:avLst/>
          </a:prstGeom>
        </p:spPr>
        <p:txBody>
          <a:bodyPr lIns="0" tIns="0" rIns="0" bIns="0" rtlCol="0" anchor="t">
            <a:spAutoFit/>
          </a:bodyPr>
          <a:lstStyle/>
          <a:p>
            <a:pPr algn="l">
              <a:lnSpc>
                <a:spcPts val="2375"/>
              </a:lnSpc>
            </a:pPr>
            <a:r>
              <a:rPr lang="en-US" sz="1500">
                <a:solidFill>
                  <a:srgbClr val="CFD0D8"/>
                </a:solidFill>
                <a:latin typeface="Roboto"/>
                <a:ea typeface="Roboto"/>
                <a:cs typeface="Roboto"/>
                <a:sym typeface="Roboto"/>
              </a:rPr>
              <a:t>Built on OpenStreetMap base with GHMC boundary overlay and optional MMTS stop markers for geographic context.</a:t>
            </a:r>
          </a:p>
        </p:txBody>
      </p:sp>
      <p:sp>
        <p:nvSpPr>
          <p:cNvPr id="10" name="TextBox 10"/>
          <p:cNvSpPr txBox="1"/>
          <p:nvPr/>
        </p:nvSpPr>
        <p:spPr>
          <a:xfrm>
            <a:off x="9389421" y="1592161"/>
            <a:ext cx="2902001" cy="391268"/>
          </a:xfrm>
          <a:prstGeom prst="rect">
            <a:avLst/>
          </a:prstGeom>
        </p:spPr>
        <p:txBody>
          <a:bodyPr lIns="0" tIns="0" rIns="0" bIns="0" rtlCol="0" anchor="t">
            <a:spAutoFit/>
          </a:bodyPr>
          <a:lstStyle/>
          <a:p>
            <a:pPr algn="l">
              <a:lnSpc>
                <a:spcPts val="2812"/>
              </a:lnSpc>
            </a:pPr>
            <a:r>
              <a:rPr lang="en-US" sz="2249">
                <a:solidFill>
                  <a:srgbClr val="FFFFFF"/>
                </a:solidFill>
                <a:latin typeface="Roboto"/>
                <a:ea typeface="Roboto"/>
                <a:cs typeface="Roboto"/>
                <a:sym typeface="Roboto"/>
              </a:rPr>
              <a:t>Tableau Dashboard</a:t>
            </a:r>
          </a:p>
        </p:txBody>
      </p:sp>
      <p:sp>
        <p:nvSpPr>
          <p:cNvPr id="11" name="Freeform 11" descr="preencoded.png"/>
          <p:cNvSpPr/>
          <p:nvPr/>
        </p:nvSpPr>
        <p:spPr>
          <a:xfrm>
            <a:off x="10907763" y="2201018"/>
            <a:ext cx="5097666" cy="4264819"/>
          </a:xfrm>
          <a:custGeom>
            <a:avLst/>
            <a:gdLst/>
            <a:ahLst/>
            <a:cxnLst/>
            <a:rect l="l" t="t" r="r" b="b"/>
            <a:pathLst>
              <a:path w="5097666" h="4264819">
                <a:moveTo>
                  <a:pt x="0" y="0"/>
                </a:moveTo>
                <a:lnTo>
                  <a:pt x="5097666" y="0"/>
                </a:lnTo>
                <a:lnTo>
                  <a:pt x="5097666" y="4264819"/>
                </a:lnTo>
                <a:lnTo>
                  <a:pt x="0" y="4264819"/>
                </a:lnTo>
                <a:lnTo>
                  <a:pt x="0" y="0"/>
                </a:lnTo>
                <a:close/>
              </a:path>
            </a:pathLst>
          </a:custGeom>
          <a:blipFill>
            <a:blip r:embed="rId5"/>
            <a:stretch>
              <a:fillRect t="-45" b="-45"/>
            </a:stretch>
          </a:blipFill>
        </p:spPr>
        <p:txBody>
          <a:bodyPr/>
          <a:lstStyle/>
          <a:p>
            <a:endParaRPr lang="en-IN"/>
          </a:p>
        </p:txBody>
      </p:sp>
      <p:sp>
        <p:nvSpPr>
          <p:cNvPr id="12" name="TextBox 12"/>
          <p:cNvSpPr txBox="1"/>
          <p:nvPr/>
        </p:nvSpPr>
        <p:spPr>
          <a:xfrm>
            <a:off x="9389421" y="6616751"/>
            <a:ext cx="8134350" cy="376237"/>
          </a:xfrm>
          <a:prstGeom prst="rect">
            <a:avLst/>
          </a:prstGeom>
        </p:spPr>
        <p:txBody>
          <a:bodyPr lIns="0" tIns="0" rIns="0" bIns="0" rtlCol="0" anchor="t">
            <a:spAutoFit/>
          </a:bodyPr>
          <a:lstStyle/>
          <a:p>
            <a:pPr algn="l">
              <a:lnSpc>
                <a:spcPts val="2375"/>
              </a:lnSpc>
            </a:pPr>
            <a:r>
              <a:rPr lang="en-US" sz="1500" b="1">
                <a:solidFill>
                  <a:srgbClr val="CFD0D8"/>
                </a:solidFill>
                <a:latin typeface="Roboto Bold"/>
                <a:ea typeface="Roboto Bold"/>
                <a:cs typeface="Roboto Bold"/>
                <a:sym typeface="Roboto Bold"/>
              </a:rPr>
              <a:t>Three Integrated Views:</a:t>
            </a:r>
          </a:p>
        </p:txBody>
      </p:sp>
      <p:sp>
        <p:nvSpPr>
          <p:cNvPr id="13" name="TextBox 13"/>
          <p:cNvSpPr txBox="1"/>
          <p:nvPr/>
        </p:nvSpPr>
        <p:spPr>
          <a:xfrm>
            <a:off x="9389421" y="7100297"/>
            <a:ext cx="8134350" cy="685800"/>
          </a:xfrm>
          <a:prstGeom prst="rect">
            <a:avLst/>
          </a:prstGeom>
        </p:spPr>
        <p:txBody>
          <a:bodyPr lIns="0" tIns="0" rIns="0" bIns="0" rtlCol="0" anchor="t">
            <a:spAutoFit/>
          </a:bodyPr>
          <a:lstStyle/>
          <a:p>
            <a:pPr marL="226219" lvl="1" indent="-113109" algn="l">
              <a:lnSpc>
                <a:spcPts val="2375"/>
              </a:lnSpc>
              <a:buFont typeface="Arial"/>
              <a:buChar char="•"/>
            </a:pPr>
            <a:r>
              <a:rPr lang="en-US" sz="1500" b="1">
                <a:solidFill>
                  <a:srgbClr val="CFD0D8"/>
                </a:solidFill>
                <a:latin typeface="Roboto Bold"/>
                <a:ea typeface="Roboto Bold"/>
                <a:cs typeface="Roboto Bold"/>
                <a:sym typeface="Roboto Bold"/>
              </a:rPr>
              <a:t>Bar Chart:</a:t>
            </a:r>
            <a:r>
              <a:rPr lang="en-US" sz="1500">
                <a:solidFill>
                  <a:srgbClr val="CFD0D8"/>
                </a:solidFill>
                <a:latin typeface="Roboto"/>
                <a:ea typeface="Roboto"/>
                <a:cs typeface="Roboto"/>
                <a:sym typeface="Roboto"/>
              </a:rPr>
              <a:t> Ranks top hotspot areas by Emission Index, showing Adikmet (0.81) and R.K. Nagar (0.80) as clear priorities with sharp drop after top three</a:t>
            </a:r>
          </a:p>
        </p:txBody>
      </p:sp>
      <p:sp>
        <p:nvSpPr>
          <p:cNvPr id="14" name="TextBox 14"/>
          <p:cNvSpPr txBox="1"/>
          <p:nvPr/>
        </p:nvSpPr>
        <p:spPr>
          <a:xfrm>
            <a:off x="9389421" y="7786983"/>
            <a:ext cx="8134350" cy="685800"/>
          </a:xfrm>
          <a:prstGeom prst="rect">
            <a:avLst/>
          </a:prstGeom>
        </p:spPr>
        <p:txBody>
          <a:bodyPr lIns="0" tIns="0" rIns="0" bIns="0" rtlCol="0" anchor="t">
            <a:spAutoFit/>
          </a:bodyPr>
          <a:lstStyle/>
          <a:p>
            <a:pPr marL="226219" lvl="1" indent="-113109" algn="l">
              <a:lnSpc>
                <a:spcPts val="2375"/>
              </a:lnSpc>
              <a:buFont typeface="Arial"/>
              <a:buChar char="•"/>
            </a:pPr>
            <a:r>
              <a:rPr lang="en-US" sz="1500" b="1">
                <a:solidFill>
                  <a:srgbClr val="CFD0D8"/>
                </a:solidFill>
                <a:latin typeface="Roboto Bold"/>
                <a:ea typeface="Roboto Bold"/>
                <a:cs typeface="Roboto Bold"/>
                <a:sym typeface="Roboto Bold"/>
              </a:rPr>
              <a:t>Scatter Plot:</a:t>
            </a:r>
            <a:r>
              <a:rPr lang="en-US" sz="1500">
                <a:solidFill>
                  <a:srgbClr val="CFD0D8"/>
                </a:solidFill>
                <a:latin typeface="Roboto"/>
                <a:ea typeface="Roboto"/>
                <a:cs typeface="Roboto"/>
                <a:sym typeface="Roboto"/>
              </a:rPr>
              <a:t> Visualizes Traffic vs. Industrial drivers with color-coded Emission Index, revealing critical high-high quadrant mixed hotspots</a:t>
            </a:r>
          </a:p>
        </p:txBody>
      </p:sp>
      <p:sp>
        <p:nvSpPr>
          <p:cNvPr id="15" name="TextBox 15"/>
          <p:cNvSpPr txBox="1"/>
          <p:nvPr/>
        </p:nvSpPr>
        <p:spPr>
          <a:xfrm>
            <a:off x="9389421" y="8473678"/>
            <a:ext cx="8134350" cy="685800"/>
          </a:xfrm>
          <a:prstGeom prst="rect">
            <a:avLst/>
          </a:prstGeom>
        </p:spPr>
        <p:txBody>
          <a:bodyPr lIns="0" tIns="0" rIns="0" bIns="0" rtlCol="0" anchor="t">
            <a:spAutoFit/>
          </a:bodyPr>
          <a:lstStyle/>
          <a:p>
            <a:pPr marL="226219" lvl="1" indent="-113109" algn="l">
              <a:lnSpc>
                <a:spcPts val="2375"/>
              </a:lnSpc>
              <a:buFont typeface="Arial"/>
              <a:buChar char="•"/>
            </a:pPr>
            <a:r>
              <a:rPr lang="en-US" sz="1500" b="1">
                <a:solidFill>
                  <a:srgbClr val="CFD0D8"/>
                </a:solidFill>
                <a:latin typeface="Roboto Bold"/>
                <a:ea typeface="Roboto Bold"/>
                <a:cs typeface="Roboto Bold"/>
                <a:sym typeface="Roboto Bold"/>
              </a:rPr>
              <a:t>Line Chart:</a:t>
            </a:r>
            <a:r>
              <a:rPr lang="en-US" sz="1500">
                <a:solidFill>
                  <a:srgbClr val="CFD0D8"/>
                </a:solidFill>
                <a:latin typeface="Roboto"/>
                <a:ea typeface="Roboto"/>
                <a:cs typeface="Roboto"/>
                <a:sym typeface="Roboto"/>
              </a:rPr>
              <a:t> Displays temporal AQI trends validating persistent elevation above safe limits throughout the year</a:t>
            </a:r>
          </a:p>
        </p:txBody>
      </p:sp>
      <p:sp>
        <p:nvSpPr>
          <p:cNvPr id="16" name="TextBox 16"/>
          <p:cNvSpPr txBox="1"/>
          <p:nvPr/>
        </p:nvSpPr>
        <p:spPr>
          <a:xfrm>
            <a:off x="773754" y="9377953"/>
            <a:ext cx="16740483" cy="376237"/>
          </a:xfrm>
          <a:prstGeom prst="rect">
            <a:avLst/>
          </a:prstGeom>
        </p:spPr>
        <p:txBody>
          <a:bodyPr lIns="0" tIns="0" rIns="0" bIns="0" rtlCol="0" anchor="t">
            <a:spAutoFit/>
          </a:bodyPr>
          <a:lstStyle/>
          <a:p>
            <a:pPr algn="l">
              <a:lnSpc>
                <a:spcPts val="2375"/>
              </a:lnSpc>
            </a:pPr>
            <a:r>
              <a:rPr lang="en-US" sz="1500">
                <a:solidFill>
                  <a:srgbClr val="CFD0D8"/>
                </a:solidFill>
                <a:latin typeface="Roboto"/>
                <a:ea typeface="Roboto"/>
                <a:cs typeface="Roboto"/>
                <a:sym typeface="Roboto"/>
              </a:rPr>
              <a:t>Published to Tableau Public with </a:t>
            </a:r>
            <a:r>
              <a:rPr lang="en-US" sz="1500">
                <a:solidFill>
                  <a:srgbClr val="5A6ED8"/>
                </a:solidFill>
                <a:latin typeface="Roboto"/>
                <a:ea typeface="Roboto"/>
                <a:cs typeface="Roboto"/>
                <a:sym typeface="Roboto"/>
              </a:rPr>
              <a:t>#1M1B</a:t>
            </a:r>
            <a:r>
              <a:rPr lang="en-US" sz="1500">
                <a:solidFill>
                  <a:srgbClr val="CFD0D8"/>
                </a:solidFill>
                <a:latin typeface="Roboto"/>
                <a:ea typeface="Roboto"/>
                <a:cs typeface="Roboto"/>
                <a:sym typeface="Roboto"/>
              </a:rPr>
              <a:t> hashtag, enabling GHMC planners to explore any neighborhood's emission profile in seconds and share findings with community stakeholders.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18">
                <a:alpha val="90196"/>
              </a:srgbClr>
            </a:solidFill>
            <a:ln w="12700">
              <a:solidFill>
                <a:srgbClr val="000000"/>
              </a:solidFill>
            </a:ln>
          </p:spPr>
          <p:txBody>
            <a:bodyPr/>
            <a:lstStyle/>
            <a:p>
              <a:endParaRPr lang="en-IN"/>
            </a:p>
          </p:txBody>
        </p:sp>
      </p:grpSp>
      <p:sp>
        <p:nvSpPr>
          <p:cNvPr id="5" name="TextBox 5"/>
          <p:cNvSpPr txBox="1"/>
          <p:nvPr/>
        </p:nvSpPr>
        <p:spPr>
          <a:xfrm>
            <a:off x="959491" y="1012622"/>
            <a:ext cx="10280152" cy="778078"/>
          </a:xfrm>
          <a:prstGeom prst="rect">
            <a:avLst/>
          </a:prstGeom>
        </p:spPr>
        <p:txBody>
          <a:bodyPr lIns="0" tIns="0" rIns="0" bIns="0" rtlCol="0" anchor="t">
            <a:spAutoFit/>
          </a:bodyPr>
          <a:lstStyle/>
          <a:p>
            <a:pPr algn="l">
              <a:lnSpc>
                <a:spcPts val="5874"/>
              </a:lnSpc>
            </a:pPr>
            <a:r>
              <a:rPr lang="en-US" sz="4687">
                <a:solidFill>
                  <a:srgbClr val="FFFFFF"/>
                </a:solidFill>
                <a:latin typeface="Roboto"/>
                <a:ea typeface="Roboto"/>
                <a:cs typeface="Roboto"/>
                <a:sym typeface="Roboto"/>
              </a:rPr>
              <a:t>Three Hotspot Types, Three Strategies</a:t>
            </a:r>
          </a:p>
        </p:txBody>
      </p:sp>
      <p:grpSp>
        <p:nvGrpSpPr>
          <p:cNvPr id="6" name="Group 6"/>
          <p:cNvGrpSpPr/>
          <p:nvPr/>
        </p:nvGrpSpPr>
        <p:grpSpPr>
          <a:xfrm>
            <a:off x="954729" y="2265607"/>
            <a:ext cx="5306016" cy="6331153"/>
            <a:chOff x="0" y="0"/>
            <a:chExt cx="7074687" cy="8441538"/>
          </a:xfrm>
        </p:grpSpPr>
        <p:sp>
          <p:nvSpPr>
            <p:cNvPr id="7" name="Freeform 7"/>
            <p:cNvSpPr/>
            <p:nvPr/>
          </p:nvSpPr>
          <p:spPr>
            <a:xfrm>
              <a:off x="6350" y="6350"/>
              <a:ext cx="7062089" cy="8428863"/>
            </a:xfrm>
            <a:custGeom>
              <a:avLst/>
              <a:gdLst/>
              <a:ahLst/>
              <a:cxnLst/>
              <a:rect l="l" t="t" r="r" b="b"/>
              <a:pathLst>
                <a:path w="7062089" h="8428863">
                  <a:moveTo>
                    <a:pt x="0" y="134366"/>
                  </a:moveTo>
                  <a:cubicBezTo>
                    <a:pt x="0" y="60198"/>
                    <a:pt x="60198" y="0"/>
                    <a:pt x="134366" y="0"/>
                  </a:cubicBezTo>
                  <a:lnTo>
                    <a:pt x="6927723" y="0"/>
                  </a:lnTo>
                  <a:cubicBezTo>
                    <a:pt x="7001891" y="0"/>
                    <a:pt x="7062089" y="60198"/>
                    <a:pt x="7062089" y="134366"/>
                  </a:cubicBezTo>
                  <a:lnTo>
                    <a:pt x="7062089" y="8294497"/>
                  </a:lnTo>
                  <a:cubicBezTo>
                    <a:pt x="7062089" y="8368665"/>
                    <a:pt x="7001891" y="8428863"/>
                    <a:pt x="6927723" y="8428863"/>
                  </a:cubicBezTo>
                  <a:lnTo>
                    <a:pt x="134366" y="8428863"/>
                  </a:lnTo>
                  <a:cubicBezTo>
                    <a:pt x="60198" y="8428863"/>
                    <a:pt x="0" y="8368665"/>
                    <a:pt x="0" y="8294497"/>
                  </a:cubicBezTo>
                  <a:close/>
                </a:path>
              </a:pathLst>
            </a:custGeom>
            <a:solidFill>
              <a:srgbClr val="182567"/>
            </a:solidFill>
            <a:ln w="12700">
              <a:solidFill>
                <a:srgbClr val="000000"/>
              </a:solidFill>
            </a:ln>
          </p:spPr>
          <p:txBody>
            <a:bodyPr/>
            <a:lstStyle/>
            <a:p>
              <a:endParaRPr lang="en-IN"/>
            </a:p>
          </p:txBody>
        </p:sp>
        <p:sp>
          <p:nvSpPr>
            <p:cNvPr id="8" name="Freeform 8"/>
            <p:cNvSpPr/>
            <p:nvPr/>
          </p:nvSpPr>
          <p:spPr>
            <a:xfrm>
              <a:off x="0" y="0"/>
              <a:ext cx="7074789" cy="8441563"/>
            </a:xfrm>
            <a:custGeom>
              <a:avLst/>
              <a:gdLst/>
              <a:ahLst/>
              <a:cxnLst/>
              <a:rect l="l" t="t" r="r" b="b"/>
              <a:pathLst>
                <a:path w="7074789" h="8441563">
                  <a:moveTo>
                    <a:pt x="0" y="140716"/>
                  </a:moveTo>
                  <a:cubicBezTo>
                    <a:pt x="0" y="62992"/>
                    <a:pt x="62992" y="0"/>
                    <a:pt x="140716" y="0"/>
                  </a:cubicBezTo>
                  <a:lnTo>
                    <a:pt x="6934073" y="0"/>
                  </a:lnTo>
                  <a:lnTo>
                    <a:pt x="6934073" y="6350"/>
                  </a:lnTo>
                  <a:lnTo>
                    <a:pt x="6934073" y="0"/>
                  </a:lnTo>
                  <a:cubicBezTo>
                    <a:pt x="7011797" y="0"/>
                    <a:pt x="7074789" y="62992"/>
                    <a:pt x="7074789" y="140716"/>
                  </a:cubicBezTo>
                  <a:lnTo>
                    <a:pt x="7068439" y="140716"/>
                  </a:lnTo>
                  <a:lnTo>
                    <a:pt x="7074789" y="140716"/>
                  </a:lnTo>
                  <a:lnTo>
                    <a:pt x="7074789" y="8300847"/>
                  </a:lnTo>
                  <a:lnTo>
                    <a:pt x="7068439" y="8300847"/>
                  </a:lnTo>
                  <a:lnTo>
                    <a:pt x="7074789" y="8300847"/>
                  </a:lnTo>
                  <a:cubicBezTo>
                    <a:pt x="7074789" y="8378571"/>
                    <a:pt x="7011797" y="8441563"/>
                    <a:pt x="6934073" y="8441563"/>
                  </a:cubicBezTo>
                  <a:lnTo>
                    <a:pt x="6934073" y="8435213"/>
                  </a:lnTo>
                  <a:lnTo>
                    <a:pt x="6934073" y="8441563"/>
                  </a:lnTo>
                  <a:lnTo>
                    <a:pt x="140716" y="8441563"/>
                  </a:lnTo>
                  <a:lnTo>
                    <a:pt x="140716" y="8435213"/>
                  </a:lnTo>
                  <a:lnTo>
                    <a:pt x="140716" y="8441563"/>
                  </a:lnTo>
                  <a:cubicBezTo>
                    <a:pt x="62992" y="8441563"/>
                    <a:pt x="0" y="8378571"/>
                    <a:pt x="0" y="8300847"/>
                  </a:cubicBezTo>
                  <a:lnTo>
                    <a:pt x="0" y="140716"/>
                  </a:lnTo>
                  <a:lnTo>
                    <a:pt x="6350" y="140716"/>
                  </a:lnTo>
                  <a:lnTo>
                    <a:pt x="0" y="140716"/>
                  </a:lnTo>
                  <a:moveTo>
                    <a:pt x="12700" y="140716"/>
                  </a:moveTo>
                  <a:lnTo>
                    <a:pt x="12700" y="8300847"/>
                  </a:lnTo>
                  <a:lnTo>
                    <a:pt x="6350" y="8300847"/>
                  </a:lnTo>
                  <a:lnTo>
                    <a:pt x="12700" y="8300847"/>
                  </a:lnTo>
                  <a:cubicBezTo>
                    <a:pt x="12700" y="8371586"/>
                    <a:pt x="69977" y="8428863"/>
                    <a:pt x="140716" y="8428863"/>
                  </a:cubicBezTo>
                  <a:lnTo>
                    <a:pt x="6934073" y="8428863"/>
                  </a:lnTo>
                  <a:cubicBezTo>
                    <a:pt x="7004685" y="8428863"/>
                    <a:pt x="7062089" y="8371586"/>
                    <a:pt x="7062089" y="8300847"/>
                  </a:cubicBezTo>
                  <a:lnTo>
                    <a:pt x="7062089" y="140716"/>
                  </a:lnTo>
                  <a:cubicBezTo>
                    <a:pt x="7061962" y="69977"/>
                    <a:pt x="7004685" y="12700"/>
                    <a:pt x="6934073" y="12700"/>
                  </a:cubicBezTo>
                  <a:lnTo>
                    <a:pt x="140716" y="12700"/>
                  </a:lnTo>
                  <a:lnTo>
                    <a:pt x="140716" y="6350"/>
                  </a:lnTo>
                  <a:lnTo>
                    <a:pt x="140716" y="12700"/>
                  </a:lnTo>
                  <a:cubicBezTo>
                    <a:pt x="69977" y="12700"/>
                    <a:pt x="12700" y="69977"/>
                    <a:pt x="12700" y="140716"/>
                  </a:cubicBezTo>
                  <a:close/>
                </a:path>
              </a:pathLst>
            </a:custGeom>
            <a:solidFill>
              <a:srgbClr val="313E80"/>
            </a:solidFill>
            <a:ln w="12700">
              <a:solidFill>
                <a:srgbClr val="000000"/>
              </a:solidFill>
            </a:ln>
          </p:spPr>
          <p:txBody>
            <a:bodyPr/>
            <a:lstStyle/>
            <a:p>
              <a:endParaRPr lang="en-IN"/>
            </a:p>
          </p:txBody>
        </p:sp>
      </p:grpSp>
      <p:grpSp>
        <p:nvGrpSpPr>
          <p:cNvPr id="9" name="Group 9"/>
          <p:cNvGrpSpPr/>
          <p:nvPr/>
        </p:nvGrpSpPr>
        <p:grpSpPr>
          <a:xfrm>
            <a:off x="1208780" y="2519658"/>
            <a:ext cx="719585" cy="719585"/>
            <a:chOff x="0" y="0"/>
            <a:chExt cx="959447" cy="959447"/>
          </a:xfrm>
        </p:grpSpPr>
        <p:sp>
          <p:nvSpPr>
            <p:cNvPr id="10" name="Freeform 10"/>
            <p:cNvSpPr/>
            <p:nvPr/>
          </p:nvSpPr>
          <p:spPr>
            <a:xfrm>
              <a:off x="0" y="0"/>
              <a:ext cx="959485" cy="959485"/>
            </a:xfrm>
            <a:custGeom>
              <a:avLst/>
              <a:gdLst/>
              <a:ahLst/>
              <a:cxnLst/>
              <a:rect l="l" t="t" r="r" b="b"/>
              <a:pathLst>
                <a:path w="959485" h="959485">
                  <a:moveTo>
                    <a:pt x="0" y="479679"/>
                  </a:moveTo>
                  <a:cubicBezTo>
                    <a:pt x="0" y="214757"/>
                    <a:pt x="214757" y="0"/>
                    <a:pt x="479679" y="0"/>
                  </a:cubicBezTo>
                  <a:cubicBezTo>
                    <a:pt x="744601" y="0"/>
                    <a:pt x="959485" y="214757"/>
                    <a:pt x="959485" y="479679"/>
                  </a:cubicBezTo>
                  <a:cubicBezTo>
                    <a:pt x="959485" y="744601"/>
                    <a:pt x="744728" y="959485"/>
                    <a:pt x="479679" y="959485"/>
                  </a:cubicBezTo>
                  <a:cubicBezTo>
                    <a:pt x="214630" y="959485"/>
                    <a:pt x="0" y="744728"/>
                    <a:pt x="0" y="479679"/>
                  </a:cubicBezTo>
                  <a:close/>
                </a:path>
              </a:pathLst>
            </a:custGeom>
            <a:solidFill>
              <a:srgbClr val="5A6ED8"/>
            </a:solidFill>
            <a:ln w="12700">
              <a:solidFill>
                <a:srgbClr val="000000"/>
              </a:solidFill>
            </a:ln>
          </p:spPr>
          <p:txBody>
            <a:bodyPr/>
            <a:lstStyle/>
            <a:p>
              <a:endParaRPr lang="en-IN"/>
            </a:p>
          </p:txBody>
        </p:sp>
      </p:grpSp>
      <p:sp>
        <p:nvSpPr>
          <p:cNvPr id="11" name="Freeform 11" descr="preencoded.png"/>
          <p:cNvSpPr/>
          <p:nvPr/>
        </p:nvSpPr>
        <p:spPr>
          <a:xfrm>
            <a:off x="1406728" y="2717597"/>
            <a:ext cx="323698" cy="323698"/>
          </a:xfrm>
          <a:custGeom>
            <a:avLst/>
            <a:gdLst/>
            <a:ahLst/>
            <a:cxnLst/>
            <a:rect l="l" t="t" r="r" b="b"/>
            <a:pathLst>
              <a:path w="323698" h="323698">
                <a:moveTo>
                  <a:pt x="0" y="0"/>
                </a:moveTo>
                <a:lnTo>
                  <a:pt x="323698" y="0"/>
                </a:lnTo>
                <a:lnTo>
                  <a:pt x="323698" y="323697"/>
                </a:lnTo>
                <a:lnTo>
                  <a:pt x="0" y="323697"/>
                </a:lnTo>
                <a:lnTo>
                  <a:pt x="0" y="0"/>
                </a:lnTo>
                <a:close/>
              </a:path>
            </a:pathLst>
          </a:custGeom>
          <a:blipFill>
            <a:blip r:embed="rId4">
              <a:extLst>
                <a:ext uri="{96DAC541-7B7A-43D3-8B79-37D633B846F1}">
                  <asvg:svgBlip xmlns:asvg="http://schemas.microsoft.com/office/drawing/2016/SVG/main" r:embed="rId5"/>
                </a:ext>
              </a:extLst>
            </a:blip>
            <a:stretch>
              <a:fillRect t="-1471" b="-1471"/>
            </a:stretch>
          </a:blipFill>
        </p:spPr>
        <p:txBody>
          <a:bodyPr/>
          <a:lstStyle/>
          <a:p>
            <a:endParaRPr lang="en-IN"/>
          </a:p>
        </p:txBody>
      </p:sp>
      <p:sp>
        <p:nvSpPr>
          <p:cNvPr id="12" name="TextBox 12"/>
          <p:cNvSpPr txBox="1"/>
          <p:nvPr/>
        </p:nvSpPr>
        <p:spPr>
          <a:xfrm>
            <a:off x="1208780" y="3459956"/>
            <a:ext cx="3598069" cy="468811"/>
          </a:xfrm>
          <a:prstGeom prst="rect">
            <a:avLst/>
          </a:prstGeom>
        </p:spPr>
        <p:txBody>
          <a:bodyPr lIns="0" tIns="0" rIns="0" bIns="0" rtlCol="0" anchor="t">
            <a:spAutoFit/>
          </a:bodyPr>
          <a:lstStyle/>
          <a:p>
            <a:pPr algn="l">
              <a:lnSpc>
                <a:spcPts val="3499"/>
              </a:lnSpc>
            </a:pPr>
            <a:r>
              <a:rPr lang="en-US" sz="2812">
                <a:solidFill>
                  <a:srgbClr val="CFD0D8"/>
                </a:solidFill>
                <a:latin typeface="Roboto"/>
                <a:ea typeface="Roboto"/>
                <a:cs typeface="Roboto"/>
                <a:sym typeface="Roboto"/>
              </a:rPr>
              <a:t>Traffic-Dominated</a:t>
            </a:r>
          </a:p>
        </p:txBody>
      </p:sp>
      <p:sp>
        <p:nvSpPr>
          <p:cNvPr id="13" name="TextBox 13"/>
          <p:cNvSpPr txBox="1"/>
          <p:nvPr/>
        </p:nvSpPr>
        <p:spPr>
          <a:xfrm>
            <a:off x="1208780" y="3986955"/>
            <a:ext cx="4797923" cy="853383"/>
          </a:xfrm>
          <a:prstGeom prst="rect">
            <a:avLst/>
          </a:prstGeom>
        </p:spPr>
        <p:txBody>
          <a:bodyPr lIns="0" tIns="0" rIns="0" bIns="0" rtlCol="0" anchor="t">
            <a:spAutoFit/>
          </a:bodyPr>
          <a:lstStyle/>
          <a:p>
            <a:pPr algn="l">
              <a:lnSpc>
                <a:spcPts val="3000"/>
              </a:lnSpc>
            </a:pPr>
            <a:r>
              <a:rPr lang="en-US" sz="1874" b="1">
                <a:solidFill>
                  <a:srgbClr val="CFD0D8"/>
                </a:solidFill>
                <a:latin typeface="Roboto Bold"/>
                <a:ea typeface="Roboto Bold"/>
                <a:cs typeface="Roboto Bold"/>
                <a:sym typeface="Roboto Bold"/>
              </a:rPr>
              <a:t>Examples:</a:t>
            </a:r>
            <a:r>
              <a:rPr lang="en-US" sz="1874">
                <a:solidFill>
                  <a:srgbClr val="CFD0D8"/>
                </a:solidFill>
                <a:latin typeface="Roboto"/>
                <a:ea typeface="Roboto"/>
                <a:cs typeface="Roboto"/>
                <a:sym typeface="Roboto"/>
              </a:rPr>
              <a:t> Begumpet–HPS, Lingampally, Gayatri Nagar</a:t>
            </a:r>
          </a:p>
        </p:txBody>
      </p:sp>
      <p:sp>
        <p:nvSpPr>
          <p:cNvPr id="14" name="TextBox 14"/>
          <p:cNvSpPr txBox="1"/>
          <p:nvPr/>
        </p:nvSpPr>
        <p:spPr>
          <a:xfrm>
            <a:off x="1208780" y="4898527"/>
            <a:ext cx="4797923" cy="1237212"/>
          </a:xfrm>
          <a:prstGeom prst="rect">
            <a:avLst/>
          </a:prstGeom>
        </p:spPr>
        <p:txBody>
          <a:bodyPr lIns="0" tIns="0" rIns="0" bIns="0" rtlCol="0" anchor="t">
            <a:spAutoFit/>
          </a:bodyPr>
          <a:lstStyle/>
          <a:p>
            <a:pPr algn="l">
              <a:lnSpc>
                <a:spcPts val="3000"/>
              </a:lnSpc>
            </a:pPr>
            <a:r>
              <a:rPr lang="en-US" sz="1874" b="1">
                <a:solidFill>
                  <a:srgbClr val="CFD0D8"/>
                </a:solidFill>
                <a:latin typeface="Roboto Bold"/>
                <a:ea typeface="Roboto Bold"/>
                <a:cs typeface="Roboto Bold"/>
                <a:sym typeface="Roboto Bold"/>
              </a:rPr>
              <a:t>Characteristics:</a:t>
            </a:r>
            <a:r>
              <a:rPr lang="en-US" sz="1874">
                <a:solidFill>
                  <a:srgbClr val="CFD0D8"/>
                </a:solidFill>
                <a:latin typeface="Roboto"/>
                <a:ea typeface="Roboto"/>
                <a:cs typeface="Roboto"/>
                <a:sym typeface="Roboto"/>
              </a:rPr>
              <a:t> High congestion, heavy vehicle density, major transit corridors with limited industrial influence</a:t>
            </a:r>
          </a:p>
        </p:txBody>
      </p:sp>
      <p:sp>
        <p:nvSpPr>
          <p:cNvPr id="15" name="TextBox 15"/>
          <p:cNvSpPr txBox="1"/>
          <p:nvPr/>
        </p:nvSpPr>
        <p:spPr>
          <a:xfrm>
            <a:off x="1208780" y="6193927"/>
            <a:ext cx="4797923" cy="1237212"/>
          </a:xfrm>
          <a:prstGeom prst="rect">
            <a:avLst/>
          </a:prstGeom>
        </p:spPr>
        <p:txBody>
          <a:bodyPr lIns="0" tIns="0" rIns="0" bIns="0" rtlCol="0" anchor="t">
            <a:spAutoFit/>
          </a:bodyPr>
          <a:lstStyle/>
          <a:p>
            <a:pPr algn="l">
              <a:lnSpc>
                <a:spcPts val="3000"/>
              </a:lnSpc>
            </a:pPr>
            <a:r>
              <a:rPr lang="en-US" sz="1874" b="1">
                <a:solidFill>
                  <a:srgbClr val="CFD0D8"/>
                </a:solidFill>
                <a:latin typeface="Roboto Bold"/>
                <a:ea typeface="Roboto Bold"/>
                <a:cs typeface="Roboto Bold"/>
                <a:sym typeface="Roboto Bold"/>
              </a:rPr>
              <a:t>Solutions:</a:t>
            </a:r>
            <a:r>
              <a:rPr lang="en-US" sz="1874">
                <a:solidFill>
                  <a:srgbClr val="CFD0D8"/>
                </a:solidFill>
                <a:latin typeface="Roboto"/>
                <a:ea typeface="Roboto"/>
                <a:cs typeface="Roboto"/>
                <a:sym typeface="Roboto"/>
              </a:rPr>
              <a:t> EV/Bus-only corridors, Metro extensions, AI traffic optimization, congestion pricing</a:t>
            </a:r>
          </a:p>
        </p:txBody>
      </p:sp>
      <p:sp>
        <p:nvSpPr>
          <p:cNvPr id="16" name="TextBox 16"/>
          <p:cNvSpPr txBox="1"/>
          <p:nvPr/>
        </p:nvSpPr>
        <p:spPr>
          <a:xfrm>
            <a:off x="1208780" y="7489327"/>
            <a:ext cx="4797923" cy="853383"/>
          </a:xfrm>
          <a:prstGeom prst="rect">
            <a:avLst/>
          </a:prstGeom>
        </p:spPr>
        <p:txBody>
          <a:bodyPr lIns="0" tIns="0" rIns="0" bIns="0" rtlCol="0" anchor="t">
            <a:spAutoFit/>
          </a:bodyPr>
          <a:lstStyle/>
          <a:p>
            <a:pPr algn="l">
              <a:lnSpc>
                <a:spcPts val="3000"/>
              </a:lnSpc>
            </a:pPr>
            <a:r>
              <a:rPr lang="en-US" sz="1874" b="1">
                <a:solidFill>
                  <a:srgbClr val="CFD0D8"/>
                </a:solidFill>
                <a:latin typeface="Roboto Bold"/>
                <a:ea typeface="Roboto Bold"/>
                <a:cs typeface="Roboto Bold"/>
                <a:sym typeface="Roboto Bold"/>
              </a:rPr>
              <a:t>Impact:</a:t>
            </a:r>
            <a:r>
              <a:rPr lang="en-US" sz="1874">
                <a:solidFill>
                  <a:srgbClr val="CFD0D8"/>
                </a:solidFill>
                <a:latin typeface="Roboto"/>
                <a:ea typeface="Roboto"/>
                <a:cs typeface="Roboto"/>
                <a:sym typeface="Roboto"/>
              </a:rPr>
              <a:t> </a:t>
            </a:r>
            <a:r>
              <a:rPr lang="en-US" sz="1874">
                <a:solidFill>
                  <a:srgbClr val="5A6ED8"/>
                </a:solidFill>
                <a:latin typeface="Roboto"/>
                <a:ea typeface="Roboto"/>
                <a:cs typeface="Roboto"/>
                <a:sym typeface="Roboto"/>
              </a:rPr>
              <a:t>15–20% road-transport CO₂ reduction</a:t>
            </a:r>
            <a:r>
              <a:rPr lang="en-US" sz="1874">
                <a:solidFill>
                  <a:srgbClr val="CFD0D8"/>
                </a:solidFill>
                <a:latin typeface="Roboto"/>
                <a:ea typeface="Roboto"/>
                <a:cs typeface="Roboto"/>
                <a:sym typeface="Roboto"/>
              </a:rPr>
              <a:t> over 3–5 years</a:t>
            </a:r>
          </a:p>
        </p:txBody>
      </p:sp>
      <p:grpSp>
        <p:nvGrpSpPr>
          <p:cNvPr id="17" name="Group 17"/>
          <p:cNvGrpSpPr/>
          <p:nvPr/>
        </p:nvGrpSpPr>
        <p:grpSpPr>
          <a:xfrm>
            <a:off x="6490992" y="2265607"/>
            <a:ext cx="5306016" cy="6331153"/>
            <a:chOff x="0" y="0"/>
            <a:chExt cx="7074687" cy="8441538"/>
          </a:xfrm>
        </p:grpSpPr>
        <p:sp>
          <p:nvSpPr>
            <p:cNvPr id="18" name="Freeform 18"/>
            <p:cNvSpPr/>
            <p:nvPr/>
          </p:nvSpPr>
          <p:spPr>
            <a:xfrm>
              <a:off x="6350" y="6350"/>
              <a:ext cx="7062089" cy="8428863"/>
            </a:xfrm>
            <a:custGeom>
              <a:avLst/>
              <a:gdLst/>
              <a:ahLst/>
              <a:cxnLst/>
              <a:rect l="l" t="t" r="r" b="b"/>
              <a:pathLst>
                <a:path w="7062089" h="8428863">
                  <a:moveTo>
                    <a:pt x="0" y="134366"/>
                  </a:moveTo>
                  <a:cubicBezTo>
                    <a:pt x="0" y="60198"/>
                    <a:pt x="60198" y="0"/>
                    <a:pt x="134366" y="0"/>
                  </a:cubicBezTo>
                  <a:lnTo>
                    <a:pt x="6927723" y="0"/>
                  </a:lnTo>
                  <a:cubicBezTo>
                    <a:pt x="7001891" y="0"/>
                    <a:pt x="7062089" y="60198"/>
                    <a:pt x="7062089" y="134366"/>
                  </a:cubicBezTo>
                  <a:lnTo>
                    <a:pt x="7062089" y="8294497"/>
                  </a:lnTo>
                  <a:cubicBezTo>
                    <a:pt x="7062089" y="8368665"/>
                    <a:pt x="7001891" y="8428863"/>
                    <a:pt x="6927723" y="8428863"/>
                  </a:cubicBezTo>
                  <a:lnTo>
                    <a:pt x="134366" y="8428863"/>
                  </a:lnTo>
                  <a:cubicBezTo>
                    <a:pt x="60198" y="8428863"/>
                    <a:pt x="0" y="8368665"/>
                    <a:pt x="0" y="8294497"/>
                  </a:cubicBezTo>
                  <a:close/>
                </a:path>
              </a:pathLst>
            </a:custGeom>
            <a:solidFill>
              <a:srgbClr val="182567"/>
            </a:solidFill>
            <a:ln w="12700">
              <a:solidFill>
                <a:srgbClr val="000000"/>
              </a:solidFill>
            </a:ln>
          </p:spPr>
          <p:txBody>
            <a:bodyPr/>
            <a:lstStyle/>
            <a:p>
              <a:endParaRPr lang="en-IN"/>
            </a:p>
          </p:txBody>
        </p:sp>
        <p:sp>
          <p:nvSpPr>
            <p:cNvPr id="19" name="Freeform 19"/>
            <p:cNvSpPr/>
            <p:nvPr/>
          </p:nvSpPr>
          <p:spPr>
            <a:xfrm>
              <a:off x="0" y="0"/>
              <a:ext cx="7074789" cy="8441563"/>
            </a:xfrm>
            <a:custGeom>
              <a:avLst/>
              <a:gdLst/>
              <a:ahLst/>
              <a:cxnLst/>
              <a:rect l="l" t="t" r="r" b="b"/>
              <a:pathLst>
                <a:path w="7074789" h="8441563">
                  <a:moveTo>
                    <a:pt x="0" y="140716"/>
                  </a:moveTo>
                  <a:cubicBezTo>
                    <a:pt x="0" y="62992"/>
                    <a:pt x="62992" y="0"/>
                    <a:pt x="140716" y="0"/>
                  </a:cubicBezTo>
                  <a:lnTo>
                    <a:pt x="6934073" y="0"/>
                  </a:lnTo>
                  <a:lnTo>
                    <a:pt x="6934073" y="6350"/>
                  </a:lnTo>
                  <a:lnTo>
                    <a:pt x="6934073" y="0"/>
                  </a:lnTo>
                  <a:cubicBezTo>
                    <a:pt x="7011797" y="0"/>
                    <a:pt x="7074789" y="62992"/>
                    <a:pt x="7074789" y="140716"/>
                  </a:cubicBezTo>
                  <a:lnTo>
                    <a:pt x="7068439" y="140716"/>
                  </a:lnTo>
                  <a:lnTo>
                    <a:pt x="7074789" y="140716"/>
                  </a:lnTo>
                  <a:lnTo>
                    <a:pt x="7074789" y="8300847"/>
                  </a:lnTo>
                  <a:lnTo>
                    <a:pt x="7068439" y="8300847"/>
                  </a:lnTo>
                  <a:lnTo>
                    <a:pt x="7074789" y="8300847"/>
                  </a:lnTo>
                  <a:cubicBezTo>
                    <a:pt x="7074789" y="8378571"/>
                    <a:pt x="7011797" y="8441563"/>
                    <a:pt x="6934073" y="8441563"/>
                  </a:cubicBezTo>
                  <a:lnTo>
                    <a:pt x="6934073" y="8435213"/>
                  </a:lnTo>
                  <a:lnTo>
                    <a:pt x="6934073" y="8441563"/>
                  </a:lnTo>
                  <a:lnTo>
                    <a:pt x="140716" y="8441563"/>
                  </a:lnTo>
                  <a:lnTo>
                    <a:pt x="140716" y="8435213"/>
                  </a:lnTo>
                  <a:lnTo>
                    <a:pt x="140716" y="8441563"/>
                  </a:lnTo>
                  <a:cubicBezTo>
                    <a:pt x="62992" y="8441563"/>
                    <a:pt x="0" y="8378571"/>
                    <a:pt x="0" y="8300847"/>
                  </a:cubicBezTo>
                  <a:lnTo>
                    <a:pt x="0" y="140716"/>
                  </a:lnTo>
                  <a:lnTo>
                    <a:pt x="6350" y="140716"/>
                  </a:lnTo>
                  <a:lnTo>
                    <a:pt x="0" y="140716"/>
                  </a:lnTo>
                  <a:moveTo>
                    <a:pt x="12700" y="140716"/>
                  </a:moveTo>
                  <a:lnTo>
                    <a:pt x="12700" y="8300847"/>
                  </a:lnTo>
                  <a:lnTo>
                    <a:pt x="6350" y="8300847"/>
                  </a:lnTo>
                  <a:lnTo>
                    <a:pt x="12700" y="8300847"/>
                  </a:lnTo>
                  <a:cubicBezTo>
                    <a:pt x="12700" y="8371586"/>
                    <a:pt x="69977" y="8428863"/>
                    <a:pt x="140716" y="8428863"/>
                  </a:cubicBezTo>
                  <a:lnTo>
                    <a:pt x="6934073" y="8428863"/>
                  </a:lnTo>
                  <a:cubicBezTo>
                    <a:pt x="7004685" y="8428863"/>
                    <a:pt x="7062089" y="8371586"/>
                    <a:pt x="7062089" y="8300847"/>
                  </a:cubicBezTo>
                  <a:lnTo>
                    <a:pt x="7062089" y="140716"/>
                  </a:lnTo>
                  <a:cubicBezTo>
                    <a:pt x="7061962" y="69977"/>
                    <a:pt x="7004685" y="12700"/>
                    <a:pt x="6934073" y="12700"/>
                  </a:cubicBezTo>
                  <a:lnTo>
                    <a:pt x="140716" y="12700"/>
                  </a:lnTo>
                  <a:lnTo>
                    <a:pt x="140716" y="6350"/>
                  </a:lnTo>
                  <a:lnTo>
                    <a:pt x="140716" y="12700"/>
                  </a:lnTo>
                  <a:cubicBezTo>
                    <a:pt x="69977" y="12700"/>
                    <a:pt x="12700" y="69977"/>
                    <a:pt x="12700" y="140716"/>
                  </a:cubicBezTo>
                  <a:close/>
                </a:path>
              </a:pathLst>
            </a:custGeom>
            <a:solidFill>
              <a:srgbClr val="313E80"/>
            </a:solidFill>
            <a:ln w="12700">
              <a:solidFill>
                <a:srgbClr val="000000"/>
              </a:solidFill>
            </a:ln>
          </p:spPr>
          <p:txBody>
            <a:bodyPr/>
            <a:lstStyle/>
            <a:p>
              <a:endParaRPr lang="en-IN"/>
            </a:p>
          </p:txBody>
        </p:sp>
      </p:grpSp>
      <p:grpSp>
        <p:nvGrpSpPr>
          <p:cNvPr id="20" name="Group 20"/>
          <p:cNvGrpSpPr/>
          <p:nvPr/>
        </p:nvGrpSpPr>
        <p:grpSpPr>
          <a:xfrm>
            <a:off x="6745043" y="2519658"/>
            <a:ext cx="719585" cy="719585"/>
            <a:chOff x="0" y="0"/>
            <a:chExt cx="959447" cy="959447"/>
          </a:xfrm>
        </p:grpSpPr>
        <p:sp>
          <p:nvSpPr>
            <p:cNvPr id="21" name="Freeform 21"/>
            <p:cNvSpPr/>
            <p:nvPr/>
          </p:nvSpPr>
          <p:spPr>
            <a:xfrm>
              <a:off x="0" y="0"/>
              <a:ext cx="959485" cy="959485"/>
            </a:xfrm>
            <a:custGeom>
              <a:avLst/>
              <a:gdLst/>
              <a:ahLst/>
              <a:cxnLst/>
              <a:rect l="l" t="t" r="r" b="b"/>
              <a:pathLst>
                <a:path w="959485" h="959485">
                  <a:moveTo>
                    <a:pt x="0" y="479679"/>
                  </a:moveTo>
                  <a:cubicBezTo>
                    <a:pt x="0" y="214757"/>
                    <a:pt x="214757" y="0"/>
                    <a:pt x="479679" y="0"/>
                  </a:cubicBezTo>
                  <a:cubicBezTo>
                    <a:pt x="744601" y="0"/>
                    <a:pt x="959485" y="214757"/>
                    <a:pt x="959485" y="479679"/>
                  </a:cubicBezTo>
                  <a:cubicBezTo>
                    <a:pt x="959485" y="744601"/>
                    <a:pt x="744728" y="959485"/>
                    <a:pt x="479679" y="959485"/>
                  </a:cubicBezTo>
                  <a:cubicBezTo>
                    <a:pt x="214630" y="959485"/>
                    <a:pt x="0" y="744728"/>
                    <a:pt x="0" y="479679"/>
                  </a:cubicBezTo>
                  <a:close/>
                </a:path>
              </a:pathLst>
            </a:custGeom>
            <a:solidFill>
              <a:srgbClr val="5A6ED8"/>
            </a:solidFill>
            <a:ln w="12700">
              <a:solidFill>
                <a:srgbClr val="000000"/>
              </a:solidFill>
            </a:ln>
          </p:spPr>
          <p:txBody>
            <a:bodyPr/>
            <a:lstStyle/>
            <a:p>
              <a:endParaRPr lang="en-IN"/>
            </a:p>
          </p:txBody>
        </p:sp>
      </p:grpSp>
      <p:sp>
        <p:nvSpPr>
          <p:cNvPr id="22" name="Freeform 22" descr="preencoded.png"/>
          <p:cNvSpPr/>
          <p:nvPr/>
        </p:nvSpPr>
        <p:spPr>
          <a:xfrm>
            <a:off x="6942982" y="2717597"/>
            <a:ext cx="323698" cy="323698"/>
          </a:xfrm>
          <a:custGeom>
            <a:avLst/>
            <a:gdLst/>
            <a:ahLst/>
            <a:cxnLst/>
            <a:rect l="l" t="t" r="r" b="b"/>
            <a:pathLst>
              <a:path w="323698" h="323698">
                <a:moveTo>
                  <a:pt x="0" y="0"/>
                </a:moveTo>
                <a:lnTo>
                  <a:pt x="323698" y="0"/>
                </a:lnTo>
                <a:lnTo>
                  <a:pt x="323698" y="323697"/>
                </a:lnTo>
                <a:lnTo>
                  <a:pt x="0" y="323697"/>
                </a:lnTo>
                <a:lnTo>
                  <a:pt x="0" y="0"/>
                </a:lnTo>
                <a:close/>
              </a:path>
            </a:pathLst>
          </a:custGeom>
          <a:blipFill>
            <a:blip r:embed="rId6">
              <a:extLst>
                <a:ext uri="{96DAC541-7B7A-43D3-8B79-37D633B846F1}">
                  <asvg:svgBlip xmlns:asvg="http://schemas.microsoft.com/office/drawing/2016/SVG/main" r:embed="rId7"/>
                </a:ext>
              </a:extLst>
            </a:blip>
            <a:stretch>
              <a:fillRect t="-17646" b="-17649"/>
            </a:stretch>
          </a:blipFill>
        </p:spPr>
        <p:txBody>
          <a:bodyPr/>
          <a:lstStyle/>
          <a:p>
            <a:endParaRPr lang="en-IN"/>
          </a:p>
        </p:txBody>
      </p:sp>
      <p:sp>
        <p:nvSpPr>
          <p:cNvPr id="23" name="TextBox 23"/>
          <p:cNvSpPr txBox="1"/>
          <p:nvPr/>
        </p:nvSpPr>
        <p:spPr>
          <a:xfrm>
            <a:off x="6745043" y="3459956"/>
            <a:ext cx="3598069" cy="468811"/>
          </a:xfrm>
          <a:prstGeom prst="rect">
            <a:avLst/>
          </a:prstGeom>
        </p:spPr>
        <p:txBody>
          <a:bodyPr lIns="0" tIns="0" rIns="0" bIns="0" rtlCol="0" anchor="t">
            <a:spAutoFit/>
          </a:bodyPr>
          <a:lstStyle/>
          <a:p>
            <a:pPr algn="l">
              <a:lnSpc>
                <a:spcPts val="3499"/>
              </a:lnSpc>
            </a:pPr>
            <a:r>
              <a:rPr lang="en-US" sz="2812">
                <a:solidFill>
                  <a:srgbClr val="CFD0D8"/>
                </a:solidFill>
                <a:latin typeface="Roboto"/>
                <a:ea typeface="Roboto"/>
                <a:cs typeface="Roboto"/>
                <a:sym typeface="Roboto"/>
              </a:rPr>
              <a:t>Industrial-Dominated</a:t>
            </a:r>
          </a:p>
        </p:txBody>
      </p:sp>
      <p:sp>
        <p:nvSpPr>
          <p:cNvPr id="24" name="TextBox 24"/>
          <p:cNvSpPr txBox="1"/>
          <p:nvPr/>
        </p:nvSpPr>
        <p:spPr>
          <a:xfrm>
            <a:off x="6745043" y="3986955"/>
            <a:ext cx="4797923" cy="853383"/>
          </a:xfrm>
          <a:prstGeom prst="rect">
            <a:avLst/>
          </a:prstGeom>
        </p:spPr>
        <p:txBody>
          <a:bodyPr lIns="0" tIns="0" rIns="0" bIns="0" rtlCol="0" anchor="t">
            <a:spAutoFit/>
          </a:bodyPr>
          <a:lstStyle/>
          <a:p>
            <a:pPr algn="l">
              <a:lnSpc>
                <a:spcPts val="3000"/>
              </a:lnSpc>
            </a:pPr>
            <a:r>
              <a:rPr lang="en-US" sz="1874" b="1">
                <a:solidFill>
                  <a:srgbClr val="CFD0D8"/>
                </a:solidFill>
                <a:latin typeface="Roboto Bold"/>
                <a:ea typeface="Roboto Bold"/>
                <a:cs typeface="Roboto Bold"/>
                <a:sym typeface="Roboto Bold"/>
              </a:rPr>
              <a:t>Examples:</a:t>
            </a:r>
            <a:r>
              <a:rPr lang="en-US" sz="1874">
                <a:solidFill>
                  <a:srgbClr val="CFD0D8"/>
                </a:solidFill>
                <a:latin typeface="Roboto"/>
                <a:ea typeface="Roboto"/>
                <a:cs typeface="Roboto"/>
                <a:sym typeface="Roboto"/>
              </a:rPr>
              <a:t> Hadapsar, Jeedimetla, Miyapur estates</a:t>
            </a:r>
          </a:p>
        </p:txBody>
      </p:sp>
      <p:sp>
        <p:nvSpPr>
          <p:cNvPr id="25" name="TextBox 25"/>
          <p:cNvSpPr txBox="1"/>
          <p:nvPr/>
        </p:nvSpPr>
        <p:spPr>
          <a:xfrm>
            <a:off x="6745043" y="4898527"/>
            <a:ext cx="4797923" cy="1237212"/>
          </a:xfrm>
          <a:prstGeom prst="rect">
            <a:avLst/>
          </a:prstGeom>
        </p:spPr>
        <p:txBody>
          <a:bodyPr lIns="0" tIns="0" rIns="0" bIns="0" rtlCol="0" anchor="t">
            <a:spAutoFit/>
          </a:bodyPr>
          <a:lstStyle/>
          <a:p>
            <a:pPr algn="l">
              <a:lnSpc>
                <a:spcPts val="3000"/>
              </a:lnSpc>
            </a:pPr>
            <a:r>
              <a:rPr lang="en-US" sz="1874" b="1">
                <a:solidFill>
                  <a:srgbClr val="CFD0D8"/>
                </a:solidFill>
                <a:latin typeface="Roboto Bold"/>
                <a:ea typeface="Roboto Bold"/>
                <a:cs typeface="Roboto Bold"/>
                <a:sym typeface="Roboto Bold"/>
              </a:rPr>
              <a:t>Characteristics:</a:t>
            </a:r>
            <a:r>
              <a:rPr lang="en-US" sz="1874">
                <a:solidFill>
                  <a:srgbClr val="CFD0D8"/>
                </a:solidFill>
                <a:latin typeface="Roboto"/>
                <a:ea typeface="Roboto"/>
                <a:cs typeface="Roboto"/>
                <a:sym typeface="Roboto"/>
              </a:rPr>
              <a:t> Manufacturing zones with stack emissions, fugitive process emissions, limited transit access</a:t>
            </a:r>
          </a:p>
        </p:txBody>
      </p:sp>
      <p:sp>
        <p:nvSpPr>
          <p:cNvPr id="26" name="TextBox 26"/>
          <p:cNvSpPr txBox="1"/>
          <p:nvPr/>
        </p:nvSpPr>
        <p:spPr>
          <a:xfrm>
            <a:off x="6745043" y="6193927"/>
            <a:ext cx="4797923" cy="1237212"/>
          </a:xfrm>
          <a:prstGeom prst="rect">
            <a:avLst/>
          </a:prstGeom>
        </p:spPr>
        <p:txBody>
          <a:bodyPr lIns="0" tIns="0" rIns="0" bIns="0" rtlCol="0" anchor="t">
            <a:spAutoFit/>
          </a:bodyPr>
          <a:lstStyle/>
          <a:p>
            <a:pPr algn="l">
              <a:lnSpc>
                <a:spcPts val="3000"/>
              </a:lnSpc>
            </a:pPr>
            <a:r>
              <a:rPr lang="en-US" sz="1874" b="1">
                <a:solidFill>
                  <a:srgbClr val="CFD0D8"/>
                </a:solidFill>
                <a:latin typeface="Roboto Bold"/>
                <a:ea typeface="Roboto Bold"/>
                <a:cs typeface="Roboto Bold"/>
                <a:sym typeface="Roboto Bold"/>
              </a:rPr>
              <a:t>Solutions:</a:t>
            </a:r>
            <a:r>
              <a:rPr lang="en-US" sz="1874">
                <a:solidFill>
                  <a:srgbClr val="CFD0D8"/>
                </a:solidFill>
                <a:latin typeface="Roboto"/>
                <a:ea typeface="Roboto"/>
                <a:cs typeface="Roboto"/>
                <a:sym typeface="Roboto"/>
              </a:rPr>
              <a:t> Stricter emission norms, fuel switching to natural gas/renewables, ISO 50001 certification, green buffer zones</a:t>
            </a:r>
          </a:p>
        </p:txBody>
      </p:sp>
      <p:sp>
        <p:nvSpPr>
          <p:cNvPr id="27" name="TextBox 27"/>
          <p:cNvSpPr txBox="1"/>
          <p:nvPr/>
        </p:nvSpPr>
        <p:spPr>
          <a:xfrm>
            <a:off x="6745043" y="7489327"/>
            <a:ext cx="4797923" cy="853383"/>
          </a:xfrm>
          <a:prstGeom prst="rect">
            <a:avLst/>
          </a:prstGeom>
        </p:spPr>
        <p:txBody>
          <a:bodyPr lIns="0" tIns="0" rIns="0" bIns="0" rtlCol="0" anchor="t">
            <a:spAutoFit/>
          </a:bodyPr>
          <a:lstStyle/>
          <a:p>
            <a:pPr algn="l">
              <a:lnSpc>
                <a:spcPts val="3000"/>
              </a:lnSpc>
            </a:pPr>
            <a:r>
              <a:rPr lang="en-US" sz="1874" b="1">
                <a:solidFill>
                  <a:srgbClr val="CFD0D8"/>
                </a:solidFill>
                <a:latin typeface="Roboto Bold"/>
                <a:ea typeface="Roboto Bold"/>
                <a:cs typeface="Roboto Bold"/>
                <a:sym typeface="Roboto Bold"/>
              </a:rPr>
              <a:t>Impact:</a:t>
            </a:r>
            <a:r>
              <a:rPr lang="en-US" sz="1874">
                <a:solidFill>
                  <a:srgbClr val="CFD0D8"/>
                </a:solidFill>
                <a:latin typeface="Roboto"/>
                <a:ea typeface="Roboto"/>
                <a:cs typeface="Roboto"/>
                <a:sym typeface="Roboto"/>
              </a:rPr>
              <a:t> </a:t>
            </a:r>
            <a:r>
              <a:rPr lang="en-US" sz="1874">
                <a:solidFill>
                  <a:srgbClr val="5A6ED8"/>
                </a:solidFill>
                <a:latin typeface="Roboto"/>
                <a:ea typeface="Roboto"/>
                <a:cs typeface="Roboto"/>
                <a:sym typeface="Roboto"/>
              </a:rPr>
              <a:t>10–15% industrial PM2.5 &amp; NOx reduction</a:t>
            </a:r>
          </a:p>
        </p:txBody>
      </p:sp>
      <p:grpSp>
        <p:nvGrpSpPr>
          <p:cNvPr id="28" name="Group 28"/>
          <p:cNvGrpSpPr/>
          <p:nvPr/>
        </p:nvGrpSpPr>
        <p:grpSpPr>
          <a:xfrm>
            <a:off x="12027246" y="2265607"/>
            <a:ext cx="5306016" cy="6331153"/>
            <a:chOff x="0" y="0"/>
            <a:chExt cx="7074687" cy="8441538"/>
          </a:xfrm>
        </p:grpSpPr>
        <p:sp>
          <p:nvSpPr>
            <p:cNvPr id="29" name="Freeform 29"/>
            <p:cNvSpPr/>
            <p:nvPr/>
          </p:nvSpPr>
          <p:spPr>
            <a:xfrm>
              <a:off x="6350" y="6350"/>
              <a:ext cx="7062089" cy="8428863"/>
            </a:xfrm>
            <a:custGeom>
              <a:avLst/>
              <a:gdLst/>
              <a:ahLst/>
              <a:cxnLst/>
              <a:rect l="l" t="t" r="r" b="b"/>
              <a:pathLst>
                <a:path w="7062089" h="8428863">
                  <a:moveTo>
                    <a:pt x="0" y="134366"/>
                  </a:moveTo>
                  <a:cubicBezTo>
                    <a:pt x="0" y="60198"/>
                    <a:pt x="60198" y="0"/>
                    <a:pt x="134366" y="0"/>
                  </a:cubicBezTo>
                  <a:lnTo>
                    <a:pt x="6927723" y="0"/>
                  </a:lnTo>
                  <a:cubicBezTo>
                    <a:pt x="7001891" y="0"/>
                    <a:pt x="7062089" y="60198"/>
                    <a:pt x="7062089" y="134366"/>
                  </a:cubicBezTo>
                  <a:lnTo>
                    <a:pt x="7062089" y="8294497"/>
                  </a:lnTo>
                  <a:cubicBezTo>
                    <a:pt x="7062089" y="8368665"/>
                    <a:pt x="7001891" y="8428863"/>
                    <a:pt x="6927723" y="8428863"/>
                  </a:cubicBezTo>
                  <a:lnTo>
                    <a:pt x="134366" y="8428863"/>
                  </a:lnTo>
                  <a:cubicBezTo>
                    <a:pt x="60198" y="8428863"/>
                    <a:pt x="0" y="8368665"/>
                    <a:pt x="0" y="8294497"/>
                  </a:cubicBezTo>
                  <a:close/>
                </a:path>
              </a:pathLst>
            </a:custGeom>
            <a:solidFill>
              <a:srgbClr val="182567"/>
            </a:solidFill>
            <a:ln w="12700">
              <a:solidFill>
                <a:srgbClr val="000000"/>
              </a:solidFill>
            </a:ln>
          </p:spPr>
          <p:txBody>
            <a:bodyPr/>
            <a:lstStyle/>
            <a:p>
              <a:endParaRPr lang="en-IN"/>
            </a:p>
          </p:txBody>
        </p:sp>
        <p:sp>
          <p:nvSpPr>
            <p:cNvPr id="30" name="Freeform 30"/>
            <p:cNvSpPr/>
            <p:nvPr/>
          </p:nvSpPr>
          <p:spPr>
            <a:xfrm>
              <a:off x="0" y="0"/>
              <a:ext cx="7074789" cy="8441563"/>
            </a:xfrm>
            <a:custGeom>
              <a:avLst/>
              <a:gdLst/>
              <a:ahLst/>
              <a:cxnLst/>
              <a:rect l="l" t="t" r="r" b="b"/>
              <a:pathLst>
                <a:path w="7074789" h="8441563">
                  <a:moveTo>
                    <a:pt x="0" y="140716"/>
                  </a:moveTo>
                  <a:cubicBezTo>
                    <a:pt x="0" y="62992"/>
                    <a:pt x="62992" y="0"/>
                    <a:pt x="140716" y="0"/>
                  </a:cubicBezTo>
                  <a:lnTo>
                    <a:pt x="6934073" y="0"/>
                  </a:lnTo>
                  <a:lnTo>
                    <a:pt x="6934073" y="6350"/>
                  </a:lnTo>
                  <a:lnTo>
                    <a:pt x="6934073" y="0"/>
                  </a:lnTo>
                  <a:cubicBezTo>
                    <a:pt x="7011797" y="0"/>
                    <a:pt x="7074789" y="62992"/>
                    <a:pt x="7074789" y="140716"/>
                  </a:cubicBezTo>
                  <a:lnTo>
                    <a:pt x="7068439" y="140716"/>
                  </a:lnTo>
                  <a:lnTo>
                    <a:pt x="7074789" y="140716"/>
                  </a:lnTo>
                  <a:lnTo>
                    <a:pt x="7074789" y="8300847"/>
                  </a:lnTo>
                  <a:lnTo>
                    <a:pt x="7068439" y="8300847"/>
                  </a:lnTo>
                  <a:lnTo>
                    <a:pt x="7074789" y="8300847"/>
                  </a:lnTo>
                  <a:cubicBezTo>
                    <a:pt x="7074789" y="8378571"/>
                    <a:pt x="7011797" y="8441563"/>
                    <a:pt x="6934073" y="8441563"/>
                  </a:cubicBezTo>
                  <a:lnTo>
                    <a:pt x="6934073" y="8435213"/>
                  </a:lnTo>
                  <a:lnTo>
                    <a:pt x="6934073" y="8441563"/>
                  </a:lnTo>
                  <a:lnTo>
                    <a:pt x="140716" y="8441563"/>
                  </a:lnTo>
                  <a:lnTo>
                    <a:pt x="140716" y="8435213"/>
                  </a:lnTo>
                  <a:lnTo>
                    <a:pt x="140716" y="8441563"/>
                  </a:lnTo>
                  <a:cubicBezTo>
                    <a:pt x="62992" y="8441563"/>
                    <a:pt x="0" y="8378571"/>
                    <a:pt x="0" y="8300847"/>
                  </a:cubicBezTo>
                  <a:lnTo>
                    <a:pt x="0" y="140716"/>
                  </a:lnTo>
                  <a:lnTo>
                    <a:pt x="6350" y="140716"/>
                  </a:lnTo>
                  <a:lnTo>
                    <a:pt x="0" y="140716"/>
                  </a:lnTo>
                  <a:moveTo>
                    <a:pt x="12700" y="140716"/>
                  </a:moveTo>
                  <a:lnTo>
                    <a:pt x="12700" y="8300847"/>
                  </a:lnTo>
                  <a:lnTo>
                    <a:pt x="6350" y="8300847"/>
                  </a:lnTo>
                  <a:lnTo>
                    <a:pt x="12700" y="8300847"/>
                  </a:lnTo>
                  <a:cubicBezTo>
                    <a:pt x="12700" y="8371586"/>
                    <a:pt x="69977" y="8428863"/>
                    <a:pt x="140716" y="8428863"/>
                  </a:cubicBezTo>
                  <a:lnTo>
                    <a:pt x="6934073" y="8428863"/>
                  </a:lnTo>
                  <a:cubicBezTo>
                    <a:pt x="7004685" y="8428863"/>
                    <a:pt x="7062089" y="8371586"/>
                    <a:pt x="7062089" y="8300847"/>
                  </a:cubicBezTo>
                  <a:lnTo>
                    <a:pt x="7062089" y="140716"/>
                  </a:lnTo>
                  <a:cubicBezTo>
                    <a:pt x="7061962" y="69977"/>
                    <a:pt x="7004685" y="12700"/>
                    <a:pt x="6934073" y="12700"/>
                  </a:cubicBezTo>
                  <a:lnTo>
                    <a:pt x="140716" y="12700"/>
                  </a:lnTo>
                  <a:lnTo>
                    <a:pt x="140716" y="6350"/>
                  </a:lnTo>
                  <a:lnTo>
                    <a:pt x="140716" y="12700"/>
                  </a:lnTo>
                  <a:cubicBezTo>
                    <a:pt x="69977" y="12700"/>
                    <a:pt x="12700" y="69977"/>
                    <a:pt x="12700" y="140716"/>
                  </a:cubicBezTo>
                  <a:close/>
                </a:path>
              </a:pathLst>
            </a:custGeom>
            <a:solidFill>
              <a:srgbClr val="243799"/>
            </a:solidFill>
            <a:ln w="12700">
              <a:solidFill>
                <a:srgbClr val="000000"/>
              </a:solidFill>
            </a:ln>
          </p:spPr>
          <p:txBody>
            <a:bodyPr/>
            <a:lstStyle/>
            <a:p>
              <a:endParaRPr lang="en-IN"/>
            </a:p>
          </p:txBody>
        </p:sp>
      </p:grpSp>
      <p:grpSp>
        <p:nvGrpSpPr>
          <p:cNvPr id="31" name="Group 31"/>
          <p:cNvGrpSpPr/>
          <p:nvPr/>
        </p:nvGrpSpPr>
        <p:grpSpPr>
          <a:xfrm>
            <a:off x="12281297" y="2519658"/>
            <a:ext cx="719585" cy="719585"/>
            <a:chOff x="0" y="0"/>
            <a:chExt cx="959447" cy="959447"/>
          </a:xfrm>
        </p:grpSpPr>
        <p:sp>
          <p:nvSpPr>
            <p:cNvPr id="32" name="Freeform 32"/>
            <p:cNvSpPr/>
            <p:nvPr/>
          </p:nvSpPr>
          <p:spPr>
            <a:xfrm>
              <a:off x="0" y="0"/>
              <a:ext cx="959485" cy="959485"/>
            </a:xfrm>
            <a:custGeom>
              <a:avLst/>
              <a:gdLst/>
              <a:ahLst/>
              <a:cxnLst/>
              <a:rect l="l" t="t" r="r" b="b"/>
              <a:pathLst>
                <a:path w="959485" h="959485">
                  <a:moveTo>
                    <a:pt x="0" y="479679"/>
                  </a:moveTo>
                  <a:cubicBezTo>
                    <a:pt x="0" y="214757"/>
                    <a:pt x="214757" y="0"/>
                    <a:pt x="479679" y="0"/>
                  </a:cubicBezTo>
                  <a:cubicBezTo>
                    <a:pt x="744601" y="0"/>
                    <a:pt x="959485" y="214757"/>
                    <a:pt x="959485" y="479679"/>
                  </a:cubicBezTo>
                  <a:cubicBezTo>
                    <a:pt x="959485" y="744601"/>
                    <a:pt x="744728" y="959485"/>
                    <a:pt x="479679" y="959485"/>
                  </a:cubicBezTo>
                  <a:cubicBezTo>
                    <a:pt x="214630" y="959485"/>
                    <a:pt x="0" y="744728"/>
                    <a:pt x="0" y="479679"/>
                  </a:cubicBezTo>
                  <a:close/>
                </a:path>
              </a:pathLst>
            </a:custGeom>
            <a:solidFill>
              <a:srgbClr val="243799"/>
            </a:solidFill>
            <a:ln w="12700">
              <a:solidFill>
                <a:srgbClr val="000000"/>
              </a:solidFill>
            </a:ln>
          </p:spPr>
          <p:txBody>
            <a:bodyPr/>
            <a:lstStyle/>
            <a:p>
              <a:endParaRPr lang="en-IN"/>
            </a:p>
          </p:txBody>
        </p:sp>
      </p:grpSp>
      <p:sp>
        <p:nvSpPr>
          <p:cNvPr id="33" name="Freeform 33" descr="preencoded.png"/>
          <p:cNvSpPr/>
          <p:nvPr/>
        </p:nvSpPr>
        <p:spPr>
          <a:xfrm>
            <a:off x="12479236" y="2717597"/>
            <a:ext cx="323698" cy="323698"/>
          </a:xfrm>
          <a:custGeom>
            <a:avLst/>
            <a:gdLst/>
            <a:ahLst/>
            <a:cxnLst/>
            <a:rect l="l" t="t" r="r" b="b"/>
            <a:pathLst>
              <a:path w="323698" h="323698">
                <a:moveTo>
                  <a:pt x="0" y="0"/>
                </a:moveTo>
                <a:lnTo>
                  <a:pt x="323698" y="0"/>
                </a:lnTo>
                <a:lnTo>
                  <a:pt x="323698" y="323697"/>
                </a:lnTo>
                <a:lnTo>
                  <a:pt x="0" y="323697"/>
                </a:lnTo>
                <a:lnTo>
                  <a:pt x="0" y="0"/>
                </a:lnTo>
                <a:close/>
              </a:path>
            </a:pathLst>
          </a:custGeom>
          <a:blipFill>
            <a:blip r:embed="rId8">
              <a:extLst>
                <a:ext uri="{96DAC541-7B7A-43D3-8B79-37D633B846F1}">
                  <asvg:svgBlip xmlns:asvg="http://schemas.microsoft.com/office/drawing/2016/SVG/main" r:embed="rId9"/>
                </a:ext>
              </a:extLst>
            </a:blip>
            <a:stretch>
              <a:fillRect l="-2942" r="-2939"/>
            </a:stretch>
          </a:blipFill>
        </p:spPr>
        <p:txBody>
          <a:bodyPr/>
          <a:lstStyle/>
          <a:p>
            <a:endParaRPr lang="en-IN"/>
          </a:p>
        </p:txBody>
      </p:sp>
      <p:sp>
        <p:nvSpPr>
          <p:cNvPr id="34" name="TextBox 34"/>
          <p:cNvSpPr txBox="1"/>
          <p:nvPr/>
        </p:nvSpPr>
        <p:spPr>
          <a:xfrm>
            <a:off x="12281297" y="3459956"/>
            <a:ext cx="4471540" cy="468811"/>
          </a:xfrm>
          <a:prstGeom prst="rect">
            <a:avLst/>
          </a:prstGeom>
        </p:spPr>
        <p:txBody>
          <a:bodyPr lIns="0" tIns="0" rIns="0" bIns="0" rtlCol="0" anchor="t">
            <a:spAutoFit/>
          </a:bodyPr>
          <a:lstStyle/>
          <a:p>
            <a:pPr algn="l">
              <a:lnSpc>
                <a:spcPts val="3499"/>
              </a:lnSpc>
            </a:pPr>
            <a:r>
              <a:rPr lang="en-US" sz="2812">
                <a:solidFill>
                  <a:srgbClr val="CFD0D8"/>
                </a:solidFill>
                <a:latin typeface="Roboto"/>
                <a:ea typeface="Roboto"/>
                <a:cs typeface="Roboto"/>
                <a:sym typeface="Roboto"/>
              </a:rPr>
              <a:t>Mixed (HIGHEST PRIORITY)</a:t>
            </a:r>
          </a:p>
        </p:txBody>
      </p:sp>
      <p:sp>
        <p:nvSpPr>
          <p:cNvPr id="35" name="TextBox 35"/>
          <p:cNvSpPr txBox="1"/>
          <p:nvPr/>
        </p:nvSpPr>
        <p:spPr>
          <a:xfrm>
            <a:off x="12281297" y="3986955"/>
            <a:ext cx="4797923" cy="853383"/>
          </a:xfrm>
          <a:prstGeom prst="rect">
            <a:avLst/>
          </a:prstGeom>
        </p:spPr>
        <p:txBody>
          <a:bodyPr lIns="0" tIns="0" rIns="0" bIns="0" rtlCol="0" anchor="t">
            <a:spAutoFit/>
          </a:bodyPr>
          <a:lstStyle/>
          <a:p>
            <a:pPr algn="l">
              <a:lnSpc>
                <a:spcPts val="3000"/>
              </a:lnSpc>
            </a:pPr>
            <a:r>
              <a:rPr lang="en-US" sz="1874" b="1">
                <a:solidFill>
                  <a:srgbClr val="CFD0D8"/>
                </a:solidFill>
                <a:latin typeface="Roboto Bold"/>
                <a:ea typeface="Roboto Bold"/>
                <a:cs typeface="Roboto Bold"/>
                <a:sym typeface="Roboto Bold"/>
              </a:rPr>
              <a:t>Examples:</a:t>
            </a:r>
            <a:r>
              <a:rPr lang="en-US" sz="1874">
                <a:solidFill>
                  <a:srgbClr val="CFD0D8"/>
                </a:solidFill>
                <a:latin typeface="Roboto"/>
                <a:ea typeface="Roboto"/>
                <a:cs typeface="Roboto"/>
                <a:sym typeface="Roboto"/>
              </a:rPr>
              <a:t> Adikmet, R.K. Nagar, Ameerpet, Somajiguda</a:t>
            </a:r>
          </a:p>
        </p:txBody>
      </p:sp>
      <p:sp>
        <p:nvSpPr>
          <p:cNvPr id="36" name="TextBox 36"/>
          <p:cNvSpPr txBox="1"/>
          <p:nvPr/>
        </p:nvSpPr>
        <p:spPr>
          <a:xfrm>
            <a:off x="12281297" y="4898527"/>
            <a:ext cx="4797923" cy="1237212"/>
          </a:xfrm>
          <a:prstGeom prst="rect">
            <a:avLst/>
          </a:prstGeom>
        </p:spPr>
        <p:txBody>
          <a:bodyPr lIns="0" tIns="0" rIns="0" bIns="0" rtlCol="0" anchor="t">
            <a:spAutoFit/>
          </a:bodyPr>
          <a:lstStyle/>
          <a:p>
            <a:pPr algn="l">
              <a:lnSpc>
                <a:spcPts val="3000"/>
              </a:lnSpc>
            </a:pPr>
            <a:r>
              <a:rPr lang="en-US" sz="1874" b="1">
                <a:solidFill>
                  <a:srgbClr val="CFD0D8"/>
                </a:solidFill>
                <a:latin typeface="Roboto Bold"/>
                <a:ea typeface="Roboto Bold"/>
                <a:cs typeface="Roboto Bold"/>
                <a:sym typeface="Roboto Bold"/>
              </a:rPr>
              <a:t>Characteristics:</a:t>
            </a:r>
            <a:r>
              <a:rPr lang="en-US" sz="1874">
                <a:solidFill>
                  <a:srgbClr val="CFD0D8"/>
                </a:solidFill>
                <a:latin typeface="Roboto"/>
                <a:ea typeface="Roboto"/>
                <a:cs typeface="Roboto"/>
                <a:sym typeface="Roboto"/>
              </a:rPr>
              <a:t> Both high traffic AND industrial influence, dense mixed land use, overlapping emission sources</a:t>
            </a:r>
          </a:p>
        </p:txBody>
      </p:sp>
      <p:sp>
        <p:nvSpPr>
          <p:cNvPr id="37" name="TextBox 37"/>
          <p:cNvSpPr txBox="1"/>
          <p:nvPr/>
        </p:nvSpPr>
        <p:spPr>
          <a:xfrm>
            <a:off x="12281297" y="6193927"/>
            <a:ext cx="4797923" cy="1237212"/>
          </a:xfrm>
          <a:prstGeom prst="rect">
            <a:avLst/>
          </a:prstGeom>
        </p:spPr>
        <p:txBody>
          <a:bodyPr lIns="0" tIns="0" rIns="0" bIns="0" rtlCol="0" anchor="t">
            <a:spAutoFit/>
          </a:bodyPr>
          <a:lstStyle/>
          <a:p>
            <a:pPr algn="l">
              <a:lnSpc>
                <a:spcPts val="3000"/>
              </a:lnSpc>
            </a:pPr>
            <a:r>
              <a:rPr lang="en-US" sz="1874" b="1">
                <a:solidFill>
                  <a:srgbClr val="CFD0D8"/>
                </a:solidFill>
                <a:latin typeface="Roboto Bold"/>
                <a:ea typeface="Roboto Bold"/>
                <a:cs typeface="Roboto Bold"/>
                <a:sym typeface="Roboto Bold"/>
              </a:rPr>
              <a:t>Solutions:</a:t>
            </a:r>
            <a:r>
              <a:rPr lang="en-US" sz="1874">
                <a:solidFill>
                  <a:srgbClr val="CFD0D8"/>
                </a:solidFill>
                <a:latin typeface="Roboto"/>
                <a:ea typeface="Roboto"/>
                <a:cs typeface="Roboto"/>
                <a:sym typeface="Roboto"/>
              </a:rPr>
              <a:t> Integrated transport + industrial plans, multi-modal TOD nodes, e-commerce fleet electrification, community campaigns</a:t>
            </a:r>
          </a:p>
        </p:txBody>
      </p:sp>
      <p:sp>
        <p:nvSpPr>
          <p:cNvPr id="38" name="TextBox 38"/>
          <p:cNvSpPr txBox="1"/>
          <p:nvPr/>
        </p:nvSpPr>
        <p:spPr>
          <a:xfrm>
            <a:off x="12281297" y="7489327"/>
            <a:ext cx="4797923" cy="853383"/>
          </a:xfrm>
          <a:prstGeom prst="rect">
            <a:avLst/>
          </a:prstGeom>
        </p:spPr>
        <p:txBody>
          <a:bodyPr lIns="0" tIns="0" rIns="0" bIns="0" rtlCol="0" anchor="t">
            <a:spAutoFit/>
          </a:bodyPr>
          <a:lstStyle/>
          <a:p>
            <a:pPr algn="l">
              <a:lnSpc>
                <a:spcPts val="3000"/>
              </a:lnSpc>
            </a:pPr>
            <a:r>
              <a:rPr lang="en-US" sz="1874" b="1">
                <a:solidFill>
                  <a:srgbClr val="CFD0D8"/>
                </a:solidFill>
                <a:latin typeface="Roboto Bold"/>
                <a:ea typeface="Roboto Bold"/>
                <a:cs typeface="Roboto Bold"/>
                <a:sym typeface="Roboto Bold"/>
              </a:rPr>
              <a:t>Impact:</a:t>
            </a:r>
            <a:r>
              <a:rPr lang="en-US" sz="1874">
                <a:solidFill>
                  <a:srgbClr val="CFD0D8"/>
                </a:solidFill>
                <a:latin typeface="Roboto"/>
                <a:ea typeface="Roboto"/>
                <a:cs typeface="Roboto"/>
                <a:sym typeface="Roboto"/>
              </a:rPr>
              <a:t> </a:t>
            </a:r>
            <a:r>
              <a:rPr lang="en-US" sz="1874">
                <a:solidFill>
                  <a:srgbClr val="FFFFFF"/>
                </a:solidFill>
                <a:latin typeface="Roboto"/>
                <a:ea typeface="Roboto"/>
                <a:cs typeface="Roboto"/>
                <a:sym typeface="Roboto"/>
              </a:rPr>
              <a:t>20–25% combined reduction (HIGHEST ROI)</a:t>
            </a:r>
          </a:p>
        </p:txBody>
      </p:sp>
      <p:sp>
        <p:nvSpPr>
          <p:cNvPr id="39" name="TextBox 39"/>
          <p:cNvSpPr txBox="1"/>
          <p:nvPr/>
        </p:nvSpPr>
        <p:spPr>
          <a:xfrm>
            <a:off x="959491" y="8776097"/>
            <a:ext cx="16369008" cy="469554"/>
          </a:xfrm>
          <a:prstGeom prst="rect">
            <a:avLst/>
          </a:prstGeom>
        </p:spPr>
        <p:txBody>
          <a:bodyPr lIns="0" tIns="0" rIns="0" bIns="0" rtlCol="0" anchor="t">
            <a:spAutoFit/>
          </a:bodyPr>
          <a:lstStyle/>
          <a:p>
            <a:pPr algn="l">
              <a:lnSpc>
                <a:spcPts val="3000"/>
              </a:lnSpc>
            </a:pPr>
            <a:r>
              <a:rPr lang="en-US" sz="1874">
                <a:solidFill>
                  <a:srgbClr val="CFD0D8"/>
                </a:solidFill>
                <a:latin typeface="Roboto"/>
                <a:ea typeface="Roboto"/>
                <a:cs typeface="Roboto"/>
                <a:sym typeface="Roboto"/>
              </a:rPr>
              <a:t>Different hotspot types require different interventions. This targeted approach delivers 3–5x greater efficiency than city-wide one-size-fits-all policies.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18">
                <a:alpha val="90196"/>
              </a:srgbClr>
            </a:solidFill>
            <a:ln w="12700">
              <a:solidFill>
                <a:srgbClr val="000000"/>
              </a:solidFill>
            </a:ln>
          </p:spPr>
          <p:txBody>
            <a:bodyPr/>
            <a:lstStyle/>
            <a:p>
              <a:endParaRPr lang="en-IN"/>
            </a:p>
          </p:txBody>
        </p:sp>
      </p:grpSp>
      <p:sp>
        <p:nvSpPr>
          <p:cNvPr id="5" name="TextBox 5"/>
          <p:cNvSpPr txBox="1"/>
          <p:nvPr/>
        </p:nvSpPr>
        <p:spPr>
          <a:xfrm>
            <a:off x="918867" y="593522"/>
            <a:ext cx="10721283" cy="755894"/>
          </a:xfrm>
          <a:prstGeom prst="rect">
            <a:avLst/>
          </a:prstGeom>
        </p:spPr>
        <p:txBody>
          <a:bodyPr lIns="0" tIns="0" rIns="0" bIns="0" rtlCol="0" anchor="t">
            <a:spAutoFit/>
          </a:bodyPr>
          <a:lstStyle/>
          <a:p>
            <a:pPr algn="l">
              <a:lnSpc>
                <a:spcPts val="5625"/>
              </a:lnSpc>
            </a:pPr>
            <a:r>
              <a:rPr lang="en-US" sz="4499">
                <a:solidFill>
                  <a:srgbClr val="FFFFFF"/>
                </a:solidFill>
                <a:latin typeface="Roboto"/>
                <a:ea typeface="Roboto"/>
                <a:cs typeface="Roboto"/>
                <a:sym typeface="Roboto"/>
              </a:rPr>
              <a:t>Concrete Mitigation Actions by Zone Type</a:t>
            </a:r>
          </a:p>
        </p:txBody>
      </p:sp>
      <p:grpSp>
        <p:nvGrpSpPr>
          <p:cNvPr id="6" name="Group 6"/>
          <p:cNvGrpSpPr/>
          <p:nvPr/>
        </p:nvGrpSpPr>
        <p:grpSpPr>
          <a:xfrm>
            <a:off x="904580" y="1794567"/>
            <a:ext cx="5358851" cy="6888509"/>
            <a:chOff x="0" y="0"/>
            <a:chExt cx="7145134" cy="9184678"/>
          </a:xfrm>
        </p:grpSpPr>
        <p:sp>
          <p:nvSpPr>
            <p:cNvPr id="7" name="Freeform 7"/>
            <p:cNvSpPr/>
            <p:nvPr/>
          </p:nvSpPr>
          <p:spPr>
            <a:xfrm>
              <a:off x="19050" y="19050"/>
              <a:ext cx="7107047" cy="9146540"/>
            </a:xfrm>
            <a:custGeom>
              <a:avLst/>
              <a:gdLst/>
              <a:ahLst/>
              <a:cxnLst/>
              <a:rect l="l" t="t" r="r" b="b"/>
              <a:pathLst>
                <a:path w="7107047" h="9146540">
                  <a:moveTo>
                    <a:pt x="0" y="128778"/>
                  </a:moveTo>
                  <a:cubicBezTo>
                    <a:pt x="0" y="57658"/>
                    <a:pt x="57531" y="0"/>
                    <a:pt x="128651" y="0"/>
                  </a:cubicBezTo>
                  <a:lnTo>
                    <a:pt x="6978396" y="0"/>
                  </a:lnTo>
                  <a:cubicBezTo>
                    <a:pt x="7049389" y="0"/>
                    <a:pt x="7107047" y="57658"/>
                    <a:pt x="7107047" y="128778"/>
                  </a:cubicBezTo>
                  <a:lnTo>
                    <a:pt x="7107047" y="9017762"/>
                  </a:lnTo>
                  <a:cubicBezTo>
                    <a:pt x="7107047" y="9088882"/>
                    <a:pt x="7049515" y="9146540"/>
                    <a:pt x="6978396" y="9146540"/>
                  </a:cubicBezTo>
                  <a:lnTo>
                    <a:pt x="128651" y="9146540"/>
                  </a:lnTo>
                  <a:cubicBezTo>
                    <a:pt x="57658" y="9146540"/>
                    <a:pt x="0" y="9088882"/>
                    <a:pt x="0" y="9017762"/>
                  </a:cubicBezTo>
                  <a:close/>
                </a:path>
              </a:pathLst>
            </a:custGeom>
            <a:solidFill>
              <a:srgbClr val="000018">
                <a:alpha val="90196"/>
              </a:srgbClr>
            </a:solidFill>
            <a:ln w="12700">
              <a:solidFill>
                <a:srgbClr val="000000"/>
              </a:solidFill>
            </a:ln>
          </p:spPr>
          <p:txBody>
            <a:bodyPr/>
            <a:lstStyle/>
            <a:p>
              <a:endParaRPr lang="en-IN"/>
            </a:p>
          </p:txBody>
        </p:sp>
        <p:sp>
          <p:nvSpPr>
            <p:cNvPr id="8" name="Freeform 8"/>
            <p:cNvSpPr/>
            <p:nvPr/>
          </p:nvSpPr>
          <p:spPr>
            <a:xfrm>
              <a:off x="0" y="0"/>
              <a:ext cx="7145147" cy="9184640"/>
            </a:xfrm>
            <a:custGeom>
              <a:avLst/>
              <a:gdLst/>
              <a:ahLst/>
              <a:cxnLst/>
              <a:rect l="l" t="t" r="r" b="b"/>
              <a:pathLst>
                <a:path w="7145147" h="9184640">
                  <a:moveTo>
                    <a:pt x="0" y="147828"/>
                  </a:moveTo>
                  <a:cubicBezTo>
                    <a:pt x="0" y="66167"/>
                    <a:pt x="66040" y="0"/>
                    <a:pt x="147701" y="0"/>
                  </a:cubicBezTo>
                  <a:lnTo>
                    <a:pt x="6997446" y="0"/>
                  </a:lnTo>
                  <a:lnTo>
                    <a:pt x="6997446" y="19050"/>
                  </a:lnTo>
                  <a:lnTo>
                    <a:pt x="6997446" y="0"/>
                  </a:lnTo>
                  <a:cubicBezTo>
                    <a:pt x="7078980" y="0"/>
                    <a:pt x="7145147" y="66167"/>
                    <a:pt x="7145147" y="147828"/>
                  </a:cubicBezTo>
                  <a:lnTo>
                    <a:pt x="7126097" y="147828"/>
                  </a:lnTo>
                  <a:lnTo>
                    <a:pt x="7145147" y="147828"/>
                  </a:lnTo>
                  <a:lnTo>
                    <a:pt x="7145147" y="9036812"/>
                  </a:lnTo>
                  <a:lnTo>
                    <a:pt x="7126097" y="9036812"/>
                  </a:lnTo>
                  <a:lnTo>
                    <a:pt x="7145147" y="9036812"/>
                  </a:lnTo>
                  <a:cubicBezTo>
                    <a:pt x="7145147" y="9118473"/>
                    <a:pt x="7079107" y="9184640"/>
                    <a:pt x="6997446" y="9184640"/>
                  </a:cubicBezTo>
                  <a:lnTo>
                    <a:pt x="6997446" y="9165590"/>
                  </a:lnTo>
                  <a:lnTo>
                    <a:pt x="6997446" y="9184640"/>
                  </a:lnTo>
                  <a:lnTo>
                    <a:pt x="147701" y="9184640"/>
                  </a:lnTo>
                  <a:lnTo>
                    <a:pt x="147701" y="9165590"/>
                  </a:lnTo>
                  <a:lnTo>
                    <a:pt x="147701" y="9184640"/>
                  </a:lnTo>
                  <a:cubicBezTo>
                    <a:pt x="66040" y="9184640"/>
                    <a:pt x="0" y="9118473"/>
                    <a:pt x="0" y="9036812"/>
                  </a:cubicBezTo>
                  <a:lnTo>
                    <a:pt x="0" y="147828"/>
                  </a:lnTo>
                  <a:lnTo>
                    <a:pt x="19050" y="147828"/>
                  </a:lnTo>
                  <a:lnTo>
                    <a:pt x="0" y="147828"/>
                  </a:lnTo>
                  <a:moveTo>
                    <a:pt x="38100" y="147828"/>
                  </a:moveTo>
                  <a:lnTo>
                    <a:pt x="38100" y="9036812"/>
                  </a:lnTo>
                  <a:lnTo>
                    <a:pt x="19050" y="9036812"/>
                  </a:lnTo>
                  <a:lnTo>
                    <a:pt x="38100" y="9036812"/>
                  </a:lnTo>
                  <a:cubicBezTo>
                    <a:pt x="38100" y="9097391"/>
                    <a:pt x="87122" y="9146540"/>
                    <a:pt x="147701" y="9146540"/>
                  </a:cubicBezTo>
                  <a:lnTo>
                    <a:pt x="6997446" y="9146540"/>
                  </a:lnTo>
                  <a:cubicBezTo>
                    <a:pt x="7057898" y="9146540"/>
                    <a:pt x="7107047" y="9097391"/>
                    <a:pt x="7107047" y="9036812"/>
                  </a:cubicBezTo>
                  <a:lnTo>
                    <a:pt x="7107047" y="147828"/>
                  </a:lnTo>
                  <a:cubicBezTo>
                    <a:pt x="7107047" y="87249"/>
                    <a:pt x="7058025" y="38100"/>
                    <a:pt x="6997446" y="38100"/>
                  </a:cubicBezTo>
                  <a:lnTo>
                    <a:pt x="147701" y="38100"/>
                  </a:lnTo>
                  <a:lnTo>
                    <a:pt x="147701" y="19050"/>
                  </a:lnTo>
                  <a:lnTo>
                    <a:pt x="147701" y="38100"/>
                  </a:lnTo>
                  <a:cubicBezTo>
                    <a:pt x="87122" y="38100"/>
                    <a:pt x="38100" y="87249"/>
                    <a:pt x="38100" y="147828"/>
                  </a:cubicBezTo>
                  <a:close/>
                </a:path>
              </a:pathLst>
            </a:custGeom>
            <a:solidFill>
              <a:srgbClr val="313E80"/>
            </a:solidFill>
            <a:ln w="12700">
              <a:solidFill>
                <a:srgbClr val="000000"/>
              </a:solidFill>
            </a:ln>
          </p:spPr>
          <p:txBody>
            <a:bodyPr/>
            <a:lstStyle/>
            <a:p>
              <a:endParaRPr lang="en-IN"/>
            </a:p>
          </p:txBody>
        </p:sp>
      </p:grpSp>
      <p:grpSp>
        <p:nvGrpSpPr>
          <p:cNvPr id="9" name="Group 9"/>
          <p:cNvGrpSpPr/>
          <p:nvPr/>
        </p:nvGrpSpPr>
        <p:grpSpPr>
          <a:xfrm>
            <a:off x="947442" y="1837430"/>
            <a:ext cx="5273126" cy="689077"/>
            <a:chOff x="0" y="0"/>
            <a:chExt cx="7030834" cy="918769"/>
          </a:xfrm>
        </p:grpSpPr>
        <p:sp>
          <p:nvSpPr>
            <p:cNvPr id="10" name="Freeform 10"/>
            <p:cNvSpPr/>
            <p:nvPr/>
          </p:nvSpPr>
          <p:spPr>
            <a:xfrm>
              <a:off x="0" y="0"/>
              <a:ext cx="7030848" cy="918718"/>
            </a:xfrm>
            <a:custGeom>
              <a:avLst/>
              <a:gdLst/>
              <a:ahLst/>
              <a:cxnLst/>
              <a:rect l="l" t="t" r="r" b="b"/>
              <a:pathLst>
                <a:path w="7030848" h="918718">
                  <a:moveTo>
                    <a:pt x="0" y="82931"/>
                  </a:moveTo>
                  <a:cubicBezTo>
                    <a:pt x="0" y="37084"/>
                    <a:pt x="37084" y="0"/>
                    <a:pt x="82931" y="0"/>
                  </a:cubicBezTo>
                  <a:lnTo>
                    <a:pt x="6947916" y="0"/>
                  </a:lnTo>
                  <a:cubicBezTo>
                    <a:pt x="6993763" y="0"/>
                    <a:pt x="7030848" y="37084"/>
                    <a:pt x="7030848" y="82931"/>
                  </a:cubicBezTo>
                  <a:lnTo>
                    <a:pt x="7030848" y="835787"/>
                  </a:lnTo>
                  <a:cubicBezTo>
                    <a:pt x="7030848" y="881634"/>
                    <a:pt x="6993763" y="918718"/>
                    <a:pt x="6947916" y="918718"/>
                  </a:cubicBezTo>
                  <a:lnTo>
                    <a:pt x="82931" y="918718"/>
                  </a:lnTo>
                  <a:cubicBezTo>
                    <a:pt x="37084" y="918718"/>
                    <a:pt x="0" y="881634"/>
                    <a:pt x="0" y="835787"/>
                  </a:cubicBezTo>
                  <a:close/>
                </a:path>
              </a:pathLst>
            </a:custGeom>
            <a:solidFill>
              <a:srgbClr val="182567"/>
            </a:solidFill>
            <a:ln w="12700">
              <a:solidFill>
                <a:srgbClr val="000000"/>
              </a:solidFill>
            </a:ln>
          </p:spPr>
          <p:txBody>
            <a:bodyPr/>
            <a:lstStyle/>
            <a:p>
              <a:endParaRPr lang="en-IN"/>
            </a:p>
          </p:txBody>
        </p:sp>
      </p:grpSp>
      <p:sp>
        <p:nvSpPr>
          <p:cNvPr id="11" name="Freeform 11" descr="preencoded.png"/>
          <p:cNvSpPr/>
          <p:nvPr/>
        </p:nvSpPr>
        <p:spPr>
          <a:xfrm>
            <a:off x="3411741" y="2004860"/>
            <a:ext cx="344538" cy="344538"/>
          </a:xfrm>
          <a:custGeom>
            <a:avLst/>
            <a:gdLst/>
            <a:ahLst/>
            <a:cxnLst/>
            <a:rect l="l" t="t" r="r" b="b"/>
            <a:pathLst>
              <a:path w="344538" h="344538">
                <a:moveTo>
                  <a:pt x="0" y="0"/>
                </a:moveTo>
                <a:lnTo>
                  <a:pt x="344538" y="0"/>
                </a:lnTo>
                <a:lnTo>
                  <a:pt x="344538" y="344538"/>
                </a:lnTo>
                <a:lnTo>
                  <a:pt x="0" y="344538"/>
                </a:lnTo>
                <a:lnTo>
                  <a:pt x="0" y="0"/>
                </a:lnTo>
                <a:close/>
              </a:path>
            </a:pathLst>
          </a:custGeom>
          <a:blipFill>
            <a:blip r:embed="rId4">
              <a:extLst>
                <a:ext uri="{96DAC541-7B7A-43D3-8B79-37D633B846F1}">
                  <asvg:svgBlip xmlns:asvg="http://schemas.microsoft.com/office/drawing/2016/SVG/main" r:embed="rId5"/>
                </a:ext>
              </a:extLst>
            </a:blip>
            <a:stretch>
              <a:fillRect t="-21621" b="-21621"/>
            </a:stretch>
          </a:blipFill>
        </p:spPr>
        <p:txBody>
          <a:bodyPr/>
          <a:lstStyle/>
          <a:p>
            <a:endParaRPr lang="en-IN"/>
          </a:p>
        </p:txBody>
      </p:sp>
      <p:sp>
        <p:nvSpPr>
          <p:cNvPr id="12" name="TextBox 12"/>
          <p:cNvSpPr txBox="1"/>
          <p:nvPr/>
        </p:nvSpPr>
        <p:spPr>
          <a:xfrm>
            <a:off x="1177080" y="2727569"/>
            <a:ext cx="2871340" cy="387401"/>
          </a:xfrm>
          <a:prstGeom prst="rect">
            <a:avLst/>
          </a:prstGeom>
        </p:spPr>
        <p:txBody>
          <a:bodyPr lIns="0" tIns="0" rIns="0" bIns="0" rtlCol="0" anchor="t">
            <a:spAutoFit/>
          </a:bodyPr>
          <a:lstStyle/>
          <a:p>
            <a:pPr algn="l">
              <a:lnSpc>
                <a:spcPts val="2812"/>
              </a:lnSpc>
            </a:pPr>
            <a:r>
              <a:rPr lang="en-US" sz="2249">
                <a:solidFill>
                  <a:srgbClr val="CFD0D8"/>
                </a:solidFill>
                <a:latin typeface="Roboto"/>
                <a:ea typeface="Roboto"/>
                <a:cs typeface="Roboto"/>
                <a:sym typeface="Roboto"/>
              </a:rPr>
              <a:t>Traffic Hotspots</a:t>
            </a:r>
          </a:p>
        </p:txBody>
      </p:sp>
      <p:sp>
        <p:nvSpPr>
          <p:cNvPr id="13" name="TextBox 13"/>
          <p:cNvSpPr txBox="1"/>
          <p:nvPr/>
        </p:nvSpPr>
        <p:spPr>
          <a:xfrm>
            <a:off x="1177080" y="3176588"/>
            <a:ext cx="4813849" cy="443808"/>
          </a:xfrm>
          <a:prstGeom prst="rect">
            <a:avLst/>
          </a:prstGeom>
        </p:spPr>
        <p:txBody>
          <a:bodyPr lIns="0" tIns="0" rIns="0" bIns="0" rtlCol="0" anchor="t">
            <a:spAutoFit/>
          </a:bodyPr>
          <a:lstStyle/>
          <a:p>
            <a:pPr algn="l">
              <a:lnSpc>
                <a:spcPts val="2874"/>
              </a:lnSpc>
            </a:pPr>
            <a:r>
              <a:rPr lang="en-US" sz="1750" b="1">
                <a:solidFill>
                  <a:srgbClr val="CFD0D8"/>
                </a:solidFill>
                <a:latin typeface="Roboto Bold"/>
                <a:ea typeface="Roboto Bold"/>
                <a:cs typeface="Roboto Bold"/>
                <a:sym typeface="Roboto Bold"/>
              </a:rPr>
              <a:t>Begumpet, Lingampally, Gayatri Nagar</a:t>
            </a:r>
          </a:p>
        </p:txBody>
      </p:sp>
      <p:sp>
        <p:nvSpPr>
          <p:cNvPr id="14" name="TextBox 14"/>
          <p:cNvSpPr txBox="1"/>
          <p:nvPr/>
        </p:nvSpPr>
        <p:spPr>
          <a:xfrm>
            <a:off x="1177080" y="3682003"/>
            <a:ext cx="4813849" cy="1179014"/>
          </a:xfrm>
          <a:prstGeom prst="rect">
            <a:avLst/>
          </a:prstGeom>
        </p:spPr>
        <p:txBody>
          <a:bodyPr lIns="0" tIns="0" rIns="0" bIns="0" rtlCol="0" anchor="t">
            <a:spAutoFit/>
          </a:bodyPr>
          <a:lstStyle/>
          <a:p>
            <a:pPr marL="263922" lvl="1" indent="-131961" algn="l">
              <a:lnSpc>
                <a:spcPts val="2874"/>
              </a:lnSpc>
              <a:buAutoNum type="arabicPeriod"/>
            </a:pPr>
            <a:r>
              <a:rPr lang="en-US" sz="1750" b="1">
                <a:solidFill>
                  <a:srgbClr val="CFD0D8"/>
                </a:solidFill>
                <a:latin typeface="Roboto Bold"/>
                <a:ea typeface="Roboto Bold"/>
                <a:cs typeface="Roboto Bold"/>
                <a:sym typeface="Roboto Bold"/>
              </a:rPr>
              <a:t>EV/Bus-Only Corridors:</a:t>
            </a:r>
            <a:r>
              <a:rPr lang="en-US" sz="1750">
                <a:solidFill>
                  <a:srgbClr val="CFD0D8"/>
                </a:solidFill>
                <a:latin typeface="Roboto"/>
                <a:ea typeface="Roboto"/>
                <a:cs typeface="Roboto"/>
                <a:sym typeface="Roboto"/>
              </a:rPr>
              <a:t> Designate 2–3 key routes with charging infrastructure at transit nodes (6–12 months)</a:t>
            </a:r>
          </a:p>
        </p:txBody>
      </p:sp>
      <p:sp>
        <p:nvSpPr>
          <p:cNvPr id="15" name="TextBox 15"/>
          <p:cNvSpPr txBox="1"/>
          <p:nvPr/>
        </p:nvSpPr>
        <p:spPr>
          <a:xfrm>
            <a:off x="1177080" y="4865189"/>
            <a:ext cx="4813849" cy="1179014"/>
          </a:xfrm>
          <a:prstGeom prst="rect">
            <a:avLst/>
          </a:prstGeom>
        </p:spPr>
        <p:txBody>
          <a:bodyPr lIns="0" tIns="0" rIns="0" bIns="0" rtlCol="0" anchor="t">
            <a:spAutoFit/>
          </a:bodyPr>
          <a:lstStyle/>
          <a:p>
            <a:pPr marL="263922" lvl="1" indent="-131961" algn="l">
              <a:lnSpc>
                <a:spcPts val="2874"/>
              </a:lnSpc>
              <a:buAutoNum type="arabicPeriod"/>
            </a:pPr>
            <a:r>
              <a:rPr lang="en-US" sz="1750" b="1">
                <a:solidFill>
                  <a:srgbClr val="CFD0D8"/>
                </a:solidFill>
                <a:latin typeface="Roboto Bold"/>
                <a:ea typeface="Roboto Bold"/>
                <a:cs typeface="Roboto Bold"/>
                <a:sym typeface="Roboto Bold"/>
              </a:rPr>
              <a:t>Metro Extension:</a:t>
            </a:r>
            <a:r>
              <a:rPr lang="en-US" sz="1750">
                <a:solidFill>
                  <a:srgbClr val="CFD0D8"/>
                </a:solidFill>
                <a:latin typeface="Roboto"/>
                <a:ea typeface="Roboto"/>
                <a:cs typeface="Roboto"/>
                <a:sym typeface="Roboto"/>
              </a:rPr>
              <a:t> Prioritize connectivity for areas 2–5 km from existing stations (2–4 years)</a:t>
            </a:r>
          </a:p>
        </p:txBody>
      </p:sp>
      <p:sp>
        <p:nvSpPr>
          <p:cNvPr id="16" name="TextBox 16"/>
          <p:cNvSpPr txBox="1"/>
          <p:nvPr/>
        </p:nvSpPr>
        <p:spPr>
          <a:xfrm>
            <a:off x="1177080" y="6048375"/>
            <a:ext cx="4813849" cy="1179014"/>
          </a:xfrm>
          <a:prstGeom prst="rect">
            <a:avLst/>
          </a:prstGeom>
        </p:spPr>
        <p:txBody>
          <a:bodyPr lIns="0" tIns="0" rIns="0" bIns="0" rtlCol="0" anchor="t">
            <a:spAutoFit/>
          </a:bodyPr>
          <a:lstStyle/>
          <a:p>
            <a:pPr marL="263922" lvl="1" indent="-131961" algn="l">
              <a:lnSpc>
                <a:spcPts val="2874"/>
              </a:lnSpc>
              <a:buAutoNum type="arabicPeriod"/>
            </a:pPr>
            <a:r>
              <a:rPr lang="en-US" sz="1750" b="1">
                <a:solidFill>
                  <a:srgbClr val="CFD0D8"/>
                </a:solidFill>
                <a:latin typeface="Roboto Bold"/>
                <a:ea typeface="Roboto Bold"/>
                <a:cs typeface="Roboto Bold"/>
                <a:sym typeface="Roboto Bold"/>
              </a:rPr>
              <a:t>AI Traffic Signals:</a:t>
            </a:r>
            <a:r>
              <a:rPr lang="en-US" sz="1750">
                <a:solidFill>
                  <a:srgbClr val="CFD0D8"/>
                </a:solidFill>
                <a:latin typeface="Roboto"/>
                <a:ea typeface="Roboto"/>
                <a:cs typeface="Roboto"/>
                <a:sym typeface="Roboto"/>
              </a:rPr>
              <a:t> Deploy real-time optimization reducing idling emissions 10–15% (3–6 months pilot)</a:t>
            </a:r>
          </a:p>
        </p:txBody>
      </p:sp>
      <p:sp>
        <p:nvSpPr>
          <p:cNvPr id="17" name="TextBox 17"/>
          <p:cNvSpPr txBox="1"/>
          <p:nvPr/>
        </p:nvSpPr>
        <p:spPr>
          <a:xfrm>
            <a:off x="1177080" y="7231561"/>
            <a:ext cx="4813849" cy="1179014"/>
          </a:xfrm>
          <a:prstGeom prst="rect">
            <a:avLst/>
          </a:prstGeom>
        </p:spPr>
        <p:txBody>
          <a:bodyPr lIns="0" tIns="0" rIns="0" bIns="0" rtlCol="0" anchor="t">
            <a:spAutoFit/>
          </a:bodyPr>
          <a:lstStyle/>
          <a:p>
            <a:pPr marL="263922" lvl="1" indent="-131961" algn="l">
              <a:lnSpc>
                <a:spcPts val="2874"/>
              </a:lnSpc>
              <a:buAutoNum type="arabicPeriod"/>
            </a:pPr>
            <a:r>
              <a:rPr lang="en-US" sz="1750" b="1">
                <a:solidFill>
                  <a:srgbClr val="CFD0D8"/>
                </a:solidFill>
                <a:latin typeface="Roboto Bold"/>
                <a:ea typeface="Roboto Bold"/>
                <a:cs typeface="Roboto Bold"/>
                <a:sym typeface="Roboto Bold"/>
              </a:rPr>
              <a:t>Congestion Pricing:</a:t>
            </a:r>
            <a:r>
              <a:rPr lang="en-US" sz="1750">
                <a:solidFill>
                  <a:srgbClr val="CFD0D8"/>
                </a:solidFill>
                <a:latin typeface="Roboto"/>
                <a:ea typeface="Roboto"/>
                <a:cs typeface="Roboto"/>
                <a:sym typeface="Roboto"/>
              </a:rPr>
              <a:t> Dynamic peak-hour pricing with revenue funding transit subsidies (6–12 months)</a:t>
            </a:r>
          </a:p>
        </p:txBody>
      </p:sp>
      <p:grpSp>
        <p:nvGrpSpPr>
          <p:cNvPr id="18" name="Group 18"/>
          <p:cNvGrpSpPr/>
          <p:nvPr/>
        </p:nvGrpSpPr>
        <p:grpSpPr>
          <a:xfrm>
            <a:off x="6464503" y="1794567"/>
            <a:ext cx="5358851" cy="6888509"/>
            <a:chOff x="0" y="0"/>
            <a:chExt cx="7145134" cy="9184678"/>
          </a:xfrm>
        </p:grpSpPr>
        <p:sp>
          <p:nvSpPr>
            <p:cNvPr id="19" name="Freeform 19"/>
            <p:cNvSpPr/>
            <p:nvPr/>
          </p:nvSpPr>
          <p:spPr>
            <a:xfrm>
              <a:off x="19050" y="19050"/>
              <a:ext cx="7107047" cy="9146540"/>
            </a:xfrm>
            <a:custGeom>
              <a:avLst/>
              <a:gdLst/>
              <a:ahLst/>
              <a:cxnLst/>
              <a:rect l="l" t="t" r="r" b="b"/>
              <a:pathLst>
                <a:path w="7107047" h="9146540">
                  <a:moveTo>
                    <a:pt x="0" y="128778"/>
                  </a:moveTo>
                  <a:cubicBezTo>
                    <a:pt x="0" y="57658"/>
                    <a:pt x="57531" y="0"/>
                    <a:pt x="128651" y="0"/>
                  </a:cubicBezTo>
                  <a:lnTo>
                    <a:pt x="6978396" y="0"/>
                  </a:lnTo>
                  <a:cubicBezTo>
                    <a:pt x="7049389" y="0"/>
                    <a:pt x="7107047" y="57658"/>
                    <a:pt x="7107047" y="128778"/>
                  </a:cubicBezTo>
                  <a:lnTo>
                    <a:pt x="7107047" y="9017762"/>
                  </a:lnTo>
                  <a:cubicBezTo>
                    <a:pt x="7107047" y="9088882"/>
                    <a:pt x="7049515" y="9146540"/>
                    <a:pt x="6978396" y="9146540"/>
                  </a:cubicBezTo>
                  <a:lnTo>
                    <a:pt x="128651" y="9146540"/>
                  </a:lnTo>
                  <a:cubicBezTo>
                    <a:pt x="57658" y="9146540"/>
                    <a:pt x="0" y="9088882"/>
                    <a:pt x="0" y="9017762"/>
                  </a:cubicBezTo>
                  <a:close/>
                </a:path>
              </a:pathLst>
            </a:custGeom>
            <a:solidFill>
              <a:srgbClr val="000018">
                <a:alpha val="90196"/>
              </a:srgbClr>
            </a:solidFill>
            <a:ln w="12700">
              <a:solidFill>
                <a:srgbClr val="000000"/>
              </a:solidFill>
            </a:ln>
          </p:spPr>
          <p:txBody>
            <a:bodyPr/>
            <a:lstStyle/>
            <a:p>
              <a:endParaRPr lang="en-IN"/>
            </a:p>
          </p:txBody>
        </p:sp>
        <p:sp>
          <p:nvSpPr>
            <p:cNvPr id="20" name="Freeform 20"/>
            <p:cNvSpPr/>
            <p:nvPr/>
          </p:nvSpPr>
          <p:spPr>
            <a:xfrm>
              <a:off x="0" y="0"/>
              <a:ext cx="7145147" cy="9184640"/>
            </a:xfrm>
            <a:custGeom>
              <a:avLst/>
              <a:gdLst/>
              <a:ahLst/>
              <a:cxnLst/>
              <a:rect l="l" t="t" r="r" b="b"/>
              <a:pathLst>
                <a:path w="7145147" h="9184640">
                  <a:moveTo>
                    <a:pt x="0" y="147828"/>
                  </a:moveTo>
                  <a:cubicBezTo>
                    <a:pt x="0" y="66167"/>
                    <a:pt x="66040" y="0"/>
                    <a:pt x="147701" y="0"/>
                  </a:cubicBezTo>
                  <a:lnTo>
                    <a:pt x="6997446" y="0"/>
                  </a:lnTo>
                  <a:lnTo>
                    <a:pt x="6997446" y="19050"/>
                  </a:lnTo>
                  <a:lnTo>
                    <a:pt x="6997446" y="0"/>
                  </a:lnTo>
                  <a:cubicBezTo>
                    <a:pt x="7078980" y="0"/>
                    <a:pt x="7145147" y="66167"/>
                    <a:pt x="7145147" y="147828"/>
                  </a:cubicBezTo>
                  <a:lnTo>
                    <a:pt x="7126097" y="147828"/>
                  </a:lnTo>
                  <a:lnTo>
                    <a:pt x="7145147" y="147828"/>
                  </a:lnTo>
                  <a:lnTo>
                    <a:pt x="7145147" y="9036812"/>
                  </a:lnTo>
                  <a:lnTo>
                    <a:pt x="7126097" y="9036812"/>
                  </a:lnTo>
                  <a:lnTo>
                    <a:pt x="7145147" y="9036812"/>
                  </a:lnTo>
                  <a:cubicBezTo>
                    <a:pt x="7145147" y="9118473"/>
                    <a:pt x="7079107" y="9184640"/>
                    <a:pt x="6997446" y="9184640"/>
                  </a:cubicBezTo>
                  <a:lnTo>
                    <a:pt x="6997446" y="9165590"/>
                  </a:lnTo>
                  <a:lnTo>
                    <a:pt x="6997446" y="9184640"/>
                  </a:lnTo>
                  <a:lnTo>
                    <a:pt x="147701" y="9184640"/>
                  </a:lnTo>
                  <a:lnTo>
                    <a:pt x="147701" y="9165590"/>
                  </a:lnTo>
                  <a:lnTo>
                    <a:pt x="147701" y="9184640"/>
                  </a:lnTo>
                  <a:cubicBezTo>
                    <a:pt x="66040" y="9184640"/>
                    <a:pt x="0" y="9118473"/>
                    <a:pt x="0" y="9036812"/>
                  </a:cubicBezTo>
                  <a:lnTo>
                    <a:pt x="0" y="147828"/>
                  </a:lnTo>
                  <a:lnTo>
                    <a:pt x="19050" y="147828"/>
                  </a:lnTo>
                  <a:lnTo>
                    <a:pt x="0" y="147828"/>
                  </a:lnTo>
                  <a:moveTo>
                    <a:pt x="38100" y="147828"/>
                  </a:moveTo>
                  <a:lnTo>
                    <a:pt x="38100" y="9036812"/>
                  </a:lnTo>
                  <a:lnTo>
                    <a:pt x="19050" y="9036812"/>
                  </a:lnTo>
                  <a:lnTo>
                    <a:pt x="38100" y="9036812"/>
                  </a:lnTo>
                  <a:cubicBezTo>
                    <a:pt x="38100" y="9097391"/>
                    <a:pt x="87122" y="9146540"/>
                    <a:pt x="147701" y="9146540"/>
                  </a:cubicBezTo>
                  <a:lnTo>
                    <a:pt x="6997446" y="9146540"/>
                  </a:lnTo>
                  <a:cubicBezTo>
                    <a:pt x="7057898" y="9146540"/>
                    <a:pt x="7107047" y="9097391"/>
                    <a:pt x="7107047" y="9036812"/>
                  </a:cubicBezTo>
                  <a:lnTo>
                    <a:pt x="7107047" y="147828"/>
                  </a:lnTo>
                  <a:cubicBezTo>
                    <a:pt x="7107047" y="87249"/>
                    <a:pt x="7058025" y="38100"/>
                    <a:pt x="6997446" y="38100"/>
                  </a:cubicBezTo>
                  <a:lnTo>
                    <a:pt x="147701" y="38100"/>
                  </a:lnTo>
                  <a:lnTo>
                    <a:pt x="147701" y="19050"/>
                  </a:lnTo>
                  <a:lnTo>
                    <a:pt x="147701" y="38100"/>
                  </a:lnTo>
                  <a:cubicBezTo>
                    <a:pt x="87122" y="38100"/>
                    <a:pt x="38100" y="87249"/>
                    <a:pt x="38100" y="147828"/>
                  </a:cubicBezTo>
                  <a:close/>
                </a:path>
              </a:pathLst>
            </a:custGeom>
            <a:solidFill>
              <a:srgbClr val="313E80"/>
            </a:solidFill>
            <a:ln w="12700">
              <a:solidFill>
                <a:srgbClr val="000000"/>
              </a:solidFill>
            </a:ln>
          </p:spPr>
          <p:txBody>
            <a:bodyPr/>
            <a:lstStyle/>
            <a:p>
              <a:endParaRPr lang="en-IN"/>
            </a:p>
          </p:txBody>
        </p:sp>
      </p:grpSp>
      <p:grpSp>
        <p:nvGrpSpPr>
          <p:cNvPr id="21" name="Group 21"/>
          <p:cNvGrpSpPr/>
          <p:nvPr/>
        </p:nvGrpSpPr>
        <p:grpSpPr>
          <a:xfrm>
            <a:off x="6507366" y="1837430"/>
            <a:ext cx="5273126" cy="689077"/>
            <a:chOff x="0" y="0"/>
            <a:chExt cx="7030834" cy="918769"/>
          </a:xfrm>
        </p:grpSpPr>
        <p:sp>
          <p:nvSpPr>
            <p:cNvPr id="22" name="Freeform 22"/>
            <p:cNvSpPr/>
            <p:nvPr/>
          </p:nvSpPr>
          <p:spPr>
            <a:xfrm>
              <a:off x="0" y="0"/>
              <a:ext cx="7030848" cy="918718"/>
            </a:xfrm>
            <a:custGeom>
              <a:avLst/>
              <a:gdLst/>
              <a:ahLst/>
              <a:cxnLst/>
              <a:rect l="l" t="t" r="r" b="b"/>
              <a:pathLst>
                <a:path w="7030848" h="918718">
                  <a:moveTo>
                    <a:pt x="0" y="82931"/>
                  </a:moveTo>
                  <a:cubicBezTo>
                    <a:pt x="0" y="37084"/>
                    <a:pt x="37084" y="0"/>
                    <a:pt x="82931" y="0"/>
                  </a:cubicBezTo>
                  <a:lnTo>
                    <a:pt x="6947916" y="0"/>
                  </a:lnTo>
                  <a:cubicBezTo>
                    <a:pt x="6993763" y="0"/>
                    <a:pt x="7030848" y="37084"/>
                    <a:pt x="7030848" y="82931"/>
                  </a:cubicBezTo>
                  <a:lnTo>
                    <a:pt x="7030848" y="835787"/>
                  </a:lnTo>
                  <a:cubicBezTo>
                    <a:pt x="7030848" y="881634"/>
                    <a:pt x="6993763" y="918718"/>
                    <a:pt x="6947916" y="918718"/>
                  </a:cubicBezTo>
                  <a:lnTo>
                    <a:pt x="82931" y="918718"/>
                  </a:lnTo>
                  <a:cubicBezTo>
                    <a:pt x="37084" y="918718"/>
                    <a:pt x="0" y="881634"/>
                    <a:pt x="0" y="835787"/>
                  </a:cubicBezTo>
                  <a:close/>
                </a:path>
              </a:pathLst>
            </a:custGeom>
            <a:solidFill>
              <a:srgbClr val="182567"/>
            </a:solidFill>
            <a:ln w="12700">
              <a:solidFill>
                <a:srgbClr val="000000"/>
              </a:solidFill>
            </a:ln>
          </p:spPr>
          <p:txBody>
            <a:bodyPr/>
            <a:lstStyle/>
            <a:p>
              <a:endParaRPr lang="en-IN"/>
            </a:p>
          </p:txBody>
        </p:sp>
      </p:grpSp>
      <p:sp>
        <p:nvSpPr>
          <p:cNvPr id="23" name="Freeform 23" descr="preencoded.png"/>
          <p:cNvSpPr/>
          <p:nvPr/>
        </p:nvSpPr>
        <p:spPr>
          <a:xfrm>
            <a:off x="8971655" y="2004860"/>
            <a:ext cx="344538" cy="344538"/>
          </a:xfrm>
          <a:custGeom>
            <a:avLst/>
            <a:gdLst/>
            <a:ahLst/>
            <a:cxnLst/>
            <a:rect l="l" t="t" r="r" b="b"/>
            <a:pathLst>
              <a:path w="344538" h="344538">
                <a:moveTo>
                  <a:pt x="0" y="0"/>
                </a:moveTo>
                <a:lnTo>
                  <a:pt x="344538" y="0"/>
                </a:lnTo>
                <a:lnTo>
                  <a:pt x="344538" y="344538"/>
                </a:lnTo>
                <a:lnTo>
                  <a:pt x="0" y="344538"/>
                </a:lnTo>
                <a:lnTo>
                  <a:pt x="0" y="0"/>
                </a:lnTo>
                <a:close/>
              </a:path>
            </a:pathLst>
          </a:custGeom>
          <a:blipFill>
            <a:blip r:embed="rId6">
              <a:extLst>
                <a:ext uri="{96DAC541-7B7A-43D3-8B79-37D633B846F1}">
                  <asvg:svgBlip xmlns:asvg="http://schemas.microsoft.com/office/drawing/2016/SVG/main" r:embed="rId7"/>
                </a:ext>
              </a:extLst>
            </a:blip>
            <a:stretch>
              <a:fillRect t="-4052" b="-4055"/>
            </a:stretch>
          </a:blipFill>
        </p:spPr>
        <p:txBody>
          <a:bodyPr/>
          <a:lstStyle/>
          <a:p>
            <a:endParaRPr lang="en-IN"/>
          </a:p>
        </p:txBody>
      </p:sp>
      <p:sp>
        <p:nvSpPr>
          <p:cNvPr id="24" name="TextBox 24"/>
          <p:cNvSpPr txBox="1"/>
          <p:nvPr/>
        </p:nvSpPr>
        <p:spPr>
          <a:xfrm>
            <a:off x="6737004" y="2727569"/>
            <a:ext cx="2871340" cy="387401"/>
          </a:xfrm>
          <a:prstGeom prst="rect">
            <a:avLst/>
          </a:prstGeom>
        </p:spPr>
        <p:txBody>
          <a:bodyPr lIns="0" tIns="0" rIns="0" bIns="0" rtlCol="0" anchor="t">
            <a:spAutoFit/>
          </a:bodyPr>
          <a:lstStyle/>
          <a:p>
            <a:pPr algn="l">
              <a:lnSpc>
                <a:spcPts val="2812"/>
              </a:lnSpc>
            </a:pPr>
            <a:r>
              <a:rPr lang="en-US" sz="2249">
                <a:solidFill>
                  <a:srgbClr val="CFD0D8"/>
                </a:solidFill>
                <a:latin typeface="Roboto"/>
                <a:ea typeface="Roboto"/>
                <a:cs typeface="Roboto"/>
                <a:sym typeface="Roboto"/>
              </a:rPr>
              <a:t>Industrial Hotspots</a:t>
            </a:r>
          </a:p>
        </p:txBody>
      </p:sp>
      <p:sp>
        <p:nvSpPr>
          <p:cNvPr id="25" name="TextBox 25"/>
          <p:cNvSpPr txBox="1"/>
          <p:nvPr/>
        </p:nvSpPr>
        <p:spPr>
          <a:xfrm>
            <a:off x="6737004" y="3176588"/>
            <a:ext cx="4813849" cy="443808"/>
          </a:xfrm>
          <a:prstGeom prst="rect">
            <a:avLst/>
          </a:prstGeom>
        </p:spPr>
        <p:txBody>
          <a:bodyPr lIns="0" tIns="0" rIns="0" bIns="0" rtlCol="0" anchor="t">
            <a:spAutoFit/>
          </a:bodyPr>
          <a:lstStyle/>
          <a:p>
            <a:pPr algn="l">
              <a:lnSpc>
                <a:spcPts val="2874"/>
              </a:lnSpc>
            </a:pPr>
            <a:r>
              <a:rPr lang="en-US" sz="1750" b="1">
                <a:solidFill>
                  <a:srgbClr val="CFD0D8"/>
                </a:solidFill>
                <a:latin typeface="Roboto Bold"/>
                <a:ea typeface="Roboto Bold"/>
                <a:cs typeface="Roboto Bold"/>
                <a:sym typeface="Roboto Bold"/>
              </a:rPr>
              <a:t>Hadapsar, Jeedimetla</a:t>
            </a:r>
          </a:p>
        </p:txBody>
      </p:sp>
      <p:sp>
        <p:nvSpPr>
          <p:cNvPr id="26" name="TextBox 26"/>
          <p:cNvSpPr txBox="1"/>
          <p:nvPr/>
        </p:nvSpPr>
        <p:spPr>
          <a:xfrm>
            <a:off x="6737004" y="3682003"/>
            <a:ext cx="4813849" cy="1179014"/>
          </a:xfrm>
          <a:prstGeom prst="rect">
            <a:avLst/>
          </a:prstGeom>
        </p:spPr>
        <p:txBody>
          <a:bodyPr lIns="0" tIns="0" rIns="0" bIns="0" rtlCol="0" anchor="t">
            <a:spAutoFit/>
          </a:bodyPr>
          <a:lstStyle/>
          <a:p>
            <a:pPr marL="263922" lvl="1" indent="-131961" algn="l">
              <a:lnSpc>
                <a:spcPts val="2874"/>
              </a:lnSpc>
              <a:buAutoNum type="arabicPeriod"/>
            </a:pPr>
            <a:r>
              <a:rPr lang="en-US" sz="1750" b="1">
                <a:solidFill>
                  <a:srgbClr val="CFD0D8"/>
                </a:solidFill>
                <a:latin typeface="Roboto Bold"/>
                <a:ea typeface="Roboto Bold"/>
                <a:cs typeface="Roboto Bold"/>
                <a:sym typeface="Roboto Bold"/>
              </a:rPr>
              <a:t>Stricter Emission Norms:</a:t>
            </a:r>
            <a:r>
              <a:rPr lang="en-US" sz="1750">
                <a:solidFill>
                  <a:srgbClr val="CFD0D8"/>
                </a:solidFill>
                <a:latin typeface="Roboto"/>
                <a:ea typeface="Roboto"/>
                <a:cs typeface="Roboto"/>
                <a:sym typeface="Roboto"/>
              </a:rPr>
              <a:t> Quarterly SPCB audits with stack monitoring and penalties for non-compliance</a:t>
            </a:r>
          </a:p>
        </p:txBody>
      </p:sp>
      <p:sp>
        <p:nvSpPr>
          <p:cNvPr id="27" name="TextBox 27"/>
          <p:cNvSpPr txBox="1"/>
          <p:nvPr/>
        </p:nvSpPr>
        <p:spPr>
          <a:xfrm>
            <a:off x="6737004" y="4865189"/>
            <a:ext cx="4813849" cy="1179014"/>
          </a:xfrm>
          <a:prstGeom prst="rect">
            <a:avLst/>
          </a:prstGeom>
        </p:spPr>
        <p:txBody>
          <a:bodyPr lIns="0" tIns="0" rIns="0" bIns="0" rtlCol="0" anchor="t">
            <a:spAutoFit/>
          </a:bodyPr>
          <a:lstStyle/>
          <a:p>
            <a:pPr marL="263922" lvl="1" indent="-131961" algn="l">
              <a:lnSpc>
                <a:spcPts val="2874"/>
              </a:lnSpc>
              <a:buAutoNum type="arabicPeriod"/>
            </a:pPr>
            <a:r>
              <a:rPr lang="en-US" sz="1750" b="1">
                <a:solidFill>
                  <a:srgbClr val="CFD0D8"/>
                </a:solidFill>
                <a:latin typeface="Roboto Bold"/>
                <a:ea typeface="Roboto Bold"/>
                <a:cs typeface="Roboto Bold"/>
                <a:sym typeface="Roboto Bold"/>
              </a:rPr>
              <a:t>Fuel Switching:</a:t>
            </a:r>
            <a:r>
              <a:rPr lang="en-US" sz="1750">
                <a:solidFill>
                  <a:srgbClr val="CFD0D8"/>
                </a:solidFill>
                <a:latin typeface="Roboto"/>
                <a:ea typeface="Roboto"/>
                <a:cs typeface="Roboto"/>
                <a:sym typeface="Roboto"/>
              </a:rPr>
              <a:t> Natural gas subsidies for boilers, solar thermal incentives reducing PM2.5 &amp; NOx 20–30%</a:t>
            </a:r>
          </a:p>
        </p:txBody>
      </p:sp>
      <p:sp>
        <p:nvSpPr>
          <p:cNvPr id="28" name="TextBox 28"/>
          <p:cNvSpPr txBox="1"/>
          <p:nvPr/>
        </p:nvSpPr>
        <p:spPr>
          <a:xfrm>
            <a:off x="6737004" y="6048375"/>
            <a:ext cx="4813849" cy="1179014"/>
          </a:xfrm>
          <a:prstGeom prst="rect">
            <a:avLst/>
          </a:prstGeom>
        </p:spPr>
        <p:txBody>
          <a:bodyPr lIns="0" tIns="0" rIns="0" bIns="0" rtlCol="0" anchor="t">
            <a:spAutoFit/>
          </a:bodyPr>
          <a:lstStyle/>
          <a:p>
            <a:pPr marL="263922" lvl="1" indent="-131961" algn="l">
              <a:lnSpc>
                <a:spcPts val="2874"/>
              </a:lnSpc>
              <a:buAutoNum type="arabicPeriod"/>
            </a:pPr>
            <a:r>
              <a:rPr lang="en-US" sz="1750" b="1">
                <a:solidFill>
                  <a:srgbClr val="CFD0D8"/>
                </a:solidFill>
                <a:latin typeface="Roboto Bold"/>
                <a:ea typeface="Roboto Bold"/>
                <a:cs typeface="Roboto Bold"/>
                <a:sym typeface="Roboto Bold"/>
              </a:rPr>
              <a:t>Energy Efficiency:</a:t>
            </a:r>
            <a:r>
              <a:rPr lang="en-US" sz="1750">
                <a:solidFill>
                  <a:srgbClr val="CFD0D8"/>
                </a:solidFill>
                <a:latin typeface="Roboto"/>
                <a:ea typeface="Roboto"/>
                <a:cs typeface="Roboto"/>
                <a:sym typeface="Roboto"/>
              </a:rPr>
              <a:t> ISO 50001 certification incentives with free energy audits (1–2 years adoption)</a:t>
            </a:r>
          </a:p>
        </p:txBody>
      </p:sp>
      <p:sp>
        <p:nvSpPr>
          <p:cNvPr id="29" name="TextBox 29"/>
          <p:cNvSpPr txBox="1"/>
          <p:nvPr/>
        </p:nvSpPr>
        <p:spPr>
          <a:xfrm>
            <a:off x="6737004" y="7231561"/>
            <a:ext cx="4813849" cy="1179014"/>
          </a:xfrm>
          <a:prstGeom prst="rect">
            <a:avLst/>
          </a:prstGeom>
        </p:spPr>
        <p:txBody>
          <a:bodyPr lIns="0" tIns="0" rIns="0" bIns="0" rtlCol="0" anchor="t">
            <a:spAutoFit/>
          </a:bodyPr>
          <a:lstStyle/>
          <a:p>
            <a:pPr marL="263922" lvl="1" indent="-131961" algn="l">
              <a:lnSpc>
                <a:spcPts val="2874"/>
              </a:lnSpc>
              <a:buAutoNum type="arabicPeriod"/>
            </a:pPr>
            <a:r>
              <a:rPr lang="en-US" sz="1750" b="1">
                <a:solidFill>
                  <a:srgbClr val="CFD0D8"/>
                </a:solidFill>
                <a:latin typeface="Roboto Bold"/>
                <a:ea typeface="Roboto Bold"/>
                <a:cs typeface="Roboto Bold"/>
                <a:sym typeface="Roboto Bold"/>
              </a:rPr>
              <a:t>Green Buffers:</a:t>
            </a:r>
            <a:r>
              <a:rPr lang="en-US" sz="1750">
                <a:solidFill>
                  <a:srgbClr val="CFD0D8"/>
                </a:solidFill>
                <a:latin typeface="Roboto"/>
                <a:ea typeface="Roboto"/>
                <a:cs typeface="Roboto"/>
                <a:sym typeface="Roboto"/>
              </a:rPr>
              <a:t> Mandated tree planting around perimeters as natural PM2.5 filters (2–3 years to mature)</a:t>
            </a:r>
          </a:p>
        </p:txBody>
      </p:sp>
      <p:grpSp>
        <p:nvGrpSpPr>
          <p:cNvPr id="30" name="Group 30"/>
          <p:cNvGrpSpPr/>
          <p:nvPr/>
        </p:nvGrpSpPr>
        <p:grpSpPr>
          <a:xfrm>
            <a:off x="12024417" y="1794567"/>
            <a:ext cx="5358851" cy="6888509"/>
            <a:chOff x="0" y="0"/>
            <a:chExt cx="7145134" cy="9184678"/>
          </a:xfrm>
        </p:grpSpPr>
        <p:sp>
          <p:nvSpPr>
            <p:cNvPr id="31" name="Freeform 31"/>
            <p:cNvSpPr/>
            <p:nvPr/>
          </p:nvSpPr>
          <p:spPr>
            <a:xfrm>
              <a:off x="19050" y="19050"/>
              <a:ext cx="7107047" cy="9146540"/>
            </a:xfrm>
            <a:custGeom>
              <a:avLst/>
              <a:gdLst/>
              <a:ahLst/>
              <a:cxnLst/>
              <a:rect l="l" t="t" r="r" b="b"/>
              <a:pathLst>
                <a:path w="7107047" h="9146540">
                  <a:moveTo>
                    <a:pt x="0" y="128778"/>
                  </a:moveTo>
                  <a:cubicBezTo>
                    <a:pt x="0" y="57658"/>
                    <a:pt x="57531" y="0"/>
                    <a:pt x="128651" y="0"/>
                  </a:cubicBezTo>
                  <a:lnTo>
                    <a:pt x="6978396" y="0"/>
                  </a:lnTo>
                  <a:cubicBezTo>
                    <a:pt x="7049389" y="0"/>
                    <a:pt x="7107047" y="57658"/>
                    <a:pt x="7107047" y="128778"/>
                  </a:cubicBezTo>
                  <a:lnTo>
                    <a:pt x="7107047" y="9017762"/>
                  </a:lnTo>
                  <a:cubicBezTo>
                    <a:pt x="7107047" y="9088882"/>
                    <a:pt x="7049515" y="9146540"/>
                    <a:pt x="6978396" y="9146540"/>
                  </a:cubicBezTo>
                  <a:lnTo>
                    <a:pt x="128651" y="9146540"/>
                  </a:lnTo>
                  <a:cubicBezTo>
                    <a:pt x="57658" y="9146540"/>
                    <a:pt x="0" y="9088882"/>
                    <a:pt x="0" y="9017762"/>
                  </a:cubicBezTo>
                  <a:close/>
                </a:path>
              </a:pathLst>
            </a:custGeom>
            <a:solidFill>
              <a:srgbClr val="000018">
                <a:alpha val="90196"/>
              </a:srgbClr>
            </a:solidFill>
            <a:ln w="12700">
              <a:solidFill>
                <a:srgbClr val="000000"/>
              </a:solidFill>
            </a:ln>
          </p:spPr>
          <p:txBody>
            <a:bodyPr/>
            <a:lstStyle/>
            <a:p>
              <a:endParaRPr lang="en-IN"/>
            </a:p>
          </p:txBody>
        </p:sp>
        <p:sp>
          <p:nvSpPr>
            <p:cNvPr id="32" name="Freeform 32"/>
            <p:cNvSpPr/>
            <p:nvPr/>
          </p:nvSpPr>
          <p:spPr>
            <a:xfrm>
              <a:off x="0" y="0"/>
              <a:ext cx="7145147" cy="9184640"/>
            </a:xfrm>
            <a:custGeom>
              <a:avLst/>
              <a:gdLst/>
              <a:ahLst/>
              <a:cxnLst/>
              <a:rect l="l" t="t" r="r" b="b"/>
              <a:pathLst>
                <a:path w="7145147" h="9184640">
                  <a:moveTo>
                    <a:pt x="0" y="147828"/>
                  </a:moveTo>
                  <a:cubicBezTo>
                    <a:pt x="0" y="66167"/>
                    <a:pt x="66040" y="0"/>
                    <a:pt x="147701" y="0"/>
                  </a:cubicBezTo>
                  <a:lnTo>
                    <a:pt x="6997446" y="0"/>
                  </a:lnTo>
                  <a:lnTo>
                    <a:pt x="6997446" y="19050"/>
                  </a:lnTo>
                  <a:lnTo>
                    <a:pt x="6997446" y="0"/>
                  </a:lnTo>
                  <a:cubicBezTo>
                    <a:pt x="7078980" y="0"/>
                    <a:pt x="7145147" y="66167"/>
                    <a:pt x="7145147" y="147828"/>
                  </a:cubicBezTo>
                  <a:lnTo>
                    <a:pt x="7126097" y="147828"/>
                  </a:lnTo>
                  <a:lnTo>
                    <a:pt x="7145147" y="147828"/>
                  </a:lnTo>
                  <a:lnTo>
                    <a:pt x="7145147" y="9036812"/>
                  </a:lnTo>
                  <a:lnTo>
                    <a:pt x="7126097" y="9036812"/>
                  </a:lnTo>
                  <a:lnTo>
                    <a:pt x="7145147" y="9036812"/>
                  </a:lnTo>
                  <a:cubicBezTo>
                    <a:pt x="7145147" y="9118473"/>
                    <a:pt x="7079107" y="9184640"/>
                    <a:pt x="6997446" y="9184640"/>
                  </a:cubicBezTo>
                  <a:lnTo>
                    <a:pt x="6997446" y="9165590"/>
                  </a:lnTo>
                  <a:lnTo>
                    <a:pt x="6997446" y="9184640"/>
                  </a:lnTo>
                  <a:lnTo>
                    <a:pt x="147701" y="9184640"/>
                  </a:lnTo>
                  <a:lnTo>
                    <a:pt x="147701" y="9165590"/>
                  </a:lnTo>
                  <a:lnTo>
                    <a:pt x="147701" y="9184640"/>
                  </a:lnTo>
                  <a:cubicBezTo>
                    <a:pt x="66040" y="9184640"/>
                    <a:pt x="0" y="9118473"/>
                    <a:pt x="0" y="9036812"/>
                  </a:cubicBezTo>
                  <a:lnTo>
                    <a:pt x="0" y="147828"/>
                  </a:lnTo>
                  <a:lnTo>
                    <a:pt x="19050" y="147828"/>
                  </a:lnTo>
                  <a:lnTo>
                    <a:pt x="0" y="147828"/>
                  </a:lnTo>
                  <a:moveTo>
                    <a:pt x="38100" y="147828"/>
                  </a:moveTo>
                  <a:lnTo>
                    <a:pt x="38100" y="9036812"/>
                  </a:lnTo>
                  <a:lnTo>
                    <a:pt x="19050" y="9036812"/>
                  </a:lnTo>
                  <a:lnTo>
                    <a:pt x="38100" y="9036812"/>
                  </a:lnTo>
                  <a:cubicBezTo>
                    <a:pt x="38100" y="9097391"/>
                    <a:pt x="87122" y="9146540"/>
                    <a:pt x="147701" y="9146540"/>
                  </a:cubicBezTo>
                  <a:lnTo>
                    <a:pt x="6997446" y="9146540"/>
                  </a:lnTo>
                  <a:cubicBezTo>
                    <a:pt x="7057898" y="9146540"/>
                    <a:pt x="7107047" y="9097391"/>
                    <a:pt x="7107047" y="9036812"/>
                  </a:cubicBezTo>
                  <a:lnTo>
                    <a:pt x="7107047" y="147828"/>
                  </a:lnTo>
                  <a:cubicBezTo>
                    <a:pt x="7107047" y="87249"/>
                    <a:pt x="7058025" y="38100"/>
                    <a:pt x="6997446" y="38100"/>
                  </a:cubicBezTo>
                  <a:lnTo>
                    <a:pt x="147701" y="38100"/>
                  </a:lnTo>
                  <a:lnTo>
                    <a:pt x="147701" y="19050"/>
                  </a:lnTo>
                  <a:lnTo>
                    <a:pt x="147701" y="38100"/>
                  </a:lnTo>
                  <a:cubicBezTo>
                    <a:pt x="87122" y="38100"/>
                    <a:pt x="38100" y="87249"/>
                    <a:pt x="38100" y="147828"/>
                  </a:cubicBezTo>
                  <a:close/>
                </a:path>
              </a:pathLst>
            </a:custGeom>
            <a:solidFill>
              <a:srgbClr val="313E80"/>
            </a:solidFill>
            <a:ln w="12700">
              <a:solidFill>
                <a:srgbClr val="000000"/>
              </a:solidFill>
            </a:ln>
          </p:spPr>
          <p:txBody>
            <a:bodyPr/>
            <a:lstStyle/>
            <a:p>
              <a:endParaRPr lang="en-IN"/>
            </a:p>
          </p:txBody>
        </p:sp>
      </p:grpSp>
      <p:grpSp>
        <p:nvGrpSpPr>
          <p:cNvPr id="33" name="Group 33"/>
          <p:cNvGrpSpPr/>
          <p:nvPr/>
        </p:nvGrpSpPr>
        <p:grpSpPr>
          <a:xfrm>
            <a:off x="12067280" y="1837430"/>
            <a:ext cx="5273126" cy="689077"/>
            <a:chOff x="0" y="0"/>
            <a:chExt cx="7030834" cy="918769"/>
          </a:xfrm>
        </p:grpSpPr>
        <p:sp>
          <p:nvSpPr>
            <p:cNvPr id="34" name="Freeform 34"/>
            <p:cNvSpPr/>
            <p:nvPr/>
          </p:nvSpPr>
          <p:spPr>
            <a:xfrm>
              <a:off x="0" y="0"/>
              <a:ext cx="7030848" cy="918718"/>
            </a:xfrm>
            <a:custGeom>
              <a:avLst/>
              <a:gdLst/>
              <a:ahLst/>
              <a:cxnLst/>
              <a:rect l="l" t="t" r="r" b="b"/>
              <a:pathLst>
                <a:path w="7030848" h="918718">
                  <a:moveTo>
                    <a:pt x="0" y="82931"/>
                  </a:moveTo>
                  <a:cubicBezTo>
                    <a:pt x="0" y="37084"/>
                    <a:pt x="37084" y="0"/>
                    <a:pt x="82931" y="0"/>
                  </a:cubicBezTo>
                  <a:lnTo>
                    <a:pt x="6947916" y="0"/>
                  </a:lnTo>
                  <a:cubicBezTo>
                    <a:pt x="6993763" y="0"/>
                    <a:pt x="7030848" y="37084"/>
                    <a:pt x="7030848" y="82931"/>
                  </a:cubicBezTo>
                  <a:lnTo>
                    <a:pt x="7030848" y="835787"/>
                  </a:lnTo>
                  <a:cubicBezTo>
                    <a:pt x="7030848" y="881634"/>
                    <a:pt x="6993763" y="918718"/>
                    <a:pt x="6947916" y="918718"/>
                  </a:cubicBezTo>
                  <a:lnTo>
                    <a:pt x="82931" y="918718"/>
                  </a:lnTo>
                  <a:cubicBezTo>
                    <a:pt x="37084" y="918718"/>
                    <a:pt x="0" y="881634"/>
                    <a:pt x="0" y="835787"/>
                  </a:cubicBezTo>
                  <a:close/>
                </a:path>
              </a:pathLst>
            </a:custGeom>
            <a:solidFill>
              <a:srgbClr val="182567"/>
            </a:solidFill>
            <a:ln w="12700">
              <a:solidFill>
                <a:srgbClr val="000000"/>
              </a:solidFill>
            </a:ln>
          </p:spPr>
          <p:txBody>
            <a:bodyPr/>
            <a:lstStyle/>
            <a:p>
              <a:endParaRPr lang="en-IN"/>
            </a:p>
          </p:txBody>
        </p:sp>
      </p:grpSp>
      <p:sp>
        <p:nvSpPr>
          <p:cNvPr id="35" name="Freeform 35" descr="preencoded.png"/>
          <p:cNvSpPr/>
          <p:nvPr/>
        </p:nvSpPr>
        <p:spPr>
          <a:xfrm>
            <a:off x="14531578" y="2004860"/>
            <a:ext cx="344538" cy="344538"/>
          </a:xfrm>
          <a:custGeom>
            <a:avLst/>
            <a:gdLst/>
            <a:ahLst/>
            <a:cxnLst/>
            <a:rect l="l" t="t" r="r" b="b"/>
            <a:pathLst>
              <a:path w="344538" h="344538">
                <a:moveTo>
                  <a:pt x="0" y="0"/>
                </a:moveTo>
                <a:lnTo>
                  <a:pt x="344538" y="0"/>
                </a:lnTo>
                <a:lnTo>
                  <a:pt x="344538" y="344538"/>
                </a:lnTo>
                <a:lnTo>
                  <a:pt x="0" y="34453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36" name="TextBox 36"/>
          <p:cNvSpPr txBox="1"/>
          <p:nvPr/>
        </p:nvSpPr>
        <p:spPr>
          <a:xfrm>
            <a:off x="12296927" y="2727569"/>
            <a:ext cx="3231356" cy="387401"/>
          </a:xfrm>
          <a:prstGeom prst="rect">
            <a:avLst/>
          </a:prstGeom>
        </p:spPr>
        <p:txBody>
          <a:bodyPr lIns="0" tIns="0" rIns="0" bIns="0" rtlCol="0" anchor="t">
            <a:spAutoFit/>
          </a:bodyPr>
          <a:lstStyle/>
          <a:p>
            <a:pPr algn="l">
              <a:lnSpc>
                <a:spcPts val="2812"/>
              </a:lnSpc>
            </a:pPr>
            <a:r>
              <a:rPr lang="en-US" sz="2249">
                <a:solidFill>
                  <a:srgbClr val="CFD0D8"/>
                </a:solidFill>
                <a:latin typeface="Roboto"/>
                <a:ea typeface="Roboto"/>
                <a:cs typeface="Roboto"/>
                <a:sym typeface="Roboto"/>
              </a:rPr>
              <a:t>Mixed Hotspots (Priority)</a:t>
            </a:r>
          </a:p>
        </p:txBody>
      </p:sp>
      <p:sp>
        <p:nvSpPr>
          <p:cNvPr id="37" name="TextBox 37"/>
          <p:cNvSpPr txBox="1"/>
          <p:nvPr/>
        </p:nvSpPr>
        <p:spPr>
          <a:xfrm>
            <a:off x="12296927" y="3176588"/>
            <a:ext cx="4813849" cy="443808"/>
          </a:xfrm>
          <a:prstGeom prst="rect">
            <a:avLst/>
          </a:prstGeom>
        </p:spPr>
        <p:txBody>
          <a:bodyPr lIns="0" tIns="0" rIns="0" bIns="0" rtlCol="0" anchor="t">
            <a:spAutoFit/>
          </a:bodyPr>
          <a:lstStyle/>
          <a:p>
            <a:pPr algn="l">
              <a:lnSpc>
                <a:spcPts val="2874"/>
              </a:lnSpc>
            </a:pPr>
            <a:r>
              <a:rPr lang="en-US" sz="1750" b="1">
                <a:solidFill>
                  <a:srgbClr val="CFD0D8"/>
                </a:solidFill>
                <a:latin typeface="Roboto Bold"/>
                <a:ea typeface="Roboto Bold"/>
                <a:cs typeface="Roboto Bold"/>
                <a:sym typeface="Roboto Bold"/>
              </a:rPr>
              <a:t>Adikmet, R.K. Nagar, Ameerpet, Somajiguda</a:t>
            </a:r>
          </a:p>
        </p:txBody>
      </p:sp>
      <p:sp>
        <p:nvSpPr>
          <p:cNvPr id="38" name="TextBox 38"/>
          <p:cNvSpPr txBox="1"/>
          <p:nvPr/>
        </p:nvSpPr>
        <p:spPr>
          <a:xfrm>
            <a:off x="12296927" y="3682003"/>
            <a:ext cx="4813849" cy="1179014"/>
          </a:xfrm>
          <a:prstGeom prst="rect">
            <a:avLst/>
          </a:prstGeom>
        </p:spPr>
        <p:txBody>
          <a:bodyPr lIns="0" tIns="0" rIns="0" bIns="0" rtlCol="0" anchor="t">
            <a:spAutoFit/>
          </a:bodyPr>
          <a:lstStyle/>
          <a:p>
            <a:pPr marL="263922" lvl="1" indent="-131961" algn="l">
              <a:lnSpc>
                <a:spcPts val="2874"/>
              </a:lnSpc>
              <a:buAutoNum type="arabicPeriod"/>
            </a:pPr>
            <a:r>
              <a:rPr lang="en-US" sz="1750" b="1">
                <a:solidFill>
                  <a:srgbClr val="CFD0D8"/>
                </a:solidFill>
                <a:latin typeface="Roboto Bold"/>
                <a:ea typeface="Roboto Bold"/>
                <a:cs typeface="Roboto Bold"/>
                <a:sym typeface="Roboto Bold"/>
              </a:rPr>
              <a:t>Integrated Planning:</a:t>
            </a:r>
            <a:r>
              <a:rPr lang="en-US" sz="1750">
                <a:solidFill>
                  <a:srgbClr val="CFD0D8"/>
                </a:solidFill>
                <a:latin typeface="Roboto"/>
                <a:ea typeface="Roboto"/>
                <a:cs typeface="Roboto"/>
                <a:sym typeface="Roboto"/>
              </a:rPr>
              <a:t> Coordinate GHMC transport with SPCB for 15–20% transport + 10% industrial co-benefits</a:t>
            </a:r>
          </a:p>
        </p:txBody>
      </p:sp>
      <p:sp>
        <p:nvSpPr>
          <p:cNvPr id="39" name="TextBox 39"/>
          <p:cNvSpPr txBox="1"/>
          <p:nvPr/>
        </p:nvSpPr>
        <p:spPr>
          <a:xfrm>
            <a:off x="12296927" y="4865189"/>
            <a:ext cx="4813849" cy="1179014"/>
          </a:xfrm>
          <a:prstGeom prst="rect">
            <a:avLst/>
          </a:prstGeom>
        </p:spPr>
        <p:txBody>
          <a:bodyPr lIns="0" tIns="0" rIns="0" bIns="0" rtlCol="0" anchor="t">
            <a:spAutoFit/>
          </a:bodyPr>
          <a:lstStyle/>
          <a:p>
            <a:pPr marL="263922" lvl="1" indent="-131961" algn="l">
              <a:lnSpc>
                <a:spcPts val="2874"/>
              </a:lnSpc>
              <a:buAutoNum type="arabicPeriod"/>
            </a:pPr>
            <a:r>
              <a:rPr lang="en-US" sz="1750" b="1">
                <a:solidFill>
                  <a:srgbClr val="CFD0D8"/>
                </a:solidFill>
                <a:latin typeface="Roboto Bold"/>
                <a:ea typeface="Roboto Bold"/>
                <a:cs typeface="Roboto Bold"/>
                <a:sym typeface="Roboto Bold"/>
              </a:rPr>
              <a:t>Multi-Modal TOD:</a:t>
            </a:r>
            <a:r>
              <a:rPr lang="en-US" sz="1750">
                <a:solidFill>
                  <a:srgbClr val="CFD0D8"/>
                </a:solidFill>
                <a:latin typeface="Roboto"/>
                <a:ea typeface="Roboto"/>
                <a:cs typeface="Roboto"/>
                <a:sym typeface="Roboto"/>
              </a:rPr>
              <a:t> Transit hubs mixing residential, commercial, green space reducing commute distance 30–40%</a:t>
            </a:r>
          </a:p>
        </p:txBody>
      </p:sp>
      <p:sp>
        <p:nvSpPr>
          <p:cNvPr id="40" name="TextBox 40"/>
          <p:cNvSpPr txBox="1"/>
          <p:nvPr/>
        </p:nvSpPr>
        <p:spPr>
          <a:xfrm>
            <a:off x="12296927" y="6048375"/>
            <a:ext cx="4813849" cy="1179014"/>
          </a:xfrm>
          <a:prstGeom prst="rect">
            <a:avLst/>
          </a:prstGeom>
        </p:spPr>
        <p:txBody>
          <a:bodyPr lIns="0" tIns="0" rIns="0" bIns="0" rtlCol="0" anchor="t">
            <a:spAutoFit/>
          </a:bodyPr>
          <a:lstStyle/>
          <a:p>
            <a:pPr marL="263922" lvl="1" indent="-131961" algn="l">
              <a:lnSpc>
                <a:spcPts val="2874"/>
              </a:lnSpc>
              <a:buAutoNum type="arabicPeriod"/>
            </a:pPr>
            <a:r>
              <a:rPr lang="en-US" sz="1750" b="1">
                <a:solidFill>
                  <a:srgbClr val="CFD0D8"/>
                </a:solidFill>
                <a:latin typeface="Roboto Bold"/>
                <a:ea typeface="Roboto Bold"/>
                <a:cs typeface="Roboto Bold"/>
                <a:sym typeface="Roboto Bold"/>
              </a:rPr>
              <a:t>Fleet Electrification:</a:t>
            </a:r>
            <a:r>
              <a:rPr lang="en-US" sz="1750">
                <a:solidFill>
                  <a:srgbClr val="CFD0D8"/>
                </a:solidFill>
                <a:latin typeface="Roboto"/>
                <a:ea typeface="Roboto"/>
                <a:cs typeface="Roboto"/>
                <a:sym typeface="Roboto"/>
              </a:rPr>
              <a:t> Incentivize delivery companies for logistics hub conversion (1–2 years)</a:t>
            </a:r>
          </a:p>
        </p:txBody>
      </p:sp>
      <p:sp>
        <p:nvSpPr>
          <p:cNvPr id="41" name="TextBox 41"/>
          <p:cNvSpPr txBox="1"/>
          <p:nvPr/>
        </p:nvSpPr>
        <p:spPr>
          <a:xfrm>
            <a:off x="12296927" y="7231561"/>
            <a:ext cx="4813849" cy="1179014"/>
          </a:xfrm>
          <a:prstGeom prst="rect">
            <a:avLst/>
          </a:prstGeom>
        </p:spPr>
        <p:txBody>
          <a:bodyPr lIns="0" tIns="0" rIns="0" bIns="0" rtlCol="0" anchor="t">
            <a:spAutoFit/>
          </a:bodyPr>
          <a:lstStyle/>
          <a:p>
            <a:pPr marL="263922" lvl="1" indent="-131961" algn="l">
              <a:lnSpc>
                <a:spcPts val="2874"/>
              </a:lnSpc>
              <a:buAutoNum type="arabicPeriod"/>
            </a:pPr>
            <a:r>
              <a:rPr lang="en-US" sz="1750" b="1">
                <a:solidFill>
                  <a:srgbClr val="CFD0D8"/>
                </a:solidFill>
                <a:latin typeface="Roboto Bold"/>
                <a:ea typeface="Roboto Bold"/>
                <a:cs typeface="Roboto Bold"/>
                <a:sym typeface="Roboto Bold"/>
              </a:rPr>
              <a:t>Community Campaigns:</a:t>
            </a:r>
            <a:r>
              <a:rPr lang="en-US" sz="1750">
                <a:solidFill>
                  <a:srgbClr val="CFD0D8"/>
                </a:solidFill>
                <a:latin typeface="Roboto"/>
                <a:ea typeface="Roboto"/>
                <a:cs typeface="Roboto"/>
                <a:sym typeface="Roboto"/>
              </a:rPr>
              <a:t> Public health messaging encouraging carpooling and transit adoption</a:t>
            </a:r>
          </a:p>
        </p:txBody>
      </p:sp>
      <p:sp>
        <p:nvSpPr>
          <p:cNvPr id="42" name="TextBox 42"/>
          <p:cNvSpPr txBox="1"/>
          <p:nvPr/>
        </p:nvSpPr>
        <p:spPr>
          <a:xfrm>
            <a:off x="918867" y="8850954"/>
            <a:ext cx="16450266" cy="811416"/>
          </a:xfrm>
          <a:prstGeom prst="rect">
            <a:avLst/>
          </a:prstGeom>
        </p:spPr>
        <p:txBody>
          <a:bodyPr lIns="0" tIns="0" rIns="0" bIns="0" rtlCol="0" anchor="t">
            <a:spAutoFit/>
          </a:bodyPr>
          <a:lstStyle/>
          <a:p>
            <a:pPr algn="l">
              <a:lnSpc>
                <a:spcPts val="2874"/>
              </a:lnSpc>
            </a:pPr>
            <a:r>
              <a:rPr lang="en-US" sz="1750">
                <a:solidFill>
                  <a:srgbClr val="CFD0D8"/>
                </a:solidFill>
                <a:latin typeface="Roboto"/>
                <a:ea typeface="Roboto"/>
                <a:cs typeface="Roboto"/>
                <a:sym typeface="Roboto"/>
              </a:rPr>
              <a:t>These proven solutions—deployed successfully in Delhi, Bangalore, Copenhagen, and Shanghai—require implementation focus on hotspots first for maximum impact.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18">
                <a:alpha val="90196"/>
              </a:srgbClr>
            </a:solidFill>
            <a:ln w="12700">
              <a:solidFill>
                <a:srgbClr val="000000"/>
              </a:solidFill>
            </a:ln>
          </p:spPr>
          <p:txBody>
            <a:bodyPr/>
            <a:lstStyle/>
            <a:p>
              <a:endParaRPr lang="en-IN"/>
            </a:p>
          </p:txBody>
        </p:sp>
      </p:grpSp>
      <p:sp>
        <p:nvSpPr>
          <p:cNvPr id="5" name="Freeform 5" descr="preencoded.png">
            <a:hlinkClick r:id="rId4" tooltip="https://gamma.app/?utm_source=made-with-gamma"/>
          </p:cNvPr>
          <p:cNvSpPr/>
          <p:nvPr/>
        </p:nvSpPr>
        <p:spPr>
          <a:xfrm>
            <a:off x="16049015" y="9686925"/>
            <a:ext cx="2153260" cy="514350"/>
          </a:xfrm>
          <a:custGeom>
            <a:avLst/>
            <a:gdLst/>
            <a:ahLst/>
            <a:cxnLst/>
            <a:rect l="l" t="t" r="r" b="b"/>
            <a:pathLst>
              <a:path w="2153260" h="514350">
                <a:moveTo>
                  <a:pt x="0" y="0"/>
                </a:moveTo>
                <a:lnTo>
                  <a:pt x="2153260" y="0"/>
                </a:lnTo>
                <a:lnTo>
                  <a:pt x="2153260" y="514350"/>
                </a:lnTo>
                <a:lnTo>
                  <a:pt x="0" y="514350"/>
                </a:lnTo>
                <a:lnTo>
                  <a:pt x="0" y="0"/>
                </a:lnTo>
                <a:close/>
              </a:path>
            </a:pathLst>
          </a:custGeom>
          <a:blipFill>
            <a:blip r:embed="rId5"/>
            <a:stretch>
              <a:fillRect/>
            </a:stretch>
          </a:blipFill>
        </p:spPr>
        <p:txBody>
          <a:bodyPr/>
          <a:lstStyle/>
          <a:p>
            <a:endParaRPr lang="en-IN"/>
          </a:p>
        </p:txBody>
      </p:sp>
      <p:sp>
        <p:nvSpPr>
          <p:cNvPr id="6" name="Freeform 6"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6"/>
            <a:stretch>
              <a:fillRect/>
            </a:stretch>
          </a:blipFill>
        </p:spPr>
        <p:txBody>
          <a:bodyPr/>
          <a:lstStyle/>
          <a:p>
            <a:endParaRPr lang="en-IN"/>
          </a:p>
        </p:txBody>
      </p:sp>
      <p:grpSp>
        <p:nvGrpSpPr>
          <p:cNvPr id="7" name="Group 7"/>
          <p:cNvGrpSpPr/>
          <p:nvPr/>
        </p:nvGrpSpPr>
        <p:grpSpPr>
          <a:xfrm>
            <a:off x="0" y="0"/>
            <a:ext cx="18288000" cy="10287000"/>
            <a:chOff x="0" y="0"/>
            <a:chExt cx="24384000" cy="13716000"/>
          </a:xfrm>
        </p:grpSpPr>
        <p:sp>
          <p:nvSpPr>
            <p:cNvPr id="8" name="Freeform 8"/>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18">
                <a:alpha val="63922"/>
              </a:srgbClr>
            </a:solidFill>
            <a:ln w="12700">
              <a:solidFill>
                <a:srgbClr val="000000"/>
              </a:solidFill>
            </a:ln>
          </p:spPr>
          <p:txBody>
            <a:bodyPr/>
            <a:lstStyle/>
            <a:p>
              <a:endParaRPr lang="en-IN"/>
            </a:p>
          </p:txBody>
        </p:sp>
      </p:grpSp>
      <p:sp>
        <p:nvSpPr>
          <p:cNvPr id="9" name="TextBox 9"/>
          <p:cNvSpPr txBox="1"/>
          <p:nvPr/>
        </p:nvSpPr>
        <p:spPr>
          <a:xfrm>
            <a:off x="788489" y="672998"/>
            <a:ext cx="7670749" cy="644728"/>
          </a:xfrm>
          <a:prstGeom prst="rect">
            <a:avLst/>
          </a:prstGeom>
        </p:spPr>
        <p:txBody>
          <a:bodyPr lIns="0" tIns="0" rIns="0" bIns="0" rtlCol="0" anchor="t">
            <a:spAutoFit/>
          </a:bodyPr>
          <a:lstStyle/>
          <a:p>
            <a:pPr algn="l">
              <a:lnSpc>
                <a:spcPts val="4812"/>
              </a:lnSpc>
            </a:pPr>
            <a:r>
              <a:rPr lang="en-US" sz="3875">
                <a:solidFill>
                  <a:srgbClr val="FFFFFF"/>
                </a:solidFill>
                <a:latin typeface="Roboto"/>
                <a:ea typeface="Roboto"/>
                <a:cs typeface="Roboto"/>
                <a:sym typeface="Roboto"/>
              </a:rPr>
              <a:t>Quantified Climate &amp; Social Impact</a:t>
            </a:r>
          </a:p>
        </p:txBody>
      </p:sp>
      <p:sp>
        <p:nvSpPr>
          <p:cNvPr id="10" name="TextBox 10"/>
          <p:cNvSpPr txBox="1"/>
          <p:nvPr/>
        </p:nvSpPr>
        <p:spPr>
          <a:xfrm>
            <a:off x="788489" y="1377401"/>
            <a:ext cx="2957360" cy="388591"/>
          </a:xfrm>
          <a:prstGeom prst="rect">
            <a:avLst/>
          </a:prstGeom>
        </p:spPr>
        <p:txBody>
          <a:bodyPr lIns="0" tIns="0" rIns="0" bIns="0" rtlCol="0" anchor="t">
            <a:spAutoFit/>
          </a:bodyPr>
          <a:lstStyle/>
          <a:p>
            <a:pPr algn="l">
              <a:lnSpc>
                <a:spcPts val="2875"/>
              </a:lnSpc>
            </a:pPr>
            <a:r>
              <a:rPr lang="en-US" sz="2312" b="1" i="1">
                <a:solidFill>
                  <a:srgbClr val="FFFFFF"/>
                </a:solidFill>
                <a:latin typeface="Roboto Bold Italics"/>
                <a:ea typeface="Roboto Bold Italics"/>
                <a:cs typeface="Roboto Bold Italics"/>
                <a:sym typeface="Roboto Bold Italics"/>
              </a:rPr>
              <a:t>Climate Metrics</a:t>
            </a:r>
          </a:p>
        </p:txBody>
      </p:sp>
      <p:sp>
        <p:nvSpPr>
          <p:cNvPr id="11" name="Freeform 11" descr="preencoded.png"/>
          <p:cNvSpPr/>
          <p:nvPr/>
        </p:nvSpPr>
        <p:spPr>
          <a:xfrm>
            <a:off x="7103564" y="2061715"/>
            <a:ext cx="4080872" cy="4080872"/>
          </a:xfrm>
          <a:custGeom>
            <a:avLst/>
            <a:gdLst/>
            <a:ahLst/>
            <a:cxnLst/>
            <a:rect l="l" t="t" r="r" b="b"/>
            <a:pathLst>
              <a:path w="4080872" h="4080872">
                <a:moveTo>
                  <a:pt x="0" y="0"/>
                </a:moveTo>
                <a:lnTo>
                  <a:pt x="4080872" y="0"/>
                </a:lnTo>
                <a:lnTo>
                  <a:pt x="4080872" y="4080872"/>
                </a:lnTo>
                <a:lnTo>
                  <a:pt x="0" y="4080872"/>
                </a:lnTo>
                <a:lnTo>
                  <a:pt x="0" y="0"/>
                </a:lnTo>
                <a:close/>
              </a:path>
            </a:pathLst>
          </a:custGeom>
          <a:blipFill>
            <a:blip r:embed="rId7"/>
            <a:stretch>
              <a:fillRect/>
            </a:stretch>
          </a:blipFill>
        </p:spPr>
        <p:txBody>
          <a:bodyPr/>
          <a:lstStyle/>
          <a:p>
            <a:endParaRPr lang="en-IN"/>
          </a:p>
        </p:txBody>
      </p:sp>
      <p:sp>
        <p:nvSpPr>
          <p:cNvPr id="12" name="TextBox 12"/>
          <p:cNvSpPr txBox="1"/>
          <p:nvPr/>
        </p:nvSpPr>
        <p:spPr>
          <a:xfrm>
            <a:off x="788489" y="6548590"/>
            <a:ext cx="3992909" cy="564804"/>
          </a:xfrm>
          <a:prstGeom prst="rect">
            <a:avLst/>
          </a:prstGeom>
        </p:spPr>
        <p:txBody>
          <a:bodyPr lIns="0" tIns="0" rIns="0" bIns="0" rtlCol="0" anchor="t">
            <a:spAutoFit/>
          </a:bodyPr>
          <a:lstStyle/>
          <a:p>
            <a:pPr algn="ctr">
              <a:lnSpc>
                <a:spcPts val="5062"/>
              </a:lnSpc>
            </a:pPr>
            <a:r>
              <a:rPr lang="en-US" sz="5062">
                <a:solidFill>
                  <a:srgbClr val="CFD0D8"/>
                </a:solidFill>
                <a:latin typeface="Roboto"/>
                <a:ea typeface="Roboto"/>
                <a:cs typeface="Roboto"/>
                <a:sym typeface="Roboto"/>
              </a:rPr>
              <a:t>6</a:t>
            </a:r>
          </a:p>
        </p:txBody>
      </p:sp>
      <p:sp>
        <p:nvSpPr>
          <p:cNvPr id="13" name="TextBox 13"/>
          <p:cNvSpPr txBox="1"/>
          <p:nvPr/>
        </p:nvSpPr>
        <p:spPr>
          <a:xfrm>
            <a:off x="1552727" y="7340651"/>
            <a:ext cx="2464441" cy="327127"/>
          </a:xfrm>
          <a:prstGeom prst="rect">
            <a:avLst/>
          </a:prstGeom>
        </p:spPr>
        <p:txBody>
          <a:bodyPr lIns="0" tIns="0" rIns="0" bIns="0" rtlCol="0" anchor="t">
            <a:spAutoFit/>
          </a:bodyPr>
          <a:lstStyle/>
          <a:p>
            <a:pPr algn="ctr">
              <a:lnSpc>
                <a:spcPts val="2375"/>
              </a:lnSpc>
            </a:pPr>
            <a:r>
              <a:rPr lang="en-US" sz="1937">
                <a:solidFill>
                  <a:srgbClr val="CFD0D8"/>
                </a:solidFill>
                <a:latin typeface="Roboto"/>
                <a:ea typeface="Roboto"/>
                <a:cs typeface="Roboto"/>
                <a:sym typeface="Roboto"/>
              </a:rPr>
              <a:t>Hotspot Clusters</a:t>
            </a:r>
          </a:p>
        </p:txBody>
      </p:sp>
      <p:sp>
        <p:nvSpPr>
          <p:cNvPr id="14" name="TextBox 14"/>
          <p:cNvSpPr txBox="1"/>
          <p:nvPr/>
        </p:nvSpPr>
        <p:spPr>
          <a:xfrm>
            <a:off x="788489" y="7709745"/>
            <a:ext cx="3992909" cy="1022747"/>
          </a:xfrm>
          <a:prstGeom prst="rect">
            <a:avLst/>
          </a:prstGeom>
        </p:spPr>
        <p:txBody>
          <a:bodyPr lIns="0" tIns="0" rIns="0" bIns="0" rtlCol="0" anchor="t">
            <a:spAutoFit/>
          </a:bodyPr>
          <a:lstStyle/>
          <a:p>
            <a:pPr algn="ctr">
              <a:lnSpc>
                <a:spcPts val="2437"/>
              </a:lnSpc>
            </a:pPr>
            <a:r>
              <a:rPr lang="en-US" sz="1500">
                <a:solidFill>
                  <a:srgbClr val="CFD0D8"/>
                </a:solidFill>
                <a:latin typeface="Roboto"/>
                <a:ea typeface="Roboto"/>
                <a:cs typeface="Roboto"/>
                <a:sym typeface="Roboto"/>
              </a:rPr>
              <a:t>High-priority zones with Emission Index ≥ 0.68, clearly named with geographical precision enabling targeted action</a:t>
            </a:r>
          </a:p>
        </p:txBody>
      </p:sp>
      <p:sp>
        <p:nvSpPr>
          <p:cNvPr id="15" name="TextBox 15"/>
          <p:cNvSpPr txBox="1"/>
          <p:nvPr/>
        </p:nvSpPr>
        <p:spPr>
          <a:xfrm>
            <a:off x="5027714" y="6548590"/>
            <a:ext cx="3993061" cy="564804"/>
          </a:xfrm>
          <a:prstGeom prst="rect">
            <a:avLst/>
          </a:prstGeom>
        </p:spPr>
        <p:txBody>
          <a:bodyPr lIns="0" tIns="0" rIns="0" bIns="0" rtlCol="0" anchor="t">
            <a:spAutoFit/>
          </a:bodyPr>
          <a:lstStyle/>
          <a:p>
            <a:pPr algn="ctr">
              <a:lnSpc>
                <a:spcPts val="5062"/>
              </a:lnSpc>
            </a:pPr>
            <a:r>
              <a:rPr lang="en-US" sz="5062">
                <a:solidFill>
                  <a:srgbClr val="CFD0D8"/>
                </a:solidFill>
                <a:latin typeface="Roboto"/>
                <a:ea typeface="Roboto"/>
                <a:cs typeface="Roboto"/>
                <a:sym typeface="Roboto"/>
              </a:rPr>
              <a:t>10-25%</a:t>
            </a:r>
          </a:p>
        </p:txBody>
      </p:sp>
      <p:sp>
        <p:nvSpPr>
          <p:cNvPr id="16" name="TextBox 16"/>
          <p:cNvSpPr txBox="1"/>
          <p:nvPr/>
        </p:nvSpPr>
        <p:spPr>
          <a:xfrm>
            <a:off x="5702351" y="7340651"/>
            <a:ext cx="2643778" cy="327127"/>
          </a:xfrm>
          <a:prstGeom prst="rect">
            <a:avLst/>
          </a:prstGeom>
        </p:spPr>
        <p:txBody>
          <a:bodyPr lIns="0" tIns="0" rIns="0" bIns="0" rtlCol="0" anchor="t">
            <a:spAutoFit/>
          </a:bodyPr>
          <a:lstStyle/>
          <a:p>
            <a:pPr algn="ctr">
              <a:lnSpc>
                <a:spcPts val="2375"/>
              </a:lnSpc>
            </a:pPr>
            <a:r>
              <a:rPr lang="en-US" sz="1937">
                <a:solidFill>
                  <a:srgbClr val="CFD0D8"/>
                </a:solidFill>
                <a:latin typeface="Roboto"/>
                <a:ea typeface="Roboto"/>
                <a:cs typeface="Roboto"/>
                <a:sym typeface="Roboto"/>
              </a:rPr>
              <a:t>CO₂ Reduction Potential</a:t>
            </a:r>
          </a:p>
        </p:txBody>
      </p:sp>
      <p:sp>
        <p:nvSpPr>
          <p:cNvPr id="17" name="TextBox 17"/>
          <p:cNvSpPr txBox="1"/>
          <p:nvPr/>
        </p:nvSpPr>
        <p:spPr>
          <a:xfrm>
            <a:off x="5027714" y="7709745"/>
            <a:ext cx="3993061" cy="1022747"/>
          </a:xfrm>
          <a:prstGeom prst="rect">
            <a:avLst/>
          </a:prstGeom>
        </p:spPr>
        <p:txBody>
          <a:bodyPr lIns="0" tIns="0" rIns="0" bIns="0" rtlCol="0" anchor="t">
            <a:spAutoFit/>
          </a:bodyPr>
          <a:lstStyle/>
          <a:p>
            <a:pPr algn="ctr">
              <a:lnSpc>
                <a:spcPts val="2437"/>
              </a:lnSpc>
            </a:pPr>
            <a:r>
              <a:rPr lang="en-US" sz="1500">
                <a:solidFill>
                  <a:srgbClr val="CFD0D8"/>
                </a:solidFill>
                <a:latin typeface="Roboto"/>
                <a:ea typeface="Roboto"/>
                <a:cs typeface="Roboto"/>
                <a:sym typeface="Roboto"/>
              </a:rPr>
              <a:t>Achievable through hotspot-specific measures—2–3x faster than city-wide policies</a:t>
            </a:r>
          </a:p>
        </p:txBody>
      </p:sp>
      <p:sp>
        <p:nvSpPr>
          <p:cNvPr id="18" name="TextBox 18"/>
          <p:cNvSpPr txBox="1"/>
          <p:nvPr/>
        </p:nvSpPr>
        <p:spPr>
          <a:xfrm>
            <a:off x="9267082" y="6548590"/>
            <a:ext cx="3993061" cy="564804"/>
          </a:xfrm>
          <a:prstGeom prst="rect">
            <a:avLst/>
          </a:prstGeom>
        </p:spPr>
        <p:txBody>
          <a:bodyPr lIns="0" tIns="0" rIns="0" bIns="0" rtlCol="0" anchor="t">
            <a:spAutoFit/>
          </a:bodyPr>
          <a:lstStyle/>
          <a:p>
            <a:pPr algn="ctr">
              <a:lnSpc>
                <a:spcPts val="5062"/>
              </a:lnSpc>
            </a:pPr>
            <a:r>
              <a:rPr lang="en-US" sz="5062">
                <a:solidFill>
                  <a:srgbClr val="CFD0D8"/>
                </a:solidFill>
                <a:latin typeface="Roboto"/>
                <a:ea typeface="Roboto"/>
                <a:cs typeface="Roboto"/>
                <a:sym typeface="Roboto"/>
              </a:rPr>
              <a:t>600+</a:t>
            </a:r>
          </a:p>
        </p:txBody>
      </p:sp>
      <p:sp>
        <p:nvSpPr>
          <p:cNvPr id="19" name="TextBox 19"/>
          <p:cNvSpPr txBox="1"/>
          <p:nvPr/>
        </p:nvSpPr>
        <p:spPr>
          <a:xfrm>
            <a:off x="10031311" y="7340651"/>
            <a:ext cx="2464441" cy="327127"/>
          </a:xfrm>
          <a:prstGeom prst="rect">
            <a:avLst/>
          </a:prstGeom>
        </p:spPr>
        <p:txBody>
          <a:bodyPr lIns="0" tIns="0" rIns="0" bIns="0" rtlCol="0" anchor="t">
            <a:spAutoFit/>
          </a:bodyPr>
          <a:lstStyle/>
          <a:p>
            <a:pPr algn="ctr">
              <a:lnSpc>
                <a:spcPts val="2375"/>
              </a:lnSpc>
            </a:pPr>
            <a:r>
              <a:rPr lang="en-US" sz="1937">
                <a:solidFill>
                  <a:srgbClr val="CFD0D8"/>
                </a:solidFill>
                <a:latin typeface="Roboto"/>
                <a:ea typeface="Roboto"/>
                <a:cs typeface="Roboto"/>
                <a:sym typeface="Roboto"/>
              </a:rPr>
              <a:t>Grid Cells Mapped</a:t>
            </a:r>
          </a:p>
        </p:txBody>
      </p:sp>
      <p:sp>
        <p:nvSpPr>
          <p:cNvPr id="20" name="TextBox 20"/>
          <p:cNvSpPr txBox="1"/>
          <p:nvPr/>
        </p:nvSpPr>
        <p:spPr>
          <a:xfrm>
            <a:off x="9267082" y="7709745"/>
            <a:ext cx="3993061" cy="1022747"/>
          </a:xfrm>
          <a:prstGeom prst="rect">
            <a:avLst/>
          </a:prstGeom>
        </p:spPr>
        <p:txBody>
          <a:bodyPr lIns="0" tIns="0" rIns="0" bIns="0" rtlCol="0" anchor="t">
            <a:spAutoFit/>
          </a:bodyPr>
          <a:lstStyle/>
          <a:p>
            <a:pPr algn="ctr">
              <a:lnSpc>
                <a:spcPts val="2437"/>
              </a:lnSpc>
            </a:pPr>
            <a:r>
              <a:rPr lang="en-US" sz="1500">
                <a:solidFill>
                  <a:srgbClr val="CFD0D8"/>
                </a:solidFill>
                <a:latin typeface="Roboto"/>
                <a:ea typeface="Roboto"/>
                <a:cs typeface="Roboto"/>
                <a:sym typeface="Roboto"/>
              </a:rPr>
              <a:t>Neighborhood-level granularity vs. 3–5 city-level AQ stations—each cell scored for traffic, industrial impact, and emission index</a:t>
            </a:r>
          </a:p>
        </p:txBody>
      </p:sp>
      <p:sp>
        <p:nvSpPr>
          <p:cNvPr id="21" name="TextBox 21"/>
          <p:cNvSpPr txBox="1"/>
          <p:nvPr/>
        </p:nvSpPr>
        <p:spPr>
          <a:xfrm>
            <a:off x="13506450" y="6548590"/>
            <a:ext cx="3993061" cy="564804"/>
          </a:xfrm>
          <a:prstGeom prst="rect">
            <a:avLst/>
          </a:prstGeom>
        </p:spPr>
        <p:txBody>
          <a:bodyPr lIns="0" tIns="0" rIns="0" bIns="0" rtlCol="0" anchor="t">
            <a:spAutoFit/>
          </a:bodyPr>
          <a:lstStyle/>
          <a:p>
            <a:pPr algn="ctr">
              <a:lnSpc>
                <a:spcPts val="5062"/>
              </a:lnSpc>
            </a:pPr>
            <a:r>
              <a:rPr lang="en-US" sz="5062">
                <a:solidFill>
                  <a:srgbClr val="CFD0D8"/>
                </a:solidFill>
                <a:latin typeface="Roboto"/>
                <a:ea typeface="Roboto"/>
                <a:cs typeface="Roboto"/>
                <a:sym typeface="Roboto"/>
              </a:rPr>
              <a:t>800+</a:t>
            </a:r>
          </a:p>
        </p:txBody>
      </p:sp>
      <p:sp>
        <p:nvSpPr>
          <p:cNvPr id="22" name="TextBox 22"/>
          <p:cNvSpPr txBox="1"/>
          <p:nvPr/>
        </p:nvSpPr>
        <p:spPr>
          <a:xfrm>
            <a:off x="14270679" y="7340651"/>
            <a:ext cx="2464441" cy="327127"/>
          </a:xfrm>
          <a:prstGeom prst="rect">
            <a:avLst/>
          </a:prstGeom>
        </p:spPr>
        <p:txBody>
          <a:bodyPr lIns="0" tIns="0" rIns="0" bIns="0" rtlCol="0" anchor="t">
            <a:spAutoFit/>
          </a:bodyPr>
          <a:lstStyle/>
          <a:p>
            <a:pPr algn="ctr">
              <a:lnSpc>
                <a:spcPts val="2375"/>
              </a:lnSpc>
            </a:pPr>
            <a:r>
              <a:rPr lang="en-US" sz="1937">
                <a:solidFill>
                  <a:srgbClr val="CFD0D8"/>
                </a:solidFill>
                <a:latin typeface="Roboto"/>
                <a:ea typeface="Roboto"/>
                <a:cs typeface="Roboto"/>
                <a:sym typeface="Roboto"/>
              </a:rPr>
              <a:t>AQI Records Analyzed</a:t>
            </a:r>
          </a:p>
        </p:txBody>
      </p:sp>
      <p:sp>
        <p:nvSpPr>
          <p:cNvPr id="23" name="TextBox 23"/>
          <p:cNvSpPr txBox="1"/>
          <p:nvPr/>
        </p:nvSpPr>
        <p:spPr>
          <a:xfrm>
            <a:off x="13506450" y="7709745"/>
            <a:ext cx="3993061" cy="1022747"/>
          </a:xfrm>
          <a:prstGeom prst="rect">
            <a:avLst/>
          </a:prstGeom>
        </p:spPr>
        <p:txBody>
          <a:bodyPr lIns="0" tIns="0" rIns="0" bIns="0" rtlCol="0" anchor="t">
            <a:spAutoFit/>
          </a:bodyPr>
          <a:lstStyle/>
          <a:p>
            <a:pPr algn="ctr">
              <a:lnSpc>
                <a:spcPts val="2437"/>
              </a:lnSpc>
            </a:pPr>
            <a:r>
              <a:rPr lang="en-US" sz="1500">
                <a:solidFill>
                  <a:srgbClr val="CFD0D8"/>
                </a:solidFill>
                <a:latin typeface="Roboto"/>
                <a:ea typeface="Roboto"/>
                <a:cs typeface="Roboto"/>
                <a:sym typeface="Roboto"/>
              </a:rPr>
              <a:t>Time-series validation showing hotspot areas experience 20–30% higher pollution than city average</a:t>
            </a:r>
          </a:p>
        </p:txBody>
      </p:sp>
      <p:sp>
        <p:nvSpPr>
          <p:cNvPr id="24" name="TextBox 24"/>
          <p:cNvSpPr txBox="1"/>
          <p:nvPr/>
        </p:nvSpPr>
        <p:spPr>
          <a:xfrm>
            <a:off x="788489" y="8878043"/>
            <a:ext cx="16711022" cy="707231"/>
          </a:xfrm>
          <a:prstGeom prst="rect">
            <a:avLst/>
          </a:prstGeom>
        </p:spPr>
        <p:txBody>
          <a:bodyPr lIns="0" tIns="0" rIns="0" bIns="0" rtlCol="0" anchor="t">
            <a:spAutoFit/>
          </a:bodyPr>
          <a:lstStyle/>
          <a:p>
            <a:pPr algn="l">
              <a:lnSpc>
                <a:spcPts val="2437"/>
              </a:lnSpc>
            </a:pPr>
            <a:r>
              <a:rPr lang="en-US" sz="1500">
                <a:solidFill>
                  <a:srgbClr val="CFD0D8"/>
                </a:solidFill>
                <a:latin typeface="Roboto"/>
                <a:ea typeface="Roboto"/>
                <a:cs typeface="Roboto"/>
                <a:sym typeface="Roboto"/>
              </a:rPr>
              <a:t>This project created measurable climate impact (6 zones, 10–25% reduction potential) while building social capital through stakeholder engagement, community science, and equitable geographic focus.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18">
                <a:alpha val="90196"/>
              </a:srgbClr>
            </a:solidFill>
            <a:ln w="12700">
              <a:solidFill>
                <a:srgbClr val="000000"/>
              </a:solidFill>
            </a:ln>
          </p:spPr>
          <p:txBody>
            <a:bodyPr/>
            <a:lstStyle/>
            <a:p>
              <a:endParaRPr lang="en-IN"/>
            </a:p>
          </p:txBody>
        </p:sp>
      </p:grpSp>
      <p:sp>
        <p:nvSpPr>
          <p:cNvPr id="5" name="TextBox 5"/>
          <p:cNvSpPr txBox="1"/>
          <p:nvPr/>
        </p:nvSpPr>
        <p:spPr>
          <a:xfrm>
            <a:off x="752323" y="498129"/>
            <a:ext cx="2821629" cy="371770"/>
          </a:xfrm>
          <a:prstGeom prst="rect">
            <a:avLst/>
          </a:prstGeom>
        </p:spPr>
        <p:txBody>
          <a:bodyPr lIns="0" tIns="0" rIns="0" bIns="0" rtlCol="0" anchor="t">
            <a:spAutoFit/>
          </a:bodyPr>
          <a:lstStyle/>
          <a:p>
            <a:pPr algn="l">
              <a:lnSpc>
                <a:spcPts val="2750"/>
              </a:lnSpc>
            </a:pPr>
            <a:r>
              <a:rPr lang="en-US" sz="2187" b="1" i="1">
                <a:solidFill>
                  <a:srgbClr val="FFFFFF"/>
                </a:solidFill>
                <a:latin typeface="Roboto Bold Italics"/>
                <a:ea typeface="Roboto Bold Italics"/>
                <a:cs typeface="Roboto Bold Italics"/>
                <a:sym typeface="Roboto Bold Italics"/>
              </a:rPr>
              <a:t>Social Metrics</a:t>
            </a:r>
          </a:p>
        </p:txBody>
      </p:sp>
      <p:sp>
        <p:nvSpPr>
          <p:cNvPr id="6" name="Freeform 6" descr="preencoded.png"/>
          <p:cNvSpPr/>
          <p:nvPr/>
        </p:nvSpPr>
        <p:spPr>
          <a:xfrm>
            <a:off x="6624190" y="1363418"/>
            <a:ext cx="5058518" cy="5058518"/>
          </a:xfrm>
          <a:custGeom>
            <a:avLst/>
            <a:gdLst/>
            <a:ahLst/>
            <a:cxnLst/>
            <a:rect l="l" t="t" r="r" b="b"/>
            <a:pathLst>
              <a:path w="5058518" h="5058518">
                <a:moveTo>
                  <a:pt x="0" y="0"/>
                </a:moveTo>
                <a:lnTo>
                  <a:pt x="5058518" y="0"/>
                </a:lnTo>
                <a:lnTo>
                  <a:pt x="5058518" y="5058518"/>
                </a:lnTo>
                <a:lnTo>
                  <a:pt x="0" y="5058518"/>
                </a:lnTo>
                <a:lnTo>
                  <a:pt x="0" y="0"/>
                </a:lnTo>
                <a:close/>
              </a:path>
            </a:pathLst>
          </a:custGeom>
          <a:blipFill>
            <a:blip r:embed="rId4"/>
            <a:stretch>
              <a:fillRect/>
            </a:stretch>
          </a:blipFill>
        </p:spPr>
        <p:txBody>
          <a:bodyPr/>
          <a:lstStyle/>
          <a:p>
            <a:endParaRPr lang="en-IN"/>
          </a:p>
        </p:txBody>
      </p:sp>
      <p:grpSp>
        <p:nvGrpSpPr>
          <p:cNvPr id="7" name="Group 7"/>
          <p:cNvGrpSpPr/>
          <p:nvPr/>
        </p:nvGrpSpPr>
        <p:grpSpPr>
          <a:xfrm>
            <a:off x="747560" y="6840141"/>
            <a:ext cx="432645" cy="432645"/>
            <a:chOff x="0" y="0"/>
            <a:chExt cx="576859" cy="576859"/>
          </a:xfrm>
        </p:grpSpPr>
        <p:sp>
          <p:nvSpPr>
            <p:cNvPr id="8" name="Freeform 8"/>
            <p:cNvSpPr/>
            <p:nvPr/>
          </p:nvSpPr>
          <p:spPr>
            <a:xfrm>
              <a:off x="6350" y="6350"/>
              <a:ext cx="564134" cy="564134"/>
            </a:xfrm>
            <a:custGeom>
              <a:avLst/>
              <a:gdLst/>
              <a:ahLst/>
              <a:cxnLst/>
              <a:rect l="l" t="t" r="r" b="b"/>
              <a:pathLst>
                <a:path w="564134" h="564134">
                  <a:moveTo>
                    <a:pt x="0" y="105283"/>
                  </a:moveTo>
                  <a:cubicBezTo>
                    <a:pt x="0" y="47117"/>
                    <a:pt x="47117" y="0"/>
                    <a:pt x="105283" y="0"/>
                  </a:cubicBezTo>
                  <a:lnTo>
                    <a:pt x="458851" y="0"/>
                  </a:lnTo>
                  <a:cubicBezTo>
                    <a:pt x="517017" y="0"/>
                    <a:pt x="564134" y="47117"/>
                    <a:pt x="564134" y="105283"/>
                  </a:cubicBezTo>
                  <a:lnTo>
                    <a:pt x="564134" y="458851"/>
                  </a:lnTo>
                  <a:cubicBezTo>
                    <a:pt x="564134" y="517017"/>
                    <a:pt x="517017" y="564134"/>
                    <a:pt x="458851" y="564134"/>
                  </a:cubicBezTo>
                  <a:lnTo>
                    <a:pt x="105283" y="564134"/>
                  </a:lnTo>
                  <a:cubicBezTo>
                    <a:pt x="47117" y="564134"/>
                    <a:pt x="0" y="517017"/>
                    <a:pt x="0" y="458851"/>
                  </a:cubicBezTo>
                  <a:close/>
                </a:path>
              </a:pathLst>
            </a:custGeom>
            <a:solidFill>
              <a:srgbClr val="182567"/>
            </a:solidFill>
            <a:ln w="12700">
              <a:solidFill>
                <a:srgbClr val="000000"/>
              </a:solidFill>
            </a:ln>
          </p:spPr>
          <p:txBody>
            <a:bodyPr/>
            <a:lstStyle/>
            <a:p>
              <a:endParaRPr lang="en-IN"/>
            </a:p>
          </p:txBody>
        </p:sp>
        <p:sp>
          <p:nvSpPr>
            <p:cNvPr id="9" name="Freeform 9"/>
            <p:cNvSpPr/>
            <p:nvPr/>
          </p:nvSpPr>
          <p:spPr>
            <a:xfrm>
              <a:off x="0" y="0"/>
              <a:ext cx="576834" cy="576834"/>
            </a:xfrm>
            <a:custGeom>
              <a:avLst/>
              <a:gdLst/>
              <a:ahLst/>
              <a:cxnLst/>
              <a:rect l="l" t="t" r="r" b="b"/>
              <a:pathLst>
                <a:path w="576834" h="576834">
                  <a:moveTo>
                    <a:pt x="0" y="111633"/>
                  </a:moveTo>
                  <a:cubicBezTo>
                    <a:pt x="0" y="50038"/>
                    <a:pt x="50038" y="0"/>
                    <a:pt x="111633" y="0"/>
                  </a:cubicBezTo>
                  <a:lnTo>
                    <a:pt x="465201" y="0"/>
                  </a:lnTo>
                  <a:lnTo>
                    <a:pt x="465201" y="6350"/>
                  </a:lnTo>
                  <a:lnTo>
                    <a:pt x="465201" y="0"/>
                  </a:lnTo>
                  <a:lnTo>
                    <a:pt x="465201" y="6350"/>
                  </a:lnTo>
                  <a:lnTo>
                    <a:pt x="465201" y="0"/>
                  </a:lnTo>
                  <a:cubicBezTo>
                    <a:pt x="526923" y="0"/>
                    <a:pt x="576834" y="50038"/>
                    <a:pt x="576834" y="111633"/>
                  </a:cubicBezTo>
                  <a:lnTo>
                    <a:pt x="570484" y="111633"/>
                  </a:lnTo>
                  <a:lnTo>
                    <a:pt x="576834" y="111633"/>
                  </a:lnTo>
                  <a:lnTo>
                    <a:pt x="576834" y="465201"/>
                  </a:lnTo>
                  <a:lnTo>
                    <a:pt x="570484" y="465201"/>
                  </a:lnTo>
                  <a:lnTo>
                    <a:pt x="576834" y="465201"/>
                  </a:lnTo>
                  <a:cubicBezTo>
                    <a:pt x="576834" y="526923"/>
                    <a:pt x="526796" y="576834"/>
                    <a:pt x="465201" y="576834"/>
                  </a:cubicBezTo>
                  <a:lnTo>
                    <a:pt x="465201" y="570484"/>
                  </a:lnTo>
                  <a:lnTo>
                    <a:pt x="465201" y="576834"/>
                  </a:lnTo>
                  <a:lnTo>
                    <a:pt x="111633" y="576834"/>
                  </a:lnTo>
                  <a:lnTo>
                    <a:pt x="111633" y="570484"/>
                  </a:lnTo>
                  <a:lnTo>
                    <a:pt x="111633" y="576834"/>
                  </a:lnTo>
                  <a:cubicBezTo>
                    <a:pt x="50038" y="576834"/>
                    <a:pt x="0" y="526796"/>
                    <a:pt x="0" y="465201"/>
                  </a:cubicBezTo>
                  <a:lnTo>
                    <a:pt x="0" y="111633"/>
                  </a:lnTo>
                  <a:lnTo>
                    <a:pt x="6350" y="111633"/>
                  </a:lnTo>
                  <a:lnTo>
                    <a:pt x="0" y="111633"/>
                  </a:lnTo>
                  <a:moveTo>
                    <a:pt x="12700" y="111633"/>
                  </a:moveTo>
                  <a:lnTo>
                    <a:pt x="12700" y="465201"/>
                  </a:lnTo>
                  <a:lnTo>
                    <a:pt x="6350" y="465201"/>
                  </a:lnTo>
                  <a:lnTo>
                    <a:pt x="12700" y="465201"/>
                  </a:lnTo>
                  <a:cubicBezTo>
                    <a:pt x="12700" y="519811"/>
                    <a:pt x="57023" y="564134"/>
                    <a:pt x="111633" y="564134"/>
                  </a:cubicBezTo>
                  <a:lnTo>
                    <a:pt x="465201" y="564134"/>
                  </a:lnTo>
                  <a:cubicBezTo>
                    <a:pt x="519811" y="564134"/>
                    <a:pt x="564134" y="519811"/>
                    <a:pt x="564134" y="465201"/>
                  </a:cubicBezTo>
                  <a:lnTo>
                    <a:pt x="564134" y="111633"/>
                  </a:lnTo>
                  <a:cubicBezTo>
                    <a:pt x="564134" y="57023"/>
                    <a:pt x="519811" y="12700"/>
                    <a:pt x="465201" y="12700"/>
                  </a:cubicBezTo>
                  <a:lnTo>
                    <a:pt x="111633" y="12700"/>
                  </a:lnTo>
                  <a:lnTo>
                    <a:pt x="111633" y="6350"/>
                  </a:lnTo>
                  <a:lnTo>
                    <a:pt x="111633" y="12700"/>
                  </a:lnTo>
                  <a:cubicBezTo>
                    <a:pt x="57023" y="12700"/>
                    <a:pt x="12700" y="57023"/>
                    <a:pt x="12700" y="111633"/>
                  </a:cubicBezTo>
                  <a:close/>
                </a:path>
              </a:pathLst>
            </a:custGeom>
            <a:solidFill>
              <a:srgbClr val="313E80"/>
            </a:solidFill>
            <a:ln w="12700">
              <a:solidFill>
                <a:srgbClr val="000000"/>
              </a:solidFill>
            </a:ln>
          </p:spPr>
          <p:txBody>
            <a:bodyPr/>
            <a:lstStyle/>
            <a:p>
              <a:endParaRPr lang="en-IN"/>
            </a:p>
          </p:txBody>
        </p:sp>
      </p:grpSp>
      <p:sp>
        <p:nvSpPr>
          <p:cNvPr id="10" name="TextBox 10"/>
          <p:cNvSpPr txBox="1"/>
          <p:nvPr/>
        </p:nvSpPr>
        <p:spPr>
          <a:xfrm>
            <a:off x="1363418" y="6880917"/>
            <a:ext cx="2675334" cy="322507"/>
          </a:xfrm>
          <a:prstGeom prst="rect">
            <a:avLst/>
          </a:prstGeom>
        </p:spPr>
        <p:txBody>
          <a:bodyPr lIns="0" tIns="0" rIns="0" bIns="0" rtlCol="0" anchor="t">
            <a:spAutoFit/>
          </a:bodyPr>
          <a:lstStyle/>
          <a:p>
            <a:pPr algn="l">
              <a:lnSpc>
                <a:spcPts val="2312"/>
              </a:lnSpc>
            </a:pPr>
            <a:r>
              <a:rPr lang="en-US" sz="1812">
                <a:solidFill>
                  <a:srgbClr val="CFD0D8"/>
                </a:solidFill>
                <a:latin typeface="Roboto"/>
                <a:ea typeface="Roboto"/>
                <a:cs typeface="Roboto"/>
                <a:sym typeface="Roboto"/>
              </a:rPr>
              <a:t>5+ Stakeholders Engaged</a:t>
            </a:r>
          </a:p>
        </p:txBody>
      </p:sp>
      <p:sp>
        <p:nvSpPr>
          <p:cNvPr id="11" name="TextBox 11"/>
          <p:cNvSpPr txBox="1"/>
          <p:nvPr/>
        </p:nvSpPr>
        <p:spPr>
          <a:xfrm>
            <a:off x="1363418" y="7249563"/>
            <a:ext cx="7663015" cy="668541"/>
          </a:xfrm>
          <a:prstGeom prst="rect">
            <a:avLst/>
          </a:prstGeom>
        </p:spPr>
        <p:txBody>
          <a:bodyPr lIns="0" tIns="0" rIns="0" bIns="0" rtlCol="0" anchor="t">
            <a:spAutoFit/>
          </a:bodyPr>
          <a:lstStyle/>
          <a:p>
            <a:pPr algn="l">
              <a:lnSpc>
                <a:spcPts val="2312"/>
              </a:lnSpc>
            </a:pPr>
            <a:r>
              <a:rPr lang="en-US" sz="1437">
                <a:solidFill>
                  <a:srgbClr val="CFD0D8"/>
                </a:solidFill>
                <a:latin typeface="Roboto"/>
                <a:ea typeface="Roboto"/>
                <a:cs typeface="Roboto"/>
                <a:sym typeface="Roboto"/>
              </a:rPr>
              <a:t>Faculty mentor, peers, local residents (Ameerpet, Adikmet validating ground conditions), environmental NGOs (ICLEI, Ceres), and expected GHMC planners</a:t>
            </a:r>
          </a:p>
        </p:txBody>
      </p:sp>
      <p:grpSp>
        <p:nvGrpSpPr>
          <p:cNvPr id="12" name="Group 12"/>
          <p:cNvGrpSpPr/>
          <p:nvPr/>
        </p:nvGrpSpPr>
        <p:grpSpPr>
          <a:xfrm>
            <a:off x="9256662" y="6840141"/>
            <a:ext cx="432645" cy="432645"/>
            <a:chOff x="0" y="0"/>
            <a:chExt cx="576859" cy="576859"/>
          </a:xfrm>
        </p:grpSpPr>
        <p:sp>
          <p:nvSpPr>
            <p:cNvPr id="13" name="Freeform 13"/>
            <p:cNvSpPr/>
            <p:nvPr/>
          </p:nvSpPr>
          <p:spPr>
            <a:xfrm>
              <a:off x="6350" y="6350"/>
              <a:ext cx="564134" cy="564134"/>
            </a:xfrm>
            <a:custGeom>
              <a:avLst/>
              <a:gdLst/>
              <a:ahLst/>
              <a:cxnLst/>
              <a:rect l="l" t="t" r="r" b="b"/>
              <a:pathLst>
                <a:path w="564134" h="564134">
                  <a:moveTo>
                    <a:pt x="0" y="105283"/>
                  </a:moveTo>
                  <a:cubicBezTo>
                    <a:pt x="0" y="47117"/>
                    <a:pt x="47117" y="0"/>
                    <a:pt x="105283" y="0"/>
                  </a:cubicBezTo>
                  <a:lnTo>
                    <a:pt x="458851" y="0"/>
                  </a:lnTo>
                  <a:cubicBezTo>
                    <a:pt x="517017" y="0"/>
                    <a:pt x="564134" y="47117"/>
                    <a:pt x="564134" y="105283"/>
                  </a:cubicBezTo>
                  <a:lnTo>
                    <a:pt x="564134" y="458851"/>
                  </a:lnTo>
                  <a:cubicBezTo>
                    <a:pt x="564134" y="517017"/>
                    <a:pt x="517017" y="564134"/>
                    <a:pt x="458851" y="564134"/>
                  </a:cubicBezTo>
                  <a:lnTo>
                    <a:pt x="105283" y="564134"/>
                  </a:lnTo>
                  <a:cubicBezTo>
                    <a:pt x="47117" y="564134"/>
                    <a:pt x="0" y="517017"/>
                    <a:pt x="0" y="458851"/>
                  </a:cubicBezTo>
                  <a:close/>
                </a:path>
              </a:pathLst>
            </a:custGeom>
            <a:solidFill>
              <a:srgbClr val="182567"/>
            </a:solidFill>
            <a:ln w="12700">
              <a:solidFill>
                <a:srgbClr val="000000"/>
              </a:solidFill>
            </a:ln>
          </p:spPr>
          <p:txBody>
            <a:bodyPr/>
            <a:lstStyle/>
            <a:p>
              <a:endParaRPr lang="en-IN"/>
            </a:p>
          </p:txBody>
        </p:sp>
        <p:sp>
          <p:nvSpPr>
            <p:cNvPr id="14" name="Freeform 14"/>
            <p:cNvSpPr/>
            <p:nvPr/>
          </p:nvSpPr>
          <p:spPr>
            <a:xfrm>
              <a:off x="0" y="0"/>
              <a:ext cx="576834" cy="576834"/>
            </a:xfrm>
            <a:custGeom>
              <a:avLst/>
              <a:gdLst/>
              <a:ahLst/>
              <a:cxnLst/>
              <a:rect l="l" t="t" r="r" b="b"/>
              <a:pathLst>
                <a:path w="576834" h="576834">
                  <a:moveTo>
                    <a:pt x="0" y="111633"/>
                  </a:moveTo>
                  <a:cubicBezTo>
                    <a:pt x="0" y="50038"/>
                    <a:pt x="50038" y="0"/>
                    <a:pt x="111633" y="0"/>
                  </a:cubicBezTo>
                  <a:lnTo>
                    <a:pt x="465201" y="0"/>
                  </a:lnTo>
                  <a:lnTo>
                    <a:pt x="465201" y="6350"/>
                  </a:lnTo>
                  <a:lnTo>
                    <a:pt x="465201" y="0"/>
                  </a:lnTo>
                  <a:lnTo>
                    <a:pt x="465201" y="6350"/>
                  </a:lnTo>
                  <a:lnTo>
                    <a:pt x="465201" y="0"/>
                  </a:lnTo>
                  <a:cubicBezTo>
                    <a:pt x="526923" y="0"/>
                    <a:pt x="576834" y="50038"/>
                    <a:pt x="576834" y="111633"/>
                  </a:cubicBezTo>
                  <a:lnTo>
                    <a:pt x="570484" y="111633"/>
                  </a:lnTo>
                  <a:lnTo>
                    <a:pt x="576834" y="111633"/>
                  </a:lnTo>
                  <a:lnTo>
                    <a:pt x="576834" y="465201"/>
                  </a:lnTo>
                  <a:lnTo>
                    <a:pt x="570484" y="465201"/>
                  </a:lnTo>
                  <a:lnTo>
                    <a:pt x="576834" y="465201"/>
                  </a:lnTo>
                  <a:cubicBezTo>
                    <a:pt x="576834" y="526923"/>
                    <a:pt x="526796" y="576834"/>
                    <a:pt x="465201" y="576834"/>
                  </a:cubicBezTo>
                  <a:lnTo>
                    <a:pt x="465201" y="570484"/>
                  </a:lnTo>
                  <a:lnTo>
                    <a:pt x="465201" y="576834"/>
                  </a:lnTo>
                  <a:lnTo>
                    <a:pt x="111633" y="576834"/>
                  </a:lnTo>
                  <a:lnTo>
                    <a:pt x="111633" y="570484"/>
                  </a:lnTo>
                  <a:lnTo>
                    <a:pt x="111633" y="576834"/>
                  </a:lnTo>
                  <a:cubicBezTo>
                    <a:pt x="50038" y="576834"/>
                    <a:pt x="0" y="526796"/>
                    <a:pt x="0" y="465201"/>
                  </a:cubicBezTo>
                  <a:lnTo>
                    <a:pt x="0" y="111633"/>
                  </a:lnTo>
                  <a:lnTo>
                    <a:pt x="6350" y="111633"/>
                  </a:lnTo>
                  <a:lnTo>
                    <a:pt x="0" y="111633"/>
                  </a:lnTo>
                  <a:moveTo>
                    <a:pt x="12700" y="111633"/>
                  </a:moveTo>
                  <a:lnTo>
                    <a:pt x="12700" y="465201"/>
                  </a:lnTo>
                  <a:lnTo>
                    <a:pt x="6350" y="465201"/>
                  </a:lnTo>
                  <a:lnTo>
                    <a:pt x="12700" y="465201"/>
                  </a:lnTo>
                  <a:cubicBezTo>
                    <a:pt x="12700" y="519811"/>
                    <a:pt x="57023" y="564134"/>
                    <a:pt x="111633" y="564134"/>
                  </a:cubicBezTo>
                  <a:lnTo>
                    <a:pt x="465201" y="564134"/>
                  </a:lnTo>
                  <a:cubicBezTo>
                    <a:pt x="519811" y="564134"/>
                    <a:pt x="564134" y="519811"/>
                    <a:pt x="564134" y="465201"/>
                  </a:cubicBezTo>
                  <a:lnTo>
                    <a:pt x="564134" y="111633"/>
                  </a:lnTo>
                  <a:cubicBezTo>
                    <a:pt x="564134" y="57023"/>
                    <a:pt x="519811" y="12700"/>
                    <a:pt x="465201" y="12700"/>
                  </a:cubicBezTo>
                  <a:lnTo>
                    <a:pt x="111633" y="12700"/>
                  </a:lnTo>
                  <a:lnTo>
                    <a:pt x="111633" y="6350"/>
                  </a:lnTo>
                  <a:lnTo>
                    <a:pt x="111633" y="12700"/>
                  </a:lnTo>
                  <a:cubicBezTo>
                    <a:pt x="57023" y="12700"/>
                    <a:pt x="12700" y="57023"/>
                    <a:pt x="12700" y="111633"/>
                  </a:cubicBezTo>
                  <a:close/>
                </a:path>
              </a:pathLst>
            </a:custGeom>
            <a:solidFill>
              <a:srgbClr val="313E80"/>
            </a:solidFill>
            <a:ln w="12700">
              <a:solidFill>
                <a:srgbClr val="000000"/>
              </a:solidFill>
            </a:ln>
          </p:spPr>
          <p:txBody>
            <a:bodyPr/>
            <a:lstStyle/>
            <a:p>
              <a:endParaRPr lang="en-IN"/>
            </a:p>
          </p:txBody>
        </p:sp>
      </p:grpSp>
      <p:sp>
        <p:nvSpPr>
          <p:cNvPr id="15" name="TextBox 15"/>
          <p:cNvSpPr txBox="1"/>
          <p:nvPr/>
        </p:nvSpPr>
        <p:spPr>
          <a:xfrm>
            <a:off x="9872510" y="6880917"/>
            <a:ext cx="2951407" cy="322507"/>
          </a:xfrm>
          <a:prstGeom prst="rect">
            <a:avLst/>
          </a:prstGeom>
        </p:spPr>
        <p:txBody>
          <a:bodyPr lIns="0" tIns="0" rIns="0" bIns="0" rtlCol="0" anchor="t">
            <a:spAutoFit/>
          </a:bodyPr>
          <a:lstStyle/>
          <a:p>
            <a:pPr algn="l">
              <a:lnSpc>
                <a:spcPts val="2312"/>
              </a:lnSpc>
            </a:pPr>
            <a:r>
              <a:rPr lang="en-US" sz="1812">
                <a:solidFill>
                  <a:srgbClr val="CFD0D8"/>
                </a:solidFill>
                <a:latin typeface="Roboto"/>
                <a:ea typeface="Roboto"/>
                <a:cs typeface="Roboto"/>
                <a:sym typeface="Roboto"/>
              </a:rPr>
              <a:t>Public Dashboard Published</a:t>
            </a:r>
          </a:p>
        </p:txBody>
      </p:sp>
      <p:sp>
        <p:nvSpPr>
          <p:cNvPr id="16" name="TextBox 16"/>
          <p:cNvSpPr txBox="1"/>
          <p:nvPr/>
        </p:nvSpPr>
        <p:spPr>
          <a:xfrm>
            <a:off x="9872510" y="7249563"/>
            <a:ext cx="7663158" cy="668541"/>
          </a:xfrm>
          <a:prstGeom prst="rect">
            <a:avLst/>
          </a:prstGeom>
        </p:spPr>
        <p:txBody>
          <a:bodyPr lIns="0" tIns="0" rIns="0" bIns="0" rtlCol="0" anchor="t">
            <a:spAutoFit/>
          </a:bodyPr>
          <a:lstStyle/>
          <a:p>
            <a:pPr algn="l">
              <a:lnSpc>
                <a:spcPts val="2312"/>
              </a:lnSpc>
            </a:pPr>
            <a:r>
              <a:rPr lang="en-US" sz="1437">
                <a:solidFill>
                  <a:srgbClr val="CFD0D8"/>
                </a:solidFill>
                <a:latin typeface="Roboto"/>
                <a:ea typeface="Roboto"/>
                <a:cs typeface="Roboto"/>
                <a:sym typeface="Roboto"/>
              </a:rPr>
              <a:t>Live Tableau Public dashboard with </a:t>
            </a:r>
            <a:r>
              <a:rPr lang="en-US" sz="1437">
                <a:solidFill>
                  <a:srgbClr val="5A6ED8"/>
                </a:solidFill>
                <a:latin typeface="Roboto"/>
                <a:ea typeface="Roboto"/>
                <a:cs typeface="Roboto"/>
                <a:sym typeface="Roboto"/>
              </a:rPr>
              <a:t>#1M1B</a:t>
            </a:r>
            <a:r>
              <a:rPr lang="en-US" sz="1437">
                <a:solidFill>
                  <a:srgbClr val="CFD0D8"/>
                </a:solidFill>
                <a:latin typeface="Roboto"/>
                <a:ea typeface="Roboto"/>
                <a:cs typeface="Roboto"/>
                <a:sym typeface="Roboto"/>
              </a:rPr>
              <a:t> hashtag—200–500 expected views via LinkedIn and shared links, accessible to anyone for exploration</a:t>
            </a:r>
          </a:p>
        </p:txBody>
      </p:sp>
      <p:grpSp>
        <p:nvGrpSpPr>
          <p:cNvPr id="17" name="Group 17"/>
          <p:cNvGrpSpPr/>
          <p:nvPr/>
        </p:nvGrpSpPr>
        <p:grpSpPr>
          <a:xfrm>
            <a:off x="747560" y="8289427"/>
            <a:ext cx="432645" cy="432645"/>
            <a:chOff x="0" y="0"/>
            <a:chExt cx="576859" cy="576859"/>
          </a:xfrm>
        </p:grpSpPr>
        <p:sp>
          <p:nvSpPr>
            <p:cNvPr id="18" name="Freeform 18"/>
            <p:cNvSpPr/>
            <p:nvPr/>
          </p:nvSpPr>
          <p:spPr>
            <a:xfrm>
              <a:off x="6350" y="6350"/>
              <a:ext cx="564134" cy="564134"/>
            </a:xfrm>
            <a:custGeom>
              <a:avLst/>
              <a:gdLst/>
              <a:ahLst/>
              <a:cxnLst/>
              <a:rect l="l" t="t" r="r" b="b"/>
              <a:pathLst>
                <a:path w="564134" h="564134">
                  <a:moveTo>
                    <a:pt x="0" y="105283"/>
                  </a:moveTo>
                  <a:cubicBezTo>
                    <a:pt x="0" y="47117"/>
                    <a:pt x="47117" y="0"/>
                    <a:pt x="105283" y="0"/>
                  </a:cubicBezTo>
                  <a:lnTo>
                    <a:pt x="458851" y="0"/>
                  </a:lnTo>
                  <a:cubicBezTo>
                    <a:pt x="517017" y="0"/>
                    <a:pt x="564134" y="47117"/>
                    <a:pt x="564134" y="105283"/>
                  </a:cubicBezTo>
                  <a:lnTo>
                    <a:pt x="564134" y="458851"/>
                  </a:lnTo>
                  <a:cubicBezTo>
                    <a:pt x="564134" y="517017"/>
                    <a:pt x="517017" y="564134"/>
                    <a:pt x="458851" y="564134"/>
                  </a:cubicBezTo>
                  <a:lnTo>
                    <a:pt x="105283" y="564134"/>
                  </a:lnTo>
                  <a:cubicBezTo>
                    <a:pt x="47117" y="564134"/>
                    <a:pt x="0" y="517017"/>
                    <a:pt x="0" y="458851"/>
                  </a:cubicBezTo>
                  <a:close/>
                </a:path>
              </a:pathLst>
            </a:custGeom>
            <a:solidFill>
              <a:srgbClr val="182567"/>
            </a:solidFill>
            <a:ln w="12700">
              <a:solidFill>
                <a:srgbClr val="000000"/>
              </a:solidFill>
            </a:ln>
          </p:spPr>
          <p:txBody>
            <a:bodyPr/>
            <a:lstStyle/>
            <a:p>
              <a:endParaRPr lang="en-IN"/>
            </a:p>
          </p:txBody>
        </p:sp>
        <p:sp>
          <p:nvSpPr>
            <p:cNvPr id="19" name="Freeform 19"/>
            <p:cNvSpPr/>
            <p:nvPr/>
          </p:nvSpPr>
          <p:spPr>
            <a:xfrm>
              <a:off x="0" y="0"/>
              <a:ext cx="576834" cy="576834"/>
            </a:xfrm>
            <a:custGeom>
              <a:avLst/>
              <a:gdLst/>
              <a:ahLst/>
              <a:cxnLst/>
              <a:rect l="l" t="t" r="r" b="b"/>
              <a:pathLst>
                <a:path w="576834" h="576834">
                  <a:moveTo>
                    <a:pt x="0" y="111633"/>
                  </a:moveTo>
                  <a:cubicBezTo>
                    <a:pt x="0" y="50038"/>
                    <a:pt x="50038" y="0"/>
                    <a:pt x="111633" y="0"/>
                  </a:cubicBezTo>
                  <a:lnTo>
                    <a:pt x="465201" y="0"/>
                  </a:lnTo>
                  <a:lnTo>
                    <a:pt x="465201" y="6350"/>
                  </a:lnTo>
                  <a:lnTo>
                    <a:pt x="465201" y="0"/>
                  </a:lnTo>
                  <a:lnTo>
                    <a:pt x="465201" y="6350"/>
                  </a:lnTo>
                  <a:lnTo>
                    <a:pt x="465201" y="0"/>
                  </a:lnTo>
                  <a:cubicBezTo>
                    <a:pt x="526923" y="0"/>
                    <a:pt x="576834" y="50038"/>
                    <a:pt x="576834" y="111633"/>
                  </a:cubicBezTo>
                  <a:lnTo>
                    <a:pt x="570484" y="111633"/>
                  </a:lnTo>
                  <a:lnTo>
                    <a:pt x="576834" y="111633"/>
                  </a:lnTo>
                  <a:lnTo>
                    <a:pt x="576834" y="465201"/>
                  </a:lnTo>
                  <a:lnTo>
                    <a:pt x="570484" y="465201"/>
                  </a:lnTo>
                  <a:lnTo>
                    <a:pt x="576834" y="465201"/>
                  </a:lnTo>
                  <a:cubicBezTo>
                    <a:pt x="576834" y="526923"/>
                    <a:pt x="526796" y="576834"/>
                    <a:pt x="465201" y="576834"/>
                  </a:cubicBezTo>
                  <a:lnTo>
                    <a:pt x="465201" y="570484"/>
                  </a:lnTo>
                  <a:lnTo>
                    <a:pt x="465201" y="576834"/>
                  </a:lnTo>
                  <a:lnTo>
                    <a:pt x="111633" y="576834"/>
                  </a:lnTo>
                  <a:lnTo>
                    <a:pt x="111633" y="570484"/>
                  </a:lnTo>
                  <a:lnTo>
                    <a:pt x="111633" y="576834"/>
                  </a:lnTo>
                  <a:cubicBezTo>
                    <a:pt x="50038" y="576834"/>
                    <a:pt x="0" y="526796"/>
                    <a:pt x="0" y="465201"/>
                  </a:cubicBezTo>
                  <a:lnTo>
                    <a:pt x="0" y="111633"/>
                  </a:lnTo>
                  <a:lnTo>
                    <a:pt x="6350" y="111633"/>
                  </a:lnTo>
                  <a:lnTo>
                    <a:pt x="0" y="111633"/>
                  </a:lnTo>
                  <a:moveTo>
                    <a:pt x="12700" y="111633"/>
                  </a:moveTo>
                  <a:lnTo>
                    <a:pt x="12700" y="465201"/>
                  </a:lnTo>
                  <a:lnTo>
                    <a:pt x="6350" y="465201"/>
                  </a:lnTo>
                  <a:lnTo>
                    <a:pt x="12700" y="465201"/>
                  </a:lnTo>
                  <a:cubicBezTo>
                    <a:pt x="12700" y="519811"/>
                    <a:pt x="57023" y="564134"/>
                    <a:pt x="111633" y="564134"/>
                  </a:cubicBezTo>
                  <a:lnTo>
                    <a:pt x="465201" y="564134"/>
                  </a:lnTo>
                  <a:cubicBezTo>
                    <a:pt x="519811" y="564134"/>
                    <a:pt x="564134" y="519811"/>
                    <a:pt x="564134" y="465201"/>
                  </a:cubicBezTo>
                  <a:lnTo>
                    <a:pt x="564134" y="111633"/>
                  </a:lnTo>
                  <a:cubicBezTo>
                    <a:pt x="564134" y="57023"/>
                    <a:pt x="519811" y="12700"/>
                    <a:pt x="465201" y="12700"/>
                  </a:cubicBezTo>
                  <a:lnTo>
                    <a:pt x="111633" y="12700"/>
                  </a:lnTo>
                  <a:lnTo>
                    <a:pt x="111633" y="6350"/>
                  </a:lnTo>
                  <a:lnTo>
                    <a:pt x="111633" y="12700"/>
                  </a:lnTo>
                  <a:cubicBezTo>
                    <a:pt x="57023" y="12700"/>
                    <a:pt x="12700" y="57023"/>
                    <a:pt x="12700" y="111633"/>
                  </a:cubicBezTo>
                  <a:close/>
                </a:path>
              </a:pathLst>
            </a:custGeom>
            <a:solidFill>
              <a:srgbClr val="313E80"/>
            </a:solidFill>
            <a:ln w="12700">
              <a:solidFill>
                <a:srgbClr val="000000"/>
              </a:solidFill>
            </a:ln>
          </p:spPr>
          <p:txBody>
            <a:bodyPr/>
            <a:lstStyle/>
            <a:p>
              <a:endParaRPr lang="en-IN"/>
            </a:p>
          </p:txBody>
        </p:sp>
      </p:grpSp>
      <p:sp>
        <p:nvSpPr>
          <p:cNvPr id="20" name="TextBox 20"/>
          <p:cNvSpPr txBox="1"/>
          <p:nvPr/>
        </p:nvSpPr>
        <p:spPr>
          <a:xfrm>
            <a:off x="1363418" y="8330203"/>
            <a:ext cx="2675334" cy="322507"/>
          </a:xfrm>
          <a:prstGeom prst="rect">
            <a:avLst/>
          </a:prstGeom>
        </p:spPr>
        <p:txBody>
          <a:bodyPr lIns="0" tIns="0" rIns="0" bIns="0" rtlCol="0" anchor="t">
            <a:spAutoFit/>
          </a:bodyPr>
          <a:lstStyle/>
          <a:p>
            <a:pPr algn="l">
              <a:lnSpc>
                <a:spcPts val="2312"/>
              </a:lnSpc>
            </a:pPr>
            <a:r>
              <a:rPr lang="en-US" sz="1812">
                <a:solidFill>
                  <a:srgbClr val="CFD0D8"/>
                </a:solidFill>
                <a:latin typeface="Roboto"/>
                <a:ea typeface="Roboto"/>
                <a:cs typeface="Roboto"/>
                <a:sym typeface="Roboto"/>
              </a:rPr>
              <a:t>Citizen Science Roadmap</a:t>
            </a:r>
          </a:p>
        </p:txBody>
      </p:sp>
      <p:sp>
        <p:nvSpPr>
          <p:cNvPr id="21" name="TextBox 21"/>
          <p:cNvSpPr txBox="1"/>
          <p:nvPr/>
        </p:nvSpPr>
        <p:spPr>
          <a:xfrm>
            <a:off x="1363418" y="8698859"/>
            <a:ext cx="7663015" cy="668541"/>
          </a:xfrm>
          <a:prstGeom prst="rect">
            <a:avLst/>
          </a:prstGeom>
        </p:spPr>
        <p:txBody>
          <a:bodyPr lIns="0" tIns="0" rIns="0" bIns="0" rtlCol="0" anchor="t">
            <a:spAutoFit/>
          </a:bodyPr>
          <a:lstStyle/>
          <a:p>
            <a:pPr algn="l">
              <a:lnSpc>
                <a:spcPts val="2312"/>
              </a:lnSpc>
            </a:pPr>
            <a:r>
              <a:rPr lang="en-US" sz="1437">
                <a:solidFill>
                  <a:srgbClr val="CFD0D8"/>
                </a:solidFill>
                <a:latin typeface="Roboto"/>
                <a:ea typeface="Roboto"/>
                <a:cs typeface="Roboto"/>
                <a:sym typeface="Roboto"/>
              </a:rPr>
              <a:t>Plan for 2–3 low-cost PM2.5 sensors in Adikmet and Ameerpet enabling community-led monitoring and local ownership</a:t>
            </a:r>
          </a:p>
        </p:txBody>
      </p:sp>
      <p:grpSp>
        <p:nvGrpSpPr>
          <p:cNvPr id="22" name="Group 22"/>
          <p:cNvGrpSpPr/>
          <p:nvPr/>
        </p:nvGrpSpPr>
        <p:grpSpPr>
          <a:xfrm>
            <a:off x="9256662" y="8289427"/>
            <a:ext cx="432645" cy="432645"/>
            <a:chOff x="0" y="0"/>
            <a:chExt cx="576859" cy="576859"/>
          </a:xfrm>
        </p:grpSpPr>
        <p:sp>
          <p:nvSpPr>
            <p:cNvPr id="23" name="Freeform 23"/>
            <p:cNvSpPr/>
            <p:nvPr/>
          </p:nvSpPr>
          <p:spPr>
            <a:xfrm>
              <a:off x="6350" y="6350"/>
              <a:ext cx="564134" cy="564134"/>
            </a:xfrm>
            <a:custGeom>
              <a:avLst/>
              <a:gdLst/>
              <a:ahLst/>
              <a:cxnLst/>
              <a:rect l="l" t="t" r="r" b="b"/>
              <a:pathLst>
                <a:path w="564134" h="564134">
                  <a:moveTo>
                    <a:pt x="0" y="105283"/>
                  </a:moveTo>
                  <a:cubicBezTo>
                    <a:pt x="0" y="47117"/>
                    <a:pt x="47117" y="0"/>
                    <a:pt x="105283" y="0"/>
                  </a:cubicBezTo>
                  <a:lnTo>
                    <a:pt x="458851" y="0"/>
                  </a:lnTo>
                  <a:cubicBezTo>
                    <a:pt x="517017" y="0"/>
                    <a:pt x="564134" y="47117"/>
                    <a:pt x="564134" y="105283"/>
                  </a:cubicBezTo>
                  <a:lnTo>
                    <a:pt x="564134" y="458851"/>
                  </a:lnTo>
                  <a:cubicBezTo>
                    <a:pt x="564134" y="517017"/>
                    <a:pt x="517017" y="564134"/>
                    <a:pt x="458851" y="564134"/>
                  </a:cubicBezTo>
                  <a:lnTo>
                    <a:pt x="105283" y="564134"/>
                  </a:lnTo>
                  <a:cubicBezTo>
                    <a:pt x="47117" y="564134"/>
                    <a:pt x="0" y="517017"/>
                    <a:pt x="0" y="458851"/>
                  </a:cubicBezTo>
                  <a:close/>
                </a:path>
              </a:pathLst>
            </a:custGeom>
            <a:solidFill>
              <a:srgbClr val="182567"/>
            </a:solidFill>
            <a:ln w="12700">
              <a:solidFill>
                <a:srgbClr val="000000"/>
              </a:solidFill>
            </a:ln>
          </p:spPr>
          <p:txBody>
            <a:bodyPr/>
            <a:lstStyle/>
            <a:p>
              <a:endParaRPr lang="en-IN"/>
            </a:p>
          </p:txBody>
        </p:sp>
        <p:sp>
          <p:nvSpPr>
            <p:cNvPr id="24" name="Freeform 24"/>
            <p:cNvSpPr/>
            <p:nvPr/>
          </p:nvSpPr>
          <p:spPr>
            <a:xfrm>
              <a:off x="0" y="0"/>
              <a:ext cx="576834" cy="576834"/>
            </a:xfrm>
            <a:custGeom>
              <a:avLst/>
              <a:gdLst/>
              <a:ahLst/>
              <a:cxnLst/>
              <a:rect l="l" t="t" r="r" b="b"/>
              <a:pathLst>
                <a:path w="576834" h="576834">
                  <a:moveTo>
                    <a:pt x="0" y="111633"/>
                  </a:moveTo>
                  <a:cubicBezTo>
                    <a:pt x="0" y="50038"/>
                    <a:pt x="50038" y="0"/>
                    <a:pt x="111633" y="0"/>
                  </a:cubicBezTo>
                  <a:lnTo>
                    <a:pt x="465201" y="0"/>
                  </a:lnTo>
                  <a:lnTo>
                    <a:pt x="465201" y="6350"/>
                  </a:lnTo>
                  <a:lnTo>
                    <a:pt x="465201" y="0"/>
                  </a:lnTo>
                  <a:lnTo>
                    <a:pt x="465201" y="6350"/>
                  </a:lnTo>
                  <a:lnTo>
                    <a:pt x="465201" y="0"/>
                  </a:lnTo>
                  <a:cubicBezTo>
                    <a:pt x="526923" y="0"/>
                    <a:pt x="576834" y="50038"/>
                    <a:pt x="576834" y="111633"/>
                  </a:cubicBezTo>
                  <a:lnTo>
                    <a:pt x="570484" y="111633"/>
                  </a:lnTo>
                  <a:lnTo>
                    <a:pt x="576834" y="111633"/>
                  </a:lnTo>
                  <a:lnTo>
                    <a:pt x="576834" y="465201"/>
                  </a:lnTo>
                  <a:lnTo>
                    <a:pt x="570484" y="465201"/>
                  </a:lnTo>
                  <a:lnTo>
                    <a:pt x="576834" y="465201"/>
                  </a:lnTo>
                  <a:cubicBezTo>
                    <a:pt x="576834" y="526923"/>
                    <a:pt x="526796" y="576834"/>
                    <a:pt x="465201" y="576834"/>
                  </a:cubicBezTo>
                  <a:lnTo>
                    <a:pt x="465201" y="570484"/>
                  </a:lnTo>
                  <a:lnTo>
                    <a:pt x="465201" y="576834"/>
                  </a:lnTo>
                  <a:lnTo>
                    <a:pt x="111633" y="576834"/>
                  </a:lnTo>
                  <a:lnTo>
                    <a:pt x="111633" y="570484"/>
                  </a:lnTo>
                  <a:lnTo>
                    <a:pt x="111633" y="576834"/>
                  </a:lnTo>
                  <a:cubicBezTo>
                    <a:pt x="50038" y="576834"/>
                    <a:pt x="0" y="526796"/>
                    <a:pt x="0" y="465201"/>
                  </a:cubicBezTo>
                  <a:lnTo>
                    <a:pt x="0" y="111633"/>
                  </a:lnTo>
                  <a:lnTo>
                    <a:pt x="6350" y="111633"/>
                  </a:lnTo>
                  <a:lnTo>
                    <a:pt x="0" y="111633"/>
                  </a:lnTo>
                  <a:moveTo>
                    <a:pt x="12700" y="111633"/>
                  </a:moveTo>
                  <a:lnTo>
                    <a:pt x="12700" y="465201"/>
                  </a:lnTo>
                  <a:lnTo>
                    <a:pt x="6350" y="465201"/>
                  </a:lnTo>
                  <a:lnTo>
                    <a:pt x="12700" y="465201"/>
                  </a:lnTo>
                  <a:cubicBezTo>
                    <a:pt x="12700" y="519811"/>
                    <a:pt x="57023" y="564134"/>
                    <a:pt x="111633" y="564134"/>
                  </a:cubicBezTo>
                  <a:lnTo>
                    <a:pt x="465201" y="564134"/>
                  </a:lnTo>
                  <a:cubicBezTo>
                    <a:pt x="519811" y="564134"/>
                    <a:pt x="564134" y="519811"/>
                    <a:pt x="564134" y="465201"/>
                  </a:cubicBezTo>
                  <a:lnTo>
                    <a:pt x="564134" y="111633"/>
                  </a:lnTo>
                  <a:cubicBezTo>
                    <a:pt x="564134" y="57023"/>
                    <a:pt x="519811" y="12700"/>
                    <a:pt x="465201" y="12700"/>
                  </a:cubicBezTo>
                  <a:lnTo>
                    <a:pt x="111633" y="12700"/>
                  </a:lnTo>
                  <a:lnTo>
                    <a:pt x="111633" y="6350"/>
                  </a:lnTo>
                  <a:lnTo>
                    <a:pt x="111633" y="12700"/>
                  </a:lnTo>
                  <a:cubicBezTo>
                    <a:pt x="57023" y="12700"/>
                    <a:pt x="12700" y="57023"/>
                    <a:pt x="12700" y="111633"/>
                  </a:cubicBezTo>
                  <a:close/>
                </a:path>
              </a:pathLst>
            </a:custGeom>
            <a:solidFill>
              <a:srgbClr val="313E80"/>
            </a:solidFill>
            <a:ln w="12700">
              <a:solidFill>
                <a:srgbClr val="000000"/>
              </a:solidFill>
            </a:ln>
          </p:spPr>
          <p:txBody>
            <a:bodyPr/>
            <a:lstStyle/>
            <a:p>
              <a:endParaRPr lang="en-IN"/>
            </a:p>
          </p:txBody>
        </p:sp>
      </p:grpSp>
      <p:sp>
        <p:nvSpPr>
          <p:cNvPr id="25" name="TextBox 25"/>
          <p:cNvSpPr txBox="1"/>
          <p:nvPr/>
        </p:nvSpPr>
        <p:spPr>
          <a:xfrm>
            <a:off x="9872510" y="8330203"/>
            <a:ext cx="2351332" cy="322507"/>
          </a:xfrm>
          <a:prstGeom prst="rect">
            <a:avLst/>
          </a:prstGeom>
        </p:spPr>
        <p:txBody>
          <a:bodyPr lIns="0" tIns="0" rIns="0" bIns="0" rtlCol="0" anchor="t">
            <a:spAutoFit/>
          </a:bodyPr>
          <a:lstStyle/>
          <a:p>
            <a:pPr algn="l">
              <a:lnSpc>
                <a:spcPts val="2312"/>
              </a:lnSpc>
            </a:pPr>
            <a:r>
              <a:rPr lang="en-US" sz="1812">
                <a:solidFill>
                  <a:srgbClr val="CFD0D8"/>
                </a:solidFill>
                <a:latin typeface="Roboto"/>
                <a:ea typeface="Roboto"/>
                <a:cs typeface="Roboto"/>
                <a:sym typeface="Roboto"/>
              </a:rPr>
              <a:t>Equitable Focus</a:t>
            </a:r>
          </a:p>
        </p:txBody>
      </p:sp>
      <p:sp>
        <p:nvSpPr>
          <p:cNvPr id="26" name="TextBox 26"/>
          <p:cNvSpPr txBox="1"/>
          <p:nvPr/>
        </p:nvSpPr>
        <p:spPr>
          <a:xfrm>
            <a:off x="9872510" y="8698859"/>
            <a:ext cx="7663158" cy="668541"/>
          </a:xfrm>
          <a:prstGeom prst="rect">
            <a:avLst/>
          </a:prstGeom>
        </p:spPr>
        <p:txBody>
          <a:bodyPr lIns="0" tIns="0" rIns="0" bIns="0" rtlCol="0" anchor="t">
            <a:spAutoFit/>
          </a:bodyPr>
          <a:lstStyle/>
          <a:p>
            <a:pPr algn="l">
              <a:lnSpc>
                <a:spcPts val="2312"/>
              </a:lnSpc>
            </a:pPr>
            <a:r>
              <a:rPr lang="en-US" sz="1437">
                <a:solidFill>
                  <a:srgbClr val="CFD0D8"/>
                </a:solidFill>
                <a:latin typeface="Roboto"/>
                <a:ea typeface="Roboto"/>
                <a:cs typeface="Roboto"/>
                <a:sym typeface="Roboto"/>
              </a:rPr>
              <a:t>High-exposure neighborhoods explicitly named and mapped, ensuring policy action benefits marginalized areas directly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18">
                <a:alpha val="90196"/>
              </a:srgbClr>
            </a:solidFill>
            <a:ln w="12700">
              <a:solidFill>
                <a:srgbClr val="000000"/>
              </a:solidFill>
            </a:ln>
          </p:spPr>
          <p:txBody>
            <a:bodyPr/>
            <a:lstStyle/>
            <a:p>
              <a:endParaRPr lang="en-IN"/>
            </a:p>
          </p:txBody>
        </p:sp>
      </p:grpSp>
      <p:sp>
        <p:nvSpPr>
          <p:cNvPr id="5" name="TextBox 5"/>
          <p:cNvSpPr txBox="1"/>
          <p:nvPr/>
        </p:nvSpPr>
        <p:spPr>
          <a:xfrm>
            <a:off x="850697" y="609448"/>
            <a:ext cx="9695555" cy="683714"/>
          </a:xfrm>
          <a:prstGeom prst="rect">
            <a:avLst/>
          </a:prstGeom>
        </p:spPr>
        <p:txBody>
          <a:bodyPr lIns="0" tIns="0" rIns="0" bIns="0" rtlCol="0" anchor="t">
            <a:spAutoFit/>
          </a:bodyPr>
          <a:lstStyle/>
          <a:p>
            <a:pPr algn="l">
              <a:lnSpc>
                <a:spcPts val="5187"/>
              </a:lnSpc>
            </a:pPr>
            <a:r>
              <a:rPr lang="en-US" sz="4124">
                <a:solidFill>
                  <a:srgbClr val="FFFFFF"/>
                </a:solidFill>
                <a:latin typeface="Roboto"/>
                <a:ea typeface="Roboto"/>
                <a:cs typeface="Roboto"/>
                <a:sym typeface="Roboto"/>
              </a:rPr>
              <a:t>Skills Developed Through This Internship</a:t>
            </a:r>
          </a:p>
        </p:txBody>
      </p:sp>
      <p:grpSp>
        <p:nvGrpSpPr>
          <p:cNvPr id="6" name="Group 6"/>
          <p:cNvGrpSpPr/>
          <p:nvPr/>
        </p:nvGrpSpPr>
        <p:grpSpPr>
          <a:xfrm>
            <a:off x="845934" y="1713757"/>
            <a:ext cx="5396503" cy="6466284"/>
            <a:chOff x="0" y="0"/>
            <a:chExt cx="7195337" cy="8621712"/>
          </a:xfrm>
        </p:grpSpPr>
        <p:sp>
          <p:nvSpPr>
            <p:cNvPr id="7" name="Freeform 7"/>
            <p:cNvSpPr/>
            <p:nvPr/>
          </p:nvSpPr>
          <p:spPr>
            <a:xfrm>
              <a:off x="6350" y="6350"/>
              <a:ext cx="7182739" cy="8609076"/>
            </a:xfrm>
            <a:custGeom>
              <a:avLst/>
              <a:gdLst/>
              <a:ahLst/>
              <a:cxnLst/>
              <a:rect l="l" t="t" r="r" b="b"/>
              <a:pathLst>
                <a:path w="7182739" h="8609076">
                  <a:moveTo>
                    <a:pt x="0" y="119126"/>
                  </a:moveTo>
                  <a:cubicBezTo>
                    <a:pt x="0" y="53340"/>
                    <a:pt x="53340" y="0"/>
                    <a:pt x="119126" y="0"/>
                  </a:cubicBezTo>
                  <a:lnTo>
                    <a:pt x="7063613" y="0"/>
                  </a:lnTo>
                  <a:cubicBezTo>
                    <a:pt x="7129399" y="0"/>
                    <a:pt x="7182739" y="53340"/>
                    <a:pt x="7182739" y="119126"/>
                  </a:cubicBezTo>
                  <a:lnTo>
                    <a:pt x="7182739" y="8489950"/>
                  </a:lnTo>
                  <a:cubicBezTo>
                    <a:pt x="7182739" y="8555736"/>
                    <a:pt x="7129399" y="8609076"/>
                    <a:pt x="7063613" y="8609076"/>
                  </a:cubicBezTo>
                  <a:lnTo>
                    <a:pt x="119126" y="8609076"/>
                  </a:lnTo>
                  <a:cubicBezTo>
                    <a:pt x="53340" y="8609076"/>
                    <a:pt x="0" y="8555736"/>
                    <a:pt x="0" y="8489950"/>
                  </a:cubicBezTo>
                  <a:close/>
                </a:path>
              </a:pathLst>
            </a:custGeom>
            <a:solidFill>
              <a:srgbClr val="5A6ED8"/>
            </a:solidFill>
            <a:ln w="12700">
              <a:solidFill>
                <a:srgbClr val="000000"/>
              </a:solidFill>
            </a:ln>
          </p:spPr>
          <p:txBody>
            <a:bodyPr/>
            <a:lstStyle/>
            <a:p>
              <a:endParaRPr lang="en-IN"/>
            </a:p>
          </p:txBody>
        </p:sp>
        <p:sp>
          <p:nvSpPr>
            <p:cNvPr id="8" name="Freeform 8"/>
            <p:cNvSpPr/>
            <p:nvPr/>
          </p:nvSpPr>
          <p:spPr>
            <a:xfrm>
              <a:off x="0" y="0"/>
              <a:ext cx="7195439" cy="8621776"/>
            </a:xfrm>
            <a:custGeom>
              <a:avLst/>
              <a:gdLst/>
              <a:ahLst/>
              <a:cxnLst/>
              <a:rect l="l" t="t" r="r" b="b"/>
              <a:pathLst>
                <a:path w="7195439" h="8621776">
                  <a:moveTo>
                    <a:pt x="0" y="125476"/>
                  </a:moveTo>
                  <a:cubicBezTo>
                    <a:pt x="0" y="56134"/>
                    <a:pt x="56134" y="0"/>
                    <a:pt x="125476" y="0"/>
                  </a:cubicBezTo>
                  <a:lnTo>
                    <a:pt x="7069963" y="0"/>
                  </a:lnTo>
                  <a:lnTo>
                    <a:pt x="7069963" y="6350"/>
                  </a:lnTo>
                  <a:lnTo>
                    <a:pt x="7069963" y="0"/>
                  </a:lnTo>
                  <a:cubicBezTo>
                    <a:pt x="7139305" y="0"/>
                    <a:pt x="7195439" y="56134"/>
                    <a:pt x="7195439" y="125476"/>
                  </a:cubicBezTo>
                  <a:lnTo>
                    <a:pt x="7189089" y="125476"/>
                  </a:lnTo>
                  <a:lnTo>
                    <a:pt x="7195439" y="125476"/>
                  </a:lnTo>
                  <a:lnTo>
                    <a:pt x="7195439" y="8496300"/>
                  </a:lnTo>
                  <a:lnTo>
                    <a:pt x="7189089" y="8496300"/>
                  </a:lnTo>
                  <a:lnTo>
                    <a:pt x="7195439" y="8496300"/>
                  </a:lnTo>
                  <a:cubicBezTo>
                    <a:pt x="7195439" y="8565642"/>
                    <a:pt x="7139305" y="8621776"/>
                    <a:pt x="7069963" y="8621776"/>
                  </a:cubicBezTo>
                  <a:lnTo>
                    <a:pt x="7069963" y="8615426"/>
                  </a:lnTo>
                  <a:lnTo>
                    <a:pt x="7069963" y="8621776"/>
                  </a:lnTo>
                  <a:lnTo>
                    <a:pt x="125476" y="8621776"/>
                  </a:lnTo>
                  <a:lnTo>
                    <a:pt x="125476" y="8615426"/>
                  </a:lnTo>
                  <a:lnTo>
                    <a:pt x="125476" y="8621776"/>
                  </a:lnTo>
                  <a:cubicBezTo>
                    <a:pt x="56134" y="8621776"/>
                    <a:pt x="0" y="8565515"/>
                    <a:pt x="0" y="8496300"/>
                  </a:cubicBezTo>
                  <a:lnTo>
                    <a:pt x="0" y="125476"/>
                  </a:lnTo>
                  <a:lnTo>
                    <a:pt x="6350" y="125476"/>
                  </a:lnTo>
                  <a:lnTo>
                    <a:pt x="0" y="125476"/>
                  </a:lnTo>
                  <a:moveTo>
                    <a:pt x="12700" y="125476"/>
                  </a:moveTo>
                  <a:lnTo>
                    <a:pt x="12700" y="8496300"/>
                  </a:lnTo>
                  <a:lnTo>
                    <a:pt x="6350" y="8496300"/>
                  </a:lnTo>
                  <a:lnTo>
                    <a:pt x="12700" y="8496300"/>
                  </a:lnTo>
                  <a:cubicBezTo>
                    <a:pt x="12700" y="8558530"/>
                    <a:pt x="63119" y="8609076"/>
                    <a:pt x="125476" y="8609076"/>
                  </a:cubicBezTo>
                  <a:lnTo>
                    <a:pt x="7069963" y="8609076"/>
                  </a:lnTo>
                  <a:cubicBezTo>
                    <a:pt x="7132193" y="8609076"/>
                    <a:pt x="7182739" y="8558530"/>
                    <a:pt x="7182739" y="8496300"/>
                  </a:cubicBezTo>
                  <a:lnTo>
                    <a:pt x="7182739" y="125476"/>
                  </a:lnTo>
                  <a:cubicBezTo>
                    <a:pt x="7182739" y="63246"/>
                    <a:pt x="7132320" y="12700"/>
                    <a:pt x="7069963" y="12700"/>
                  </a:cubicBezTo>
                  <a:lnTo>
                    <a:pt x="125476" y="12700"/>
                  </a:lnTo>
                  <a:lnTo>
                    <a:pt x="125476" y="6350"/>
                  </a:lnTo>
                  <a:lnTo>
                    <a:pt x="125476" y="12700"/>
                  </a:lnTo>
                  <a:cubicBezTo>
                    <a:pt x="63119" y="12700"/>
                    <a:pt x="12700" y="63246"/>
                    <a:pt x="12700" y="125476"/>
                  </a:cubicBezTo>
                  <a:close/>
                </a:path>
              </a:pathLst>
            </a:custGeom>
            <a:solidFill>
              <a:srgbClr val="7387F1"/>
            </a:solidFill>
            <a:ln w="12700">
              <a:solidFill>
                <a:srgbClr val="000000"/>
              </a:solidFill>
            </a:ln>
          </p:spPr>
          <p:txBody>
            <a:bodyPr/>
            <a:lstStyle/>
            <a:p>
              <a:endParaRPr lang="en-IN"/>
            </a:p>
          </p:txBody>
        </p:sp>
      </p:grpSp>
      <p:sp>
        <p:nvSpPr>
          <p:cNvPr id="9" name="TextBox 9"/>
          <p:cNvSpPr txBox="1"/>
          <p:nvPr/>
        </p:nvSpPr>
        <p:spPr>
          <a:xfrm>
            <a:off x="1072906" y="1921669"/>
            <a:ext cx="3190427" cy="417909"/>
          </a:xfrm>
          <a:prstGeom prst="rect">
            <a:avLst/>
          </a:prstGeom>
        </p:spPr>
        <p:txBody>
          <a:bodyPr lIns="0" tIns="0" rIns="0" bIns="0" rtlCol="0" anchor="t">
            <a:spAutoFit/>
          </a:bodyPr>
          <a:lstStyle/>
          <a:p>
            <a:pPr algn="l">
              <a:lnSpc>
                <a:spcPts val="3124"/>
              </a:lnSpc>
            </a:pPr>
            <a:r>
              <a:rPr lang="en-US" sz="2499">
                <a:solidFill>
                  <a:srgbClr val="FFFFFF"/>
                </a:solidFill>
                <a:latin typeface="Roboto"/>
                <a:ea typeface="Roboto"/>
                <a:cs typeface="Roboto"/>
                <a:sym typeface="Roboto"/>
              </a:rPr>
              <a:t>Green Skills </a:t>
            </a:r>
            <a:r>
              <a:rPr lang="en-US" sz="2499">
                <a:solidFill>
                  <a:srgbClr val="000000"/>
                </a:solidFill>
                <a:latin typeface="Roboto"/>
                <a:ea typeface="Roboto"/>
                <a:cs typeface="Roboto"/>
                <a:sym typeface="Roboto"/>
              </a:rPr>
              <a:t>🌱</a:t>
            </a:r>
          </a:p>
        </p:txBody>
      </p:sp>
      <p:sp>
        <p:nvSpPr>
          <p:cNvPr id="10" name="TextBox 10"/>
          <p:cNvSpPr txBox="1"/>
          <p:nvPr/>
        </p:nvSpPr>
        <p:spPr>
          <a:xfrm>
            <a:off x="1072906" y="2390927"/>
            <a:ext cx="4942580" cy="1437084"/>
          </a:xfrm>
          <a:prstGeom prst="rect">
            <a:avLst/>
          </a:prstGeom>
        </p:spPr>
        <p:txBody>
          <a:bodyPr lIns="0" tIns="0" rIns="0" bIns="0" rtlCol="0" anchor="t">
            <a:spAutoFit/>
          </a:bodyPr>
          <a:lstStyle/>
          <a:p>
            <a:pPr algn="l">
              <a:lnSpc>
                <a:spcPts val="2625"/>
              </a:lnSpc>
            </a:pPr>
            <a:r>
              <a:rPr lang="en-US" sz="1625" b="1">
                <a:solidFill>
                  <a:srgbClr val="FFFFFF"/>
                </a:solidFill>
                <a:latin typeface="Roboto Bold"/>
                <a:ea typeface="Roboto Bold"/>
                <a:cs typeface="Roboto Bold"/>
                <a:sym typeface="Roboto Bold"/>
              </a:rPr>
              <a:t>Spatial Thinking:</a:t>
            </a:r>
            <a:r>
              <a:rPr lang="en-US" sz="1625">
                <a:solidFill>
                  <a:srgbClr val="FFFFFF"/>
                </a:solidFill>
                <a:latin typeface="Roboto"/>
                <a:ea typeface="Roboto"/>
                <a:cs typeface="Roboto"/>
                <a:sym typeface="Roboto"/>
              </a:rPr>
              <a:t> Neighborhood-level analysis proves far more powerful than city averages. The 80/20 concentration rule applies to emissions—6 zones create disproportionate impact.</a:t>
            </a:r>
          </a:p>
        </p:txBody>
      </p:sp>
      <p:sp>
        <p:nvSpPr>
          <p:cNvPr id="11" name="TextBox 11"/>
          <p:cNvSpPr txBox="1"/>
          <p:nvPr/>
        </p:nvSpPr>
        <p:spPr>
          <a:xfrm>
            <a:off x="1072906" y="3879352"/>
            <a:ext cx="4942580" cy="1437084"/>
          </a:xfrm>
          <a:prstGeom prst="rect">
            <a:avLst/>
          </a:prstGeom>
        </p:spPr>
        <p:txBody>
          <a:bodyPr lIns="0" tIns="0" rIns="0" bIns="0" rtlCol="0" anchor="t">
            <a:spAutoFit/>
          </a:bodyPr>
          <a:lstStyle/>
          <a:p>
            <a:pPr algn="l">
              <a:lnSpc>
                <a:spcPts val="2625"/>
              </a:lnSpc>
            </a:pPr>
            <a:r>
              <a:rPr lang="en-US" sz="1625" b="1">
                <a:solidFill>
                  <a:srgbClr val="FFFFFF"/>
                </a:solidFill>
                <a:latin typeface="Roboto Bold"/>
                <a:ea typeface="Roboto Bold"/>
                <a:cs typeface="Roboto Bold"/>
                <a:sym typeface="Roboto Bold"/>
              </a:rPr>
              <a:t>Emissions Science:</a:t>
            </a:r>
            <a:r>
              <a:rPr lang="en-US" sz="1625">
                <a:solidFill>
                  <a:srgbClr val="FFFFFF"/>
                </a:solidFill>
                <a:latin typeface="Roboto"/>
                <a:ea typeface="Roboto"/>
                <a:cs typeface="Roboto"/>
                <a:sym typeface="Roboto"/>
              </a:rPr>
              <a:t> Traffic and industrial sources dominate urban PM2.5 in growing cities. Targeted measures achieve 3–5x greater cost-effectiveness than broad policies.</a:t>
            </a:r>
          </a:p>
        </p:txBody>
      </p:sp>
      <p:sp>
        <p:nvSpPr>
          <p:cNvPr id="12" name="TextBox 12"/>
          <p:cNvSpPr txBox="1"/>
          <p:nvPr/>
        </p:nvSpPr>
        <p:spPr>
          <a:xfrm>
            <a:off x="1072906" y="5367785"/>
            <a:ext cx="4942580" cy="1437084"/>
          </a:xfrm>
          <a:prstGeom prst="rect">
            <a:avLst/>
          </a:prstGeom>
        </p:spPr>
        <p:txBody>
          <a:bodyPr lIns="0" tIns="0" rIns="0" bIns="0" rtlCol="0" anchor="t">
            <a:spAutoFit/>
          </a:bodyPr>
          <a:lstStyle/>
          <a:p>
            <a:pPr algn="l">
              <a:lnSpc>
                <a:spcPts val="2625"/>
              </a:lnSpc>
            </a:pPr>
            <a:r>
              <a:rPr lang="en-US" sz="1625" b="1">
                <a:solidFill>
                  <a:srgbClr val="FFFFFF"/>
                </a:solidFill>
                <a:latin typeface="Roboto Bold"/>
                <a:ea typeface="Roboto Bold"/>
                <a:cs typeface="Roboto Bold"/>
                <a:sym typeface="Roboto Bold"/>
              </a:rPr>
              <a:t>Urban Planning Context:</a:t>
            </a:r>
            <a:r>
              <a:rPr lang="en-US" sz="1625">
                <a:solidFill>
                  <a:srgbClr val="FFFFFF"/>
                </a:solidFill>
                <a:latin typeface="Roboto"/>
                <a:ea typeface="Roboto"/>
                <a:cs typeface="Roboto"/>
                <a:sym typeface="Roboto"/>
              </a:rPr>
              <a:t> Transit-oriented development reduces emissions by design. Community engagement builds essential buy-in for climate action success.</a:t>
            </a:r>
          </a:p>
        </p:txBody>
      </p:sp>
      <p:grpSp>
        <p:nvGrpSpPr>
          <p:cNvPr id="13" name="Group 13"/>
          <p:cNvGrpSpPr/>
          <p:nvPr/>
        </p:nvGrpSpPr>
        <p:grpSpPr>
          <a:xfrm>
            <a:off x="6445596" y="1713757"/>
            <a:ext cx="5396655" cy="6466284"/>
            <a:chOff x="0" y="0"/>
            <a:chExt cx="7195541" cy="8621712"/>
          </a:xfrm>
        </p:grpSpPr>
        <p:sp>
          <p:nvSpPr>
            <p:cNvPr id="14" name="Freeform 14"/>
            <p:cNvSpPr/>
            <p:nvPr/>
          </p:nvSpPr>
          <p:spPr>
            <a:xfrm>
              <a:off x="6350" y="6350"/>
              <a:ext cx="7182866" cy="8609076"/>
            </a:xfrm>
            <a:custGeom>
              <a:avLst/>
              <a:gdLst/>
              <a:ahLst/>
              <a:cxnLst/>
              <a:rect l="l" t="t" r="r" b="b"/>
              <a:pathLst>
                <a:path w="7182866" h="8609076">
                  <a:moveTo>
                    <a:pt x="0" y="119126"/>
                  </a:moveTo>
                  <a:cubicBezTo>
                    <a:pt x="0" y="53340"/>
                    <a:pt x="53340" y="0"/>
                    <a:pt x="119126" y="0"/>
                  </a:cubicBezTo>
                  <a:lnTo>
                    <a:pt x="7063740" y="0"/>
                  </a:lnTo>
                  <a:cubicBezTo>
                    <a:pt x="7129526" y="0"/>
                    <a:pt x="7182866" y="53340"/>
                    <a:pt x="7182866" y="119126"/>
                  </a:cubicBezTo>
                  <a:lnTo>
                    <a:pt x="7182866" y="8489950"/>
                  </a:lnTo>
                  <a:cubicBezTo>
                    <a:pt x="7182866" y="8555736"/>
                    <a:pt x="7129526" y="8609076"/>
                    <a:pt x="7063740" y="8609076"/>
                  </a:cubicBezTo>
                  <a:lnTo>
                    <a:pt x="119126" y="8609076"/>
                  </a:lnTo>
                  <a:cubicBezTo>
                    <a:pt x="53340" y="8609076"/>
                    <a:pt x="0" y="8555736"/>
                    <a:pt x="0" y="8489950"/>
                  </a:cubicBezTo>
                  <a:close/>
                </a:path>
              </a:pathLst>
            </a:custGeom>
            <a:solidFill>
              <a:srgbClr val="243799"/>
            </a:solidFill>
            <a:ln w="12700">
              <a:solidFill>
                <a:srgbClr val="000000"/>
              </a:solidFill>
            </a:ln>
          </p:spPr>
          <p:txBody>
            <a:bodyPr/>
            <a:lstStyle/>
            <a:p>
              <a:endParaRPr lang="en-IN"/>
            </a:p>
          </p:txBody>
        </p:sp>
        <p:sp>
          <p:nvSpPr>
            <p:cNvPr id="15" name="Freeform 15"/>
            <p:cNvSpPr/>
            <p:nvPr/>
          </p:nvSpPr>
          <p:spPr>
            <a:xfrm>
              <a:off x="0" y="0"/>
              <a:ext cx="7195566" cy="8621776"/>
            </a:xfrm>
            <a:custGeom>
              <a:avLst/>
              <a:gdLst/>
              <a:ahLst/>
              <a:cxnLst/>
              <a:rect l="l" t="t" r="r" b="b"/>
              <a:pathLst>
                <a:path w="7195566" h="8621776">
                  <a:moveTo>
                    <a:pt x="0" y="125476"/>
                  </a:moveTo>
                  <a:cubicBezTo>
                    <a:pt x="0" y="56134"/>
                    <a:pt x="56134" y="0"/>
                    <a:pt x="125476" y="0"/>
                  </a:cubicBezTo>
                  <a:lnTo>
                    <a:pt x="7070090" y="0"/>
                  </a:lnTo>
                  <a:lnTo>
                    <a:pt x="7070090" y="6350"/>
                  </a:lnTo>
                  <a:lnTo>
                    <a:pt x="7070090" y="0"/>
                  </a:lnTo>
                  <a:cubicBezTo>
                    <a:pt x="7139432" y="0"/>
                    <a:pt x="7195566" y="56134"/>
                    <a:pt x="7195566" y="125476"/>
                  </a:cubicBezTo>
                  <a:lnTo>
                    <a:pt x="7189216" y="125476"/>
                  </a:lnTo>
                  <a:lnTo>
                    <a:pt x="7195566" y="125476"/>
                  </a:lnTo>
                  <a:lnTo>
                    <a:pt x="7195566" y="8496300"/>
                  </a:lnTo>
                  <a:lnTo>
                    <a:pt x="7189216" y="8496300"/>
                  </a:lnTo>
                  <a:lnTo>
                    <a:pt x="7195566" y="8496300"/>
                  </a:lnTo>
                  <a:cubicBezTo>
                    <a:pt x="7195566" y="8565642"/>
                    <a:pt x="7139432" y="8621776"/>
                    <a:pt x="7070090" y="8621776"/>
                  </a:cubicBezTo>
                  <a:lnTo>
                    <a:pt x="7070090" y="8615426"/>
                  </a:lnTo>
                  <a:lnTo>
                    <a:pt x="7070090" y="8621776"/>
                  </a:lnTo>
                  <a:lnTo>
                    <a:pt x="125476" y="8621776"/>
                  </a:lnTo>
                  <a:lnTo>
                    <a:pt x="125476" y="8615426"/>
                  </a:lnTo>
                  <a:lnTo>
                    <a:pt x="125476" y="8621776"/>
                  </a:lnTo>
                  <a:cubicBezTo>
                    <a:pt x="56134" y="8621776"/>
                    <a:pt x="0" y="8565515"/>
                    <a:pt x="0" y="8496300"/>
                  </a:cubicBezTo>
                  <a:lnTo>
                    <a:pt x="0" y="125476"/>
                  </a:lnTo>
                  <a:lnTo>
                    <a:pt x="6350" y="125476"/>
                  </a:lnTo>
                  <a:lnTo>
                    <a:pt x="0" y="125476"/>
                  </a:lnTo>
                  <a:moveTo>
                    <a:pt x="12700" y="125476"/>
                  </a:moveTo>
                  <a:lnTo>
                    <a:pt x="12700" y="8496300"/>
                  </a:lnTo>
                  <a:lnTo>
                    <a:pt x="6350" y="8496300"/>
                  </a:lnTo>
                  <a:lnTo>
                    <a:pt x="12700" y="8496300"/>
                  </a:lnTo>
                  <a:cubicBezTo>
                    <a:pt x="12700" y="8558530"/>
                    <a:pt x="63119" y="8609076"/>
                    <a:pt x="125476" y="8609076"/>
                  </a:cubicBezTo>
                  <a:lnTo>
                    <a:pt x="7070090" y="8609076"/>
                  </a:lnTo>
                  <a:cubicBezTo>
                    <a:pt x="7132320" y="8609076"/>
                    <a:pt x="7182866" y="8558530"/>
                    <a:pt x="7182866" y="8496300"/>
                  </a:cubicBezTo>
                  <a:lnTo>
                    <a:pt x="7182866" y="125476"/>
                  </a:lnTo>
                  <a:cubicBezTo>
                    <a:pt x="7182866" y="63246"/>
                    <a:pt x="7132447" y="12700"/>
                    <a:pt x="7070090" y="12700"/>
                  </a:cubicBezTo>
                  <a:lnTo>
                    <a:pt x="125476" y="12700"/>
                  </a:lnTo>
                  <a:lnTo>
                    <a:pt x="125476" y="6350"/>
                  </a:lnTo>
                  <a:lnTo>
                    <a:pt x="125476" y="12700"/>
                  </a:lnTo>
                  <a:cubicBezTo>
                    <a:pt x="63119" y="12700"/>
                    <a:pt x="12700" y="63246"/>
                    <a:pt x="12700" y="125476"/>
                  </a:cubicBezTo>
                  <a:close/>
                </a:path>
              </a:pathLst>
            </a:custGeom>
            <a:solidFill>
              <a:srgbClr val="3D50B2"/>
            </a:solidFill>
            <a:ln w="12700">
              <a:solidFill>
                <a:srgbClr val="000000"/>
              </a:solidFill>
            </a:ln>
          </p:spPr>
          <p:txBody>
            <a:bodyPr/>
            <a:lstStyle/>
            <a:p>
              <a:endParaRPr lang="en-IN"/>
            </a:p>
          </p:txBody>
        </p:sp>
      </p:grpSp>
      <p:sp>
        <p:nvSpPr>
          <p:cNvPr id="16" name="TextBox 16"/>
          <p:cNvSpPr txBox="1"/>
          <p:nvPr/>
        </p:nvSpPr>
        <p:spPr>
          <a:xfrm>
            <a:off x="6672558" y="1921669"/>
            <a:ext cx="3190427" cy="417909"/>
          </a:xfrm>
          <a:prstGeom prst="rect">
            <a:avLst/>
          </a:prstGeom>
        </p:spPr>
        <p:txBody>
          <a:bodyPr lIns="0" tIns="0" rIns="0" bIns="0" rtlCol="0" anchor="t">
            <a:spAutoFit/>
          </a:bodyPr>
          <a:lstStyle/>
          <a:p>
            <a:pPr algn="l">
              <a:lnSpc>
                <a:spcPts val="3124"/>
              </a:lnSpc>
            </a:pPr>
            <a:r>
              <a:rPr lang="en-US" sz="2499">
                <a:solidFill>
                  <a:srgbClr val="FFFFFF"/>
                </a:solidFill>
                <a:latin typeface="Roboto"/>
                <a:ea typeface="Roboto"/>
                <a:cs typeface="Roboto"/>
                <a:sym typeface="Roboto"/>
              </a:rPr>
              <a:t>Data Skills </a:t>
            </a:r>
            <a:r>
              <a:rPr lang="en-US" sz="2499">
                <a:solidFill>
                  <a:srgbClr val="000000"/>
                </a:solidFill>
                <a:latin typeface="Roboto"/>
                <a:ea typeface="Roboto"/>
                <a:cs typeface="Roboto"/>
                <a:sym typeface="Roboto"/>
              </a:rPr>
              <a:t>💻</a:t>
            </a:r>
          </a:p>
        </p:txBody>
      </p:sp>
      <p:sp>
        <p:nvSpPr>
          <p:cNvPr id="17" name="TextBox 17"/>
          <p:cNvSpPr txBox="1"/>
          <p:nvPr/>
        </p:nvSpPr>
        <p:spPr>
          <a:xfrm>
            <a:off x="6672558" y="2390927"/>
            <a:ext cx="4942732" cy="1096861"/>
          </a:xfrm>
          <a:prstGeom prst="rect">
            <a:avLst/>
          </a:prstGeom>
        </p:spPr>
        <p:txBody>
          <a:bodyPr lIns="0" tIns="0" rIns="0" bIns="0" rtlCol="0" anchor="t">
            <a:spAutoFit/>
          </a:bodyPr>
          <a:lstStyle/>
          <a:p>
            <a:pPr algn="l">
              <a:lnSpc>
                <a:spcPts val="2625"/>
              </a:lnSpc>
            </a:pPr>
            <a:r>
              <a:rPr lang="en-US" sz="1625" b="1">
                <a:solidFill>
                  <a:srgbClr val="FFFFFF"/>
                </a:solidFill>
                <a:latin typeface="Roboto Bold"/>
                <a:ea typeface="Roboto Bold"/>
                <a:cs typeface="Roboto Bold"/>
                <a:sym typeface="Roboto Bold"/>
              </a:rPr>
              <a:t>GeoPandas &amp; Spatial Operations:</a:t>
            </a:r>
            <a:r>
              <a:rPr lang="en-US" sz="1625">
                <a:solidFill>
                  <a:srgbClr val="FFFFFF"/>
                </a:solidFill>
                <a:latin typeface="Roboto"/>
                <a:ea typeface="Roboto"/>
                <a:cs typeface="Roboto"/>
                <a:sym typeface="Roboto"/>
              </a:rPr>
              <a:t> Grid creation, spatial joins for distance calculations, choropleth mapping for visualization across GHMC boundary.</a:t>
            </a:r>
          </a:p>
        </p:txBody>
      </p:sp>
      <p:sp>
        <p:nvSpPr>
          <p:cNvPr id="18" name="TextBox 18"/>
          <p:cNvSpPr txBox="1"/>
          <p:nvPr/>
        </p:nvSpPr>
        <p:spPr>
          <a:xfrm>
            <a:off x="6672558" y="3539128"/>
            <a:ext cx="4942732" cy="1437084"/>
          </a:xfrm>
          <a:prstGeom prst="rect">
            <a:avLst/>
          </a:prstGeom>
        </p:spPr>
        <p:txBody>
          <a:bodyPr lIns="0" tIns="0" rIns="0" bIns="0" rtlCol="0" anchor="t">
            <a:spAutoFit/>
          </a:bodyPr>
          <a:lstStyle/>
          <a:p>
            <a:pPr algn="l">
              <a:lnSpc>
                <a:spcPts val="2625"/>
              </a:lnSpc>
            </a:pPr>
            <a:r>
              <a:rPr lang="en-US" sz="1625" b="1">
                <a:solidFill>
                  <a:srgbClr val="FFFFFF"/>
                </a:solidFill>
                <a:latin typeface="Roboto Bold"/>
                <a:ea typeface="Roboto Bold"/>
                <a:cs typeface="Roboto Bold"/>
                <a:sym typeface="Roboto Bold"/>
              </a:rPr>
              <a:t>Multi-Source Integration:</a:t>
            </a:r>
            <a:r>
              <a:rPr lang="en-US" sz="1625">
                <a:solidFill>
                  <a:srgbClr val="FFFFFF"/>
                </a:solidFill>
                <a:latin typeface="Roboto"/>
                <a:ea typeface="Roboto"/>
                <a:cs typeface="Roboto"/>
                <a:sym typeface="Roboto"/>
              </a:rPr>
              <a:t> Combined 3+ datasets (MMTS, industrial zones, AQ, boundaries) handling different formats and projections with reverse geocoding.</a:t>
            </a:r>
          </a:p>
        </p:txBody>
      </p:sp>
      <p:sp>
        <p:nvSpPr>
          <p:cNvPr id="19" name="TextBox 19"/>
          <p:cNvSpPr txBox="1"/>
          <p:nvPr/>
        </p:nvSpPr>
        <p:spPr>
          <a:xfrm>
            <a:off x="6672558" y="5027562"/>
            <a:ext cx="4942732" cy="1096861"/>
          </a:xfrm>
          <a:prstGeom prst="rect">
            <a:avLst/>
          </a:prstGeom>
        </p:spPr>
        <p:txBody>
          <a:bodyPr lIns="0" tIns="0" rIns="0" bIns="0" rtlCol="0" anchor="t">
            <a:spAutoFit/>
          </a:bodyPr>
          <a:lstStyle/>
          <a:p>
            <a:pPr algn="l">
              <a:lnSpc>
                <a:spcPts val="2625"/>
              </a:lnSpc>
            </a:pPr>
            <a:r>
              <a:rPr lang="en-US" sz="1625" b="1">
                <a:solidFill>
                  <a:srgbClr val="FFFFFF"/>
                </a:solidFill>
                <a:latin typeface="Roboto Bold"/>
                <a:ea typeface="Roboto Bold"/>
                <a:cs typeface="Roboto Bold"/>
                <a:sym typeface="Roboto Bold"/>
              </a:rPr>
              <a:t>Tableau Proficiency:</a:t>
            </a:r>
            <a:r>
              <a:rPr lang="en-US" sz="1625">
                <a:solidFill>
                  <a:srgbClr val="FFFFFF"/>
                </a:solidFill>
                <a:latin typeface="Roboto"/>
                <a:ea typeface="Roboto"/>
                <a:cs typeface="Roboto"/>
                <a:sym typeface="Roboto"/>
              </a:rPr>
              <a:t> Built multi-view dashboards with conditional coloring, published to Tableau Public for widespread access.</a:t>
            </a:r>
          </a:p>
        </p:txBody>
      </p:sp>
      <p:sp>
        <p:nvSpPr>
          <p:cNvPr id="20" name="TextBox 20"/>
          <p:cNvSpPr txBox="1"/>
          <p:nvPr/>
        </p:nvSpPr>
        <p:spPr>
          <a:xfrm>
            <a:off x="6672558" y="6175772"/>
            <a:ext cx="4942732" cy="1096861"/>
          </a:xfrm>
          <a:prstGeom prst="rect">
            <a:avLst/>
          </a:prstGeom>
        </p:spPr>
        <p:txBody>
          <a:bodyPr lIns="0" tIns="0" rIns="0" bIns="0" rtlCol="0" anchor="t">
            <a:spAutoFit/>
          </a:bodyPr>
          <a:lstStyle/>
          <a:p>
            <a:pPr algn="l">
              <a:lnSpc>
                <a:spcPts val="2625"/>
              </a:lnSpc>
            </a:pPr>
            <a:r>
              <a:rPr lang="en-US" sz="1625" b="1">
                <a:solidFill>
                  <a:srgbClr val="FFFFFF"/>
                </a:solidFill>
                <a:latin typeface="Roboto Bold"/>
                <a:ea typeface="Roboto Bold"/>
                <a:cs typeface="Roboto Bold"/>
                <a:sym typeface="Roboto Bold"/>
              </a:rPr>
              <a:t>Jupyter Workflow:</a:t>
            </a:r>
            <a:r>
              <a:rPr lang="en-US" sz="1625">
                <a:solidFill>
                  <a:srgbClr val="FFFFFF"/>
                </a:solidFill>
                <a:latin typeface="Roboto"/>
                <a:ea typeface="Roboto"/>
                <a:cs typeface="Roboto"/>
                <a:sym typeface="Roboto"/>
              </a:rPr>
              <a:t> Developed reusable, documented code with iterative testing and clean dataset exports.</a:t>
            </a:r>
          </a:p>
        </p:txBody>
      </p:sp>
      <p:grpSp>
        <p:nvGrpSpPr>
          <p:cNvPr id="21" name="Group 21"/>
          <p:cNvGrpSpPr/>
          <p:nvPr/>
        </p:nvGrpSpPr>
        <p:grpSpPr>
          <a:xfrm>
            <a:off x="12045401" y="1713757"/>
            <a:ext cx="5396503" cy="6466284"/>
            <a:chOff x="0" y="0"/>
            <a:chExt cx="7195337" cy="8621712"/>
          </a:xfrm>
        </p:grpSpPr>
        <p:sp>
          <p:nvSpPr>
            <p:cNvPr id="22" name="Freeform 22"/>
            <p:cNvSpPr/>
            <p:nvPr/>
          </p:nvSpPr>
          <p:spPr>
            <a:xfrm>
              <a:off x="6350" y="6350"/>
              <a:ext cx="7182739" cy="8609076"/>
            </a:xfrm>
            <a:custGeom>
              <a:avLst/>
              <a:gdLst/>
              <a:ahLst/>
              <a:cxnLst/>
              <a:rect l="l" t="t" r="r" b="b"/>
              <a:pathLst>
                <a:path w="7182739" h="8609076">
                  <a:moveTo>
                    <a:pt x="0" y="119126"/>
                  </a:moveTo>
                  <a:cubicBezTo>
                    <a:pt x="0" y="53340"/>
                    <a:pt x="53340" y="0"/>
                    <a:pt x="119126" y="0"/>
                  </a:cubicBezTo>
                  <a:lnTo>
                    <a:pt x="7063613" y="0"/>
                  </a:lnTo>
                  <a:cubicBezTo>
                    <a:pt x="7129399" y="0"/>
                    <a:pt x="7182739" y="53340"/>
                    <a:pt x="7182739" y="119126"/>
                  </a:cubicBezTo>
                  <a:lnTo>
                    <a:pt x="7182739" y="8489950"/>
                  </a:lnTo>
                  <a:cubicBezTo>
                    <a:pt x="7182739" y="8555736"/>
                    <a:pt x="7129399" y="8609076"/>
                    <a:pt x="7063613" y="8609076"/>
                  </a:cubicBezTo>
                  <a:lnTo>
                    <a:pt x="119126" y="8609076"/>
                  </a:lnTo>
                  <a:cubicBezTo>
                    <a:pt x="53340" y="8609076"/>
                    <a:pt x="0" y="8555736"/>
                    <a:pt x="0" y="8489950"/>
                  </a:cubicBezTo>
                  <a:close/>
                </a:path>
              </a:pathLst>
            </a:custGeom>
            <a:solidFill>
              <a:srgbClr val="000030"/>
            </a:solidFill>
            <a:ln w="12700">
              <a:solidFill>
                <a:srgbClr val="000000"/>
              </a:solidFill>
            </a:ln>
          </p:spPr>
          <p:txBody>
            <a:bodyPr/>
            <a:lstStyle/>
            <a:p>
              <a:endParaRPr lang="en-IN"/>
            </a:p>
          </p:txBody>
        </p:sp>
        <p:sp>
          <p:nvSpPr>
            <p:cNvPr id="23" name="Freeform 23"/>
            <p:cNvSpPr/>
            <p:nvPr/>
          </p:nvSpPr>
          <p:spPr>
            <a:xfrm>
              <a:off x="0" y="0"/>
              <a:ext cx="7195439" cy="8621776"/>
            </a:xfrm>
            <a:custGeom>
              <a:avLst/>
              <a:gdLst/>
              <a:ahLst/>
              <a:cxnLst/>
              <a:rect l="l" t="t" r="r" b="b"/>
              <a:pathLst>
                <a:path w="7195439" h="8621776">
                  <a:moveTo>
                    <a:pt x="0" y="125476"/>
                  </a:moveTo>
                  <a:cubicBezTo>
                    <a:pt x="0" y="56134"/>
                    <a:pt x="56134" y="0"/>
                    <a:pt x="125476" y="0"/>
                  </a:cubicBezTo>
                  <a:lnTo>
                    <a:pt x="7069963" y="0"/>
                  </a:lnTo>
                  <a:lnTo>
                    <a:pt x="7069963" y="6350"/>
                  </a:lnTo>
                  <a:lnTo>
                    <a:pt x="7069963" y="0"/>
                  </a:lnTo>
                  <a:cubicBezTo>
                    <a:pt x="7139305" y="0"/>
                    <a:pt x="7195439" y="56134"/>
                    <a:pt x="7195439" y="125476"/>
                  </a:cubicBezTo>
                  <a:lnTo>
                    <a:pt x="7189089" y="125476"/>
                  </a:lnTo>
                  <a:lnTo>
                    <a:pt x="7195439" y="125476"/>
                  </a:lnTo>
                  <a:lnTo>
                    <a:pt x="7195439" y="8496300"/>
                  </a:lnTo>
                  <a:lnTo>
                    <a:pt x="7189089" y="8496300"/>
                  </a:lnTo>
                  <a:lnTo>
                    <a:pt x="7195439" y="8496300"/>
                  </a:lnTo>
                  <a:cubicBezTo>
                    <a:pt x="7195439" y="8565642"/>
                    <a:pt x="7139305" y="8621776"/>
                    <a:pt x="7069963" y="8621776"/>
                  </a:cubicBezTo>
                  <a:lnTo>
                    <a:pt x="7069963" y="8615426"/>
                  </a:lnTo>
                  <a:lnTo>
                    <a:pt x="7069963" y="8621776"/>
                  </a:lnTo>
                  <a:lnTo>
                    <a:pt x="125476" y="8621776"/>
                  </a:lnTo>
                  <a:lnTo>
                    <a:pt x="125476" y="8615426"/>
                  </a:lnTo>
                  <a:lnTo>
                    <a:pt x="125476" y="8621776"/>
                  </a:lnTo>
                  <a:cubicBezTo>
                    <a:pt x="56134" y="8621776"/>
                    <a:pt x="0" y="8565515"/>
                    <a:pt x="0" y="8496300"/>
                  </a:cubicBezTo>
                  <a:lnTo>
                    <a:pt x="0" y="125476"/>
                  </a:lnTo>
                  <a:lnTo>
                    <a:pt x="6350" y="125476"/>
                  </a:lnTo>
                  <a:lnTo>
                    <a:pt x="0" y="125476"/>
                  </a:lnTo>
                  <a:moveTo>
                    <a:pt x="12700" y="125476"/>
                  </a:moveTo>
                  <a:lnTo>
                    <a:pt x="12700" y="8496300"/>
                  </a:lnTo>
                  <a:lnTo>
                    <a:pt x="6350" y="8496300"/>
                  </a:lnTo>
                  <a:lnTo>
                    <a:pt x="12700" y="8496300"/>
                  </a:lnTo>
                  <a:cubicBezTo>
                    <a:pt x="12700" y="8558530"/>
                    <a:pt x="63119" y="8609076"/>
                    <a:pt x="125476" y="8609076"/>
                  </a:cubicBezTo>
                  <a:lnTo>
                    <a:pt x="7069963" y="8609076"/>
                  </a:lnTo>
                  <a:cubicBezTo>
                    <a:pt x="7132193" y="8609076"/>
                    <a:pt x="7182739" y="8558530"/>
                    <a:pt x="7182739" y="8496300"/>
                  </a:cubicBezTo>
                  <a:lnTo>
                    <a:pt x="7182739" y="125476"/>
                  </a:lnTo>
                  <a:cubicBezTo>
                    <a:pt x="7182739" y="63246"/>
                    <a:pt x="7132320" y="12700"/>
                    <a:pt x="7069963" y="12700"/>
                  </a:cubicBezTo>
                  <a:lnTo>
                    <a:pt x="125476" y="12700"/>
                  </a:lnTo>
                  <a:lnTo>
                    <a:pt x="125476" y="6350"/>
                  </a:lnTo>
                  <a:lnTo>
                    <a:pt x="125476" y="12700"/>
                  </a:lnTo>
                  <a:cubicBezTo>
                    <a:pt x="63119" y="12700"/>
                    <a:pt x="12700" y="63246"/>
                    <a:pt x="12700" y="125476"/>
                  </a:cubicBezTo>
                  <a:close/>
                </a:path>
              </a:pathLst>
            </a:custGeom>
            <a:solidFill>
              <a:srgbClr val="191949"/>
            </a:solidFill>
            <a:ln w="12700">
              <a:solidFill>
                <a:srgbClr val="000000"/>
              </a:solidFill>
            </a:ln>
          </p:spPr>
          <p:txBody>
            <a:bodyPr/>
            <a:lstStyle/>
            <a:p>
              <a:endParaRPr lang="en-IN"/>
            </a:p>
          </p:txBody>
        </p:sp>
      </p:grpSp>
      <p:sp>
        <p:nvSpPr>
          <p:cNvPr id="24" name="TextBox 24"/>
          <p:cNvSpPr txBox="1"/>
          <p:nvPr/>
        </p:nvSpPr>
        <p:spPr>
          <a:xfrm>
            <a:off x="12272372" y="1921669"/>
            <a:ext cx="3190427" cy="417909"/>
          </a:xfrm>
          <a:prstGeom prst="rect">
            <a:avLst/>
          </a:prstGeom>
        </p:spPr>
        <p:txBody>
          <a:bodyPr lIns="0" tIns="0" rIns="0" bIns="0" rtlCol="0" anchor="t">
            <a:spAutoFit/>
          </a:bodyPr>
          <a:lstStyle/>
          <a:p>
            <a:pPr algn="l">
              <a:lnSpc>
                <a:spcPts val="3124"/>
              </a:lnSpc>
            </a:pPr>
            <a:r>
              <a:rPr lang="en-US" sz="2499">
                <a:solidFill>
                  <a:srgbClr val="FFFFFF"/>
                </a:solidFill>
                <a:latin typeface="Roboto"/>
                <a:ea typeface="Roboto"/>
                <a:cs typeface="Roboto"/>
                <a:sym typeface="Roboto"/>
              </a:rPr>
              <a:t>Professional Skills </a:t>
            </a:r>
            <a:r>
              <a:rPr lang="en-US" sz="2499">
                <a:solidFill>
                  <a:srgbClr val="000000"/>
                </a:solidFill>
                <a:latin typeface="Roboto"/>
                <a:ea typeface="Roboto"/>
                <a:cs typeface="Roboto"/>
                <a:sym typeface="Roboto"/>
              </a:rPr>
              <a:t>🎯</a:t>
            </a:r>
          </a:p>
        </p:txBody>
      </p:sp>
      <p:sp>
        <p:nvSpPr>
          <p:cNvPr id="25" name="TextBox 25"/>
          <p:cNvSpPr txBox="1"/>
          <p:nvPr/>
        </p:nvSpPr>
        <p:spPr>
          <a:xfrm>
            <a:off x="12272372" y="2390927"/>
            <a:ext cx="4942580" cy="1437084"/>
          </a:xfrm>
          <a:prstGeom prst="rect">
            <a:avLst/>
          </a:prstGeom>
        </p:spPr>
        <p:txBody>
          <a:bodyPr lIns="0" tIns="0" rIns="0" bIns="0" rtlCol="0" anchor="t">
            <a:spAutoFit/>
          </a:bodyPr>
          <a:lstStyle/>
          <a:p>
            <a:pPr algn="l">
              <a:lnSpc>
                <a:spcPts val="2625"/>
              </a:lnSpc>
            </a:pPr>
            <a:r>
              <a:rPr lang="en-US" sz="1625" b="1">
                <a:solidFill>
                  <a:srgbClr val="FFFFFF"/>
                </a:solidFill>
                <a:latin typeface="Roboto Bold"/>
                <a:ea typeface="Roboto Bold"/>
                <a:cs typeface="Roboto Bold"/>
                <a:sym typeface="Roboto Bold"/>
              </a:rPr>
              <a:t>Project Scoping:</a:t>
            </a:r>
            <a:r>
              <a:rPr lang="en-US" sz="1625">
                <a:solidFill>
                  <a:srgbClr val="FFFFFF"/>
                </a:solidFill>
                <a:latin typeface="Roboto"/>
                <a:ea typeface="Roboto"/>
                <a:cs typeface="Roboto"/>
                <a:sym typeface="Roboto"/>
              </a:rPr>
              <a:t> Broke down complex urban emissions problem into actionable steps with realistic objectives and timelines, prioritizing high-impact deliverables.</a:t>
            </a:r>
          </a:p>
        </p:txBody>
      </p:sp>
      <p:sp>
        <p:nvSpPr>
          <p:cNvPr id="26" name="TextBox 26"/>
          <p:cNvSpPr txBox="1"/>
          <p:nvPr/>
        </p:nvSpPr>
        <p:spPr>
          <a:xfrm>
            <a:off x="12272372" y="3879352"/>
            <a:ext cx="4942580" cy="1437084"/>
          </a:xfrm>
          <a:prstGeom prst="rect">
            <a:avLst/>
          </a:prstGeom>
        </p:spPr>
        <p:txBody>
          <a:bodyPr lIns="0" tIns="0" rIns="0" bIns="0" rtlCol="0" anchor="t">
            <a:spAutoFit/>
          </a:bodyPr>
          <a:lstStyle/>
          <a:p>
            <a:pPr algn="l">
              <a:lnSpc>
                <a:spcPts val="2625"/>
              </a:lnSpc>
            </a:pPr>
            <a:r>
              <a:rPr lang="en-US" sz="1625" b="1">
                <a:solidFill>
                  <a:srgbClr val="FFFFFF"/>
                </a:solidFill>
                <a:latin typeface="Roboto Bold"/>
                <a:ea typeface="Roboto Bold"/>
                <a:cs typeface="Roboto Bold"/>
                <a:sym typeface="Roboto Bold"/>
              </a:rPr>
              <a:t>Stakeholder Communication:</a:t>
            </a:r>
            <a:r>
              <a:rPr lang="en-US" sz="1625">
                <a:solidFill>
                  <a:srgbClr val="FFFFFF"/>
                </a:solidFill>
                <a:latin typeface="Roboto"/>
                <a:ea typeface="Roboto"/>
                <a:cs typeface="Roboto"/>
                <a:sym typeface="Roboto"/>
              </a:rPr>
              <a:t> Explained technical concepts (Emission Index) in accessible language, incorporated diverse feedback, tailored presentations for different audiences.</a:t>
            </a:r>
          </a:p>
        </p:txBody>
      </p:sp>
      <p:sp>
        <p:nvSpPr>
          <p:cNvPr id="27" name="TextBox 27"/>
          <p:cNvSpPr txBox="1"/>
          <p:nvPr/>
        </p:nvSpPr>
        <p:spPr>
          <a:xfrm>
            <a:off x="12272372" y="5367785"/>
            <a:ext cx="4942580" cy="1437084"/>
          </a:xfrm>
          <a:prstGeom prst="rect">
            <a:avLst/>
          </a:prstGeom>
        </p:spPr>
        <p:txBody>
          <a:bodyPr lIns="0" tIns="0" rIns="0" bIns="0" rtlCol="0" anchor="t">
            <a:spAutoFit/>
          </a:bodyPr>
          <a:lstStyle/>
          <a:p>
            <a:pPr algn="l">
              <a:lnSpc>
                <a:spcPts val="2625"/>
              </a:lnSpc>
            </a:pPr>
            <a:r>
              <a:rPr lang="en-US" sz="1625" b="1">
                <a:solidFill>
                  <a:srgbClr val="FFFFFF"/>
                </a:solidFill>
                <a:latin typeface="Roboto Bold"/>
                <a:ea typeface="Roboto Bold"/>
                <a:cs typeface="Roboto Bold"/>
                <a:sym typeface="Roboto Bold"/>
              </a:rPr>
              <a:t>Visual Storytelling:</a:t>
            </a:r>
            <a:r>
              <a:rPr lang="en-US" sz="1625">
                <a:solidFill>
                  <a:srgbClr val="FFFFFF"/>
                </a:solidFill>
                <a:latin typeface="Roboto"/>
                <a:ea typeface="Roboto"/>
                <a:cs typeface="Roboto"/>
                <a:sym typeface="Roboto"/>
              </a:rPr>
              <a:t> Used heatmaps, dashboards, and tables to transform data into compelling narrative—Problem → Approach → Findings → Recommendations.</a:t>
            </a:r>
          </a:p>
        </p:txBody>
      </p:sp>
      <p:sp>
        <p:nvSpPr>
          <p:cNvPr id="28" name="TextBox 28"/>
          <p:cNvSpPr txBox="1"/>
          <p:nvPr/>
        </p:nvSpPr>
        <p:spPr>
          <a:xfrm>
            <a:off x="12272372" y="6856209"/>
            <a:ext cx="4942580" cy="1096861"/>
          </a:xfrm>
          <a:prstGeom prst="rect">
            <a:avLst/>
          </a:prstGeom>
        </p:spPr>
        <p:txBody>
          <a:bodyPr lIns="0" tIns="0" rIns="0" bIns="0" rtlCol="0" anchor="t">
            <a:spAutoFit/>
          </a:bodyPr>
          <a:lstStyle/>
          <a:p>
            <a:pPr algn="l">
              <a:lnSpc>
                <a:spcPts val="2625"/>
              </a:lnSpc>
            </a:pPr>
            <a:r>
              <a:rPr lang="en-US" sz="1625" b="1">
                <a:solidFill>
                  <a:srgbClr val="FFFFFF"/>
                </a:solidFill>
                <a:latin typeface="Roboto Bold"/>
                <a:ea typeface="Roboto Bold"/>
                <a:cs typeface="Roboto Bold"/>
                <a:sym typeface="Roboto Bold"/>
              </a:rPr>
              <a:t>Iterative Development:</a:t>
            </a:r>
            <a:r>
              <a:rPr lang="en-US" sz="1625">
                <a:solidFill>
                  <a:srgbClr val="FFFFFF"/>
                </a:solidFill>
                <a:latin typeface="Roboto"/>
                <a:ea typeface="Roboto"/>
                <a:cs typeface="Roboto"/>
                <a:sym typeface="Roboto"/>
              </a:rPr>
              <a:t> Built incrementally, tested early with mentors, refined based on continuous feedback.</a:t>
            </a:r>
          </a:p>
        </p:txBody>
      </p:sp>
      <p:grpSp>
        <p:nvGrpSpPr>
          <p:cNvPr id="29" name="Group 29"/>
          <p:cNvGrpSpPr/>
          <p:nvPr/>
        </p:nvGrpSpPr>
        <p:grpSpPr>
          <a:xfrm>
            <a:off x="850697" y="8414442"/>
            <a:ext cx="16586597" cy="1243908"/>
            <a:chOff x="0" y="0"/>
            <a:chExt cx="22115462" cy="1658544"/>
          </a:xfrm>
        </p:grpSpPr>
        <p:sp>
          <p:nvSpPr>
            <p:cNvPr id="30" name="Freeform 30"/>
            <p:cNvSpPr/>
            <p:nvPr/>
          </p:nvSpPr>
          <p:spPr>
            <a:xfrm>
              <a:off x="0" y="0"/>
              <a:ext cx="22115526" cy="1658493"/>
            </a:xfrm>
            <a:custGeom>
              <a:avLst/>
              <a:gdLst/>
              <a:ahLst/>
              <a:cxnLst/>
              <a:rect l="l" t="t" r="r" b="b"/>
              <a:pathLst>
                <a:path w="22115526" h="1658493">
                  <a:moveTo>
                    <a:pt x="0" y="119126"/>
                  </a:moveTo>
                  <a:cubicBezTo>
                    <a:pt x="0" y="53340"/>
                    <a:pt x="53340" y="0"/>
                    <a:pt x="119126" y="0"/>
                  </a:cubicBezTo>
                  <a:lnTo>
                    <a:pt x="21996400" y="0"/>
                  </a:lnTo>
                  <a:cubicBezTo>
                    <a:pt x="22062187" y="0"/>
                    <a:pt x="22115526" y="53340"/>
                    <a:pt x="22115526" y="119126"/>
                  </a:cubicBezTo>
                  <a:lnTo>
                    <a:pt x="22115526" y="1539367"/>
                  </a:lnTo>
                  <a:cubicBezTo>
                    <a:pt x="22115526" y="1605153"/>
                    <a:pt x="22062187" y="1658493"/>
                    <a:pt x="21996400" y="1658493"/>
                  </a:cubicBezTo>
                  <a:lnTo>
                    <a:pt x="119126" y="1658493"/>
                  </a:lnTo>
                  <a:cubicBezTo>
                    <a:pt x="53340" y="1658493"/>
                    <a:pt x="0" y="1605153"/>
                    <a:pt x="0" y="1539367"/>
                  </a:cubicBezTo>
                  <a:close/>
                </a:path>
              </a:pathLst>
            </a:custGeom>
            <a:solidFill>
              <a:srgbClr val="0F163E"/>
            </a:solidFill>
            <a:ln w="12700">
              <a:solidFill>
                <a:srgbClr val="000000"/>
              </a:solidFill>
            </a:ln>
          </p:spPr>
          <p:txBody>
            <a:bodyPr/>
            <a:lstStyle/>
            <a:p>
              <a:endParaRPr lang="en-IN"/>
            </a:p>
          </p:txBody>
        </p:sp>
      </p:grpSp>
      <p:sp>
        <p:nvSpPr>
          <p:cNvPr id="31" name="Freeform 31" descr="preencoded.png"/>
          <p:cNvSpPr/>
          <p:nvPr/>
        </p:nvSpPr>
        <p:spPr>
          <a:xfrm>
            <a:off x="1063381" y="8732196"/>
            <a:ext cx="265805" cy="212674"/>
          </a:xfrm>
          <a:custGeom>
            <a:avLst/>
            <a:gdLst/>
            <a:ahLst/>
            <a:cxnLst/>
            <a:rect l="l" t="t" r="r" b="b"/>
            <a:pathLst>
              <a:path w="265805" h="212674">
                <a:moveTo>
                  <a:pt x="0" y="0"/>
                </a:moveTo>
                <a:lnTo>
                  <a:pt x="265804" y="0"/>
                </a:lnTo>
                <a:lnTo>
                  <a:pt x="265804" y="212674"/>
                </a:lnTo>
                <a:lnTo>
                  <a:pt x="0" y="212674"/>
                </a:lnTo>
                <a:lnTo>
                  <a:pt x="0" y="0"/>
                </a:lnTo>
                <a:close/>
              </a:path>
            </a:pathLst>
          </a:custGeom>
          <a:blipFill>
            <a:blip r:embed="rId4"/>
            <a:stretch>
              <a:fillRect l="-917" r="-917"/>
            </a:stretch>
          </a:blipFill>
        </p:spPr>
        <p:txBody>
          <a:bodyPr/>
          <a:lstStyle/>
          <a:p>
            <a:endParaRPr lang="en-IN"/>
          </a:p>
        </p:txBody>
      </p:sp>
      <p:sp>
        <p:nvSpPr>
          <p:cNvPr id="32" name="TextBox 32"/>
          <p:cNvSpPr txBox="1"/>
          <p:nvPr/>
        </p:nvSpPr>
        <p:spPr>
          <a:xfrm>
            <a:off x="1541859" y="8604047"/>
            <a:ext cx="15682760" cy="756647"/>
          </a:xfrm>
          <a:prstGeom prst="rect">
            <a:avLst/>
          </a:prstGeom>
        </p:spPr>
        <p:txBody>
          <a:bodyPr lIns="0" tIns="0" rIns="0" bIns="0" rtlCol="0" anchor="t">
            <a:spAutoFit/>
          </a:bodyPr>
          <a:lstStyle/>
          <a:p>
            <a:pPr algn="l">
              <a:lnSpc>
                <a:spcPts val="2625"/>
              </a:lnSpc>
            </a:pPr>
            <a:r>
              <a:rPr lang="en-US" sz="1625" b="1">
                <a:solidFill>
                  <a:srgbClr val="FFFFFF"/>
                </a:solidFill>
                <a:latin typeface="Roboto Bold"/>
                <a:ea typeface="Roboto Bold"/>
                <a:cs typeface="Roboto Bold"/>
                <a:sym typeface="Roboto Bold"/>
              </a:rPr>
              <a:t>Key Insight:</a:t>
            </a:r>
            <a:r>
              <a:rPr lang="en-US" sz="1625">
                <a:solidFill>
                  <a:srgbClr val="FFFFFF"/>
                </a:solidFill>
                <a:latin typeface="Roboto"/>
                <a:ea typeface="Roboto"/>
                <a:cs typeface="Roboto"/>
                <a:sym typeface="Roboto"/>
              </a:rPr>
              <a:t> Even a student-level project with open data can create a powerful decision-support tool for cities. These three skill dimensions—green, data, and professional—reinforce each other to drive meaningful impact.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18">
                <a:alpha val="90196"/>
              </a:srgbClr>
            </a:solidFill>
            <a:ln w="12700">
              <a:solidFill>
                <a:srgbClr val="000000"/>
              </a:solidFill>
            </a:ln>
          </p:spPr>
          <p:txBody>
            <a:bodyPr/>
            <a:lstStyle/>
            <a:p>
              <a:endParaRPr lang="en-IN"/>
            </a:p>
          </p:txBody>
        </p:sp>
      </p:grpSp>
      <p:sp>
        <p:nvSpPr>
          <p:cNvPr id="5" name="TextBox 5"/>
          <p:cNvSpPr txBox="1"/>
          <p:nvPr/>
        </p:nvSpPr>
        <p:spPr>
          <a:xfrm>
            <a:off x="807987" y="748303"/>
            <a:ext cx="8488709" cy="659902"/>
          </a:xfrm>
          <a:prstGeom prst="rect">
            <a:avLst/>
          </a:prstGeom>
        </p:spPr>
        <p:txBody>
          <a:bodyPr lIns="0" tIns="0" rIns="0" bIns="0" rtlCol="0" anchor="t">
            <a:spAutoFit/>
          </a:bodyPr>
          <a:lstStyle/>
          <a:p>
            <a:pPr algn="l">
              <a:lnSpc>
                <a:spcPts val="4937"/>
              </a:lnSpc>
            </a:pPr>
            <a:r>
              <a:rPr lang="en-US" sz="3937">
                <a:solidFill>
                  <a:srgbClr val="FFFFFF"/>
                </a:solidFill>
                <a:latin typeface="Roboto"/>
                <a:ea typeface="Roboto"/>
                <a:cs typeface="Roboto"/>
                <a:sym typeface="Roboto"/>
              </a:rPr>
              <a:t>Future Roadmap: From Data to Action</a:t>
            </a:r>
          </a:p>
        </p:txBody>
      </p:sp>
      <p:grpSp>
        <p:nvGrpSpPr>
          <p:cNvPr id="6" name="Group 6"/>
          <p:cNvGrpSpPr/>
          <p:nvPr/>
        </p:nvGrpSpPr>
        <p:grpSpPr>
          <a:xfrm>
            <a:off x="9129712" y="1812131"/>
            <a:ext cx="28575" cy="7697991"/>
            <a:chOff x="0" y="0"/>
            <a:chExt cx="38100" cy="10263988"/>
          </a:xfrm>
        </p:grpSpPr>
        <p:sp>
          <p:nvSpPr>
            <p:cNvPr id="7" name="Freeform 7"/>
            <p:cNvSpPr/>
            <p:nvPr/>
          </p:nvSpPr>
          <p:spPr>
            <a:xfrm>
              <a:off x="0" y="0"/>
              <a:ext cx="38100" cy="10264013"/>
            </a:xfrm>
            <a:custGeom>
              <a:avLst/>
              <a:gdLst/>
              <a:ahLst/>
              <a:cxnLst/>
              <a:rect l="l" t="t" r="r" b="b"/>
              <a:pathLst>
                <a:path w="38100" h="10264013">
                  <a:moveTo>
                    <a:pt x="0" y="19050"/>
                  </a:moveTo>
                  <a:cubicBezTo>
                    <a:pt x="0" y="8509"/>
                    <a:pt x="8509" y="0"/>
                    <a:pt x="19050" y="0"/>
                  </a:cubicBezTo>
                  <a:cubicBezTo>
                    <a:pt x="29591" y="0"/>
                    <a:pt x="38100" y="8509"/>
                    <a:pt x="38100" y="19050"/>
                  </a:cubicBezTo>
                  <a:lnTo>
                    <a:pt x="38100" y="10244963"/>
                  </a:lnTo>
                  <a:cubicBezTo>
                    <a:pt x="38100" y="10255504"/>
                    <a:pt x="29591" y="10264013"/>
                    <a:pt x="19050" y="10264013"/>
                  </a:cubicBezTo>
                  <a:cubicBezTo>
                    <a:pt x="8509" y="10264013"/>
                    <a:pt x="0" y="10255504"/>
                    <a:pt x="0" y="10244963"/>
                  </a:cubicBezTo>
                  <a:close/>
                </a:path>
              </a:pathLst>
            </a:custGeom>
            <a:solidFill>
              <a:srgbClr val="313E80"/>
            </a:solidFill>
            <a:ln w="12700">
              <a:solidFill>
                <a:srgbClr val="000000"/>
              </a:solidFill>
            </a:ln>
          </p:spPr>
          <p:txBody>
            <a:bodyPr/>
            <a:lstStyle/>
            <a:p>
              <a:endParaRPr lang="en-IN"/>
            </a:p>
          </p:txBody>
        </p:sp>
      </p:grpSp>
      <p:grpSp>
        <p:nvGrpSpPr>
          <p:cNvPr id="8" name="Group 8"/>
          <p:cNvGrpSpPr/>
          <p:nvPr/>
        </p:nvGrpSpPr>
        <p:grpSpPr>
          <a:xfrm>
            <a:off x="8339290" y="2025101"/>
            <a:ext cx="606028" cy="28575"/>
            <a:chOff x="0" y="0"/>
            <a:chExt cx="808038" cy="38100"/>
          </a:xfrm>
        </p:grpSpPr>
        <p:sp>
          <p:nvSpPr>
            <p:cNvPr id="9" name="Freeform 9"/>
            <p:cNvSpPr/>
            <p:nvPr/>
          </p:nvSpPr>
          <p:spPr>
            <a:xfrm>
              <a:off x="0" y="0"/>
              <a:ext cx="808101" cy="38100"/>
            </a:xfrm>
            <a:custGeom>
              <a:avLst/>
              <a:gdLst/>
              <a:ahLst/>
              <a:cxnLst/>
              <a:rect l="l" t="t" r="r" b="b"/>
              <a:pathLst>
                <a:path w="808101" h="38100">
                  <a:moveTo>
                    <a:pt x="0" y="19050"/>
                  </a:moveTo>
                  <a:cubicBezTo>
                    <a:pt x="0" y="8509"/>
                    <a:pt x="8509" y="0"/>
                    <a:pt x="19050" y="0"/>
                  </a:cubicBezTo>
                  <a:lnTo>
                    <a:pt x="789051" y="0"/>
                  </a:lnTo>
                  <a:cubicBezTo>
                    <a:pt x="799592" y="0"/>
                    <a:pt x="808101" y="8509"/>
                    <a:pt x="808101" y="19050"/>
                  </a:cubicBezTo>
                  <a:cubicBezTo>
                    <a:pt x="808101" y="29591"/>
                    <a:pt x="799465" y="38100"/>
                    <a:pt x="789051" y="38100"/>
                  </a:cubicBezTo>
                  <a:lnTo>
                    <a:pt x="19050" y="38100"/>
                  </a:lnTo>
                  <a:cubicBezTo>
                    <a:pt x="8509" y="38100"/>
                    <a:pt x="0" y="29591"/>
                    <a:pt x="0" y="19050"/>
                  </a:cubicBezTo>
                  <a:close/>
                </a:path>
              </a:pathLst>
            </a:custGeom>
            <a:solidFill>
              <a:srgbClr val="313E80"/>
            </a:solidFill>
            <a:ln w="12700">
              <a:solidFill>
                <a:srgbClr val="000000"/>
              </a:solidFill>
            </a:ln>
          </p:spPr>
          <p:txBody>
            <a:bodyPr/>
            <a:lstStyle/>
            <a:p>
              <a:endParaRPr lang="en-IN"/>
            </a:p>
          </p:txBody>
        </p:sp>
      </p:grpSp>
      <p:grpSp>
        <p:nvGrpSpPr>
          <p:cNvPr id="10" name="Group 10"/>
          <p:cNvGrpSpPr/>
          <p:nvPr/>
        </p:nvGrpSpPr>
        <p:grpSpPr>
          <a:xfrm>
            <a:off x="8911981" y="1807369"/>
            <a:ext cx="464048" cy="464048"/>
            <a:chOff x="0" y="0"/>
            <a:chExt cx="618731" cy="618731"/>
          </a:xfrm>
        </p:grpSpPr>
        <p:sp>
          <p:nvSpPr>
            <p:cNvPr id="11" name="Freeform 11"/>
            <p:cNvSpPr/>
            <p:nvPr/>
          </p:nvSpPr>
          <p:spPr>
            <a:xfrm>
              <a:off x="6350" y="6350"/>
              <a:ext cx="606044" cy="606044"/>
            </a:xfrm>
            <a:custGeom>
              <a:avLst/>
              <a:gdLst/>
              <a:ahLst/>
              <a:cxnLst/>
              <a:rect l="l" t="t" r="r" b="b"/>
              <a:pathLst>
                <a:path w="606044" h="606044">
                  <a:moveTo>
                    <a:pt x="0" y="113157"/>
                  </a:moveTo>
                  <a:cubicBezTo>
                    <a:pt x="0" y="50673"/>
                    <a:pt x="50673" y="0"/>
                    <a:pt x="113157" y="0"/>
                  </a:cubicBezTo>
                  <a:lnTo>
                    <a:pt x="492887" y="0"/>
                  </a:lnTo>
                  <a:cubicBezTo>
                    <a:pt x="555371" y="0"/>
                    <a:pt x="606044" y="50673"/>
                    <a:pt x="606044" y="113157"/>
                  </a:cubicBezTo>
                  <a:lnTo>
                    <a:pt x="606044" y="492887"/>
                  </a:lnTo>
                  <a:cubicBezTo>
                    <a:pt x="606044" y="555371"/>
                    <a:pt x="555371" y="606044"/>
                    <a:pt x="492887" y="606044"/>
                  </a:cubicBezTo>
                  <a:lnTo>
                    <a:pt x="113157" y="606044"/>
                  </a:lnTo>
                  <a:cubicBezTo>
                    <a:pt x="50673" y="606044"/>
                    <a:pt x="0" y="555371"/>
                    <a:pt x="0" y="492887"/>
                  </a:cubicBezTo>
                  <a:close/>
                </a:path>
              </a:pathLst>
            </a:custGeom>
            <a:solidFill>
              <a:srgbClr val="182567"/>
            </a:solidFill>
            <a:ln w="12700">
              <a:solidFill>
                <a:srgbClr val="000000"/>
              </a:solidFill>
            </a:ln>
          </p:spPr>
          <p:txBody>
            <a:bodyPr/>
            <a:lstStyle/>
            <a:p>
              <a:endParaRPr lang="en-IN"/>
            </a:p>
          </p:txBody>
        </p:sp>
        <p:sp>
          <p:nvSpPr>
            <p:cNvPr id="12" name="Freeform 12"/>
            <p:cNvSpPr/>
            <p:nvPr/>
          </p:nvSpPr>
          <p:spPr>
            <a:xfrm>
              <a:off x="0" y="0"/>
              <a:ext cx="618744" cy="618744"/>
            </a:xfrm>
            <a:custGeom>
              <a:avLst/>
              <a:gdLst/>
              <a:ahLst/>
              <a:cxnLst/>
              <a:rect l="l" t="t" r="r" b="b"/>
              <a:pathLst>
                <a:path w="618744" h="618744">
                  <a:moveTo>
                    <a:pt x="0" y="119507"/>
                  </a:moveTo>
                  <a:cubicBezTo>
                    <a:pt x="0" y="53467"/>
                    <a:pt x="53467" y="0"/>
                    <a:pt x="119507" y="0"/>
                  </a:cubicBezTo>
                  <a:lnTo>
                    <a:pt x="499237" y="0"/>
                  </a:lnTo>
                  <a:lnTo>
                    <a:pt x="499237" y="6350"/>
                  </a:lnTo>
                  <a:lnTo>
                    <a:pt x="499237" y="0"/>
                  </a:lnTo>
                  <a:lnTo>
                    <a:pt x="499237" y="6350"/>
                  </a:lnTo>
                  <a:lnTo>
                    <a:pt x="499237" y="0"/>
                  </a:lnTo>
                  <a:cubicBezTo>
                    <a:pt x="565277" y="0"/>
                    <a:pt x="618744" y="53467"/>
                    <a:pt x="618744" y="119507"/>
                  </a:cubicBezTo>
                  <a:lnTo>
                    <a:pt x="612394" y="119507"/>
                  </a:lnTo>
                  <a:lnTo>
                    <a:pt x="618744" y="119507"/>
                  </a:lnTo>
                  <a:lnTo>
                    <a:pt x="618744" y="499237"/>
                  </a:lnTo>
                  <a:lnTo>
                    <a:pt x="612394" y="499237"/>
                  </a:lnTo>
                  <a:lnTo>
                    <a:pt x="618744" y="499237"/>
                  </a:lnTo>
                  <a:cubicBezTo>
                    <a:pt x="618744" y="565277"/>
                    <a:pt x="565277" y="618744"/>
                    <a:pt x="499237" y="618744"/>
                  </a:cubicBezTo>
                  <a:lnTo>
                    <a:pt x="499237" y="612394"/>
                  </a:lnTo>
                  <a:lnTo>
                    <a:pt x="499237" y="618744"/>
                  </a:lnTo>
                  <a:lnTo>
                    <a:pt x="119507" y="618744"/>
                  </a:lnTo>
                  <a:lnTo>
                    <a:pt x="119507" y="612394"/>
                  </a:lnTo>
                  <a:lnTo>
                    <a:pt x="119507" y="618744"/>
                  </a:lnTo>
                  <a:cubicBezTo>
                    <a:pt x="53467" y="618744"/>
                    <a:pt x="0" y="565277"/>
                    <a:pt x="0" y="499237"/>
                  </a:cubicBezTo>
                  <a:lnTo>
                    <a:pt x="0" y="119507"/>
                  </a:lnTo>
                  <a:lnTo>
                    <a:pt x="6350" y="119507"/>
                  </a:lnTo>
                  <a:lnTo>
                    <a:pt x="0" y="119507"/>
                  </a:lnTo>
                  <a:moveTo>
                    <a:pt x="12700" y="119507"/>
                  </a:moveTo>
                  <a:lnTo>
                    <a:pt x="12700" y="499237"/>
                  </a:lnTo>
                  <a:lnTo>
                    <a:pt x="6350" y="499237"/>
                  </a:lnTo>
                  <a:lnTo>
                    <a:pt x="12700" y="499237"/>
                  </a:lnTo>
                  <a:cubicBezTo>
                    <a:pt x="12700" y="558165"/>
                    <a:pt x="60452" y="606044"/>
                    <a:pt x="119507" y="606044"/>
                  </a:cubicBezTo>
                  <a:lnTo>
                    <a:pt x="499237" y="606044"/>
                  </a:lnTo>
                  <a:cubicBezTo>
                    <a:pt x="558165" y="606044"/>
                    <a:pt x="606044" y="558292"/>
                    <a:pt x="606044" y="499237"/>
                  </a:cubicBezTo>
                  <a:lnTo>
                    <a:pt x="606044" y="119507"/>
                  </a:lnTo>
                  <a:cubicBezTo>
                    <a:pt x="606044" y="60452"/>
                    <a:pt x="558165" y="12700"/>
                    <a:pt x="499237" y="12700"/>
                  </a:cubicBezTo>
                  <a:lnTo>
                    <a:pt x="119507" y="12700"/>
                  </a:lnTo>
                  <a:lnTo>
                    <a:pt x="119507" y="6350"/>
                  </a:lnTo>
                  <a:lnTo>
                    <a:pt x="119507" y="12700"/>
                  </a:lnTo>
                  <a:cubicBezTo>
                    <a:pt x="60452" y="12700"/>
                    <a:pt x="12700" y="60452"/>
                    <a:pt x="12700" y="119507"/>
                  </a:cubicBezTo>
                  <a:close/>
                </a:path>
              </a:pathLst>
            </a:custGeom>
            <a:solidFill>
              <a:srgbClr val="313E80"/>
            </a:solidFill>
            <a:ln w="12700">
              <a:solidFill>
                <a:srgbClr val="000000"/>
              </a:solidFill>
            </a:ln>
          </p:spPr>
          <p:txBody>
            <a:bodyPr/>
            <a:lstStyle/>
            <a:p>
              <a:endParaRPr lang="en-IN"/>
            </a:p>
          </p:txBody>
        </p:sp>
      </p:grpSp>
      <p:sp>
        <p:nvSpPr>
          <p:cNvPr id="13" name="TextBox 13"/>
          <p:cNvSpPr txBox="1"/>
          <p:nvPr/>
        </p:nvSpPr>
        <p:spPr>
          <a:xfrm>
            <a:off x="8992495" y="1888112"/>
            <a:ext cx="303009" cy="340671"/>
          </a:xfrm>
          <a:prstGeom prst="rect">
            <a:avLst/>
          </a:prstGeom>
        </p:spPr>
        <p:txBody>
          <a:bodyPr lIns="0" tIns="0" rIns="0" bIns="0" rtlCol="0" anchor="t">
            <a:spAutoFit/>
          </a:bodyPr>
          <a:lstStyle/>
          <a:p>
            <a:pPr algn="ctr">
              <a:lnSpc>
                <a:spcPts val="2375"/>
              </a:lnSpc>
            </a:pPr>
            <a:r>
              <a:rPr lang="en-US" sz="2375">
                <a:solidFill>
                  <a:srgbClr val="CFD0D8"/>
                </a:solidFill>
                <a:latin typeface="Roboto"/>
                <a:ea typeface="Roboto"/>
                <a:cs typeface="Roboto"/>
                <a:sym typeface="Roboto"/>
              </a:rPr>
              <a:t>1</a:t>
            </a:r>
          </a:p>
        </p:txBody>
      </p:sp>
      <p:sp>
        <p:nvSpPr>
          <p:cNvPr id="14" name="TextBox 14"/>
          <p:cNvSpPr txBox="1"/>
          <p:nvPr/>
        </p:nvSpPr>
        <p:spPr>
          <a:xfrm>
            <a:off x="1398984" y="1852908"/>
            <a:ext cx="6734918" cy="344243"/>
          </a:xfrm>
          <a:prstGeom prst="rect">
            <a:avLst/>
          </a:prstGeom>
        </p:spPr>
        <p:txBody>
          <a:bodyPr lIns="0" tIns="0" rIns="0" bIns="0" rtlCol="0" anchor="t">
            <a:spAutoFit/>
          </a:bodyPr>
          <a:lstStyle/>
          <a:p>
            <a:pPr algn="r">
              <a:lnSpc>
                <a:spcPts val="2437"/>
              </a:lnSpc>
            </a:pPr>
            <a:r>
              <a:rPr lang="en-US" sz="1937">
                <a:solidFill>
                  <a:srgbClr val="CFD0D8"/>
                </a:solidFill>
                <a:latin typeface="Roboto"/>
                <a:ea typeface="Roboto"/>
                <a:cs typeface="Roboto"/>
                <a:sym typeface="Roboto"/>
              </a:rPr>
              <a:t>Phase 1: Validation &amp; Stakeholder Presentations (Jan 2026)</a:t>
            </a:r>
          </a:p>
        </p:txBody>
      </p:sp>
      <p:sp>
        <p:nvSpPr>
          <p:cNvPr id="15" name="TextBox 15"/>
          <p:cNvSpPr txBox="1"/>
          <p:nvPr/>
        </p:nvSpPr>
        <p:spPr>
          <a:xfrm>
            <a:off x="807987" y="2251624"/>
            <a:ext cx="7325916" cy="1035996"/>
          </a:xfrm>
          <a:prstGeom prst="rect">
            <a:avLst/>
          </a:prstGeom>
        </p:spPr>
        <p:txBody>
          <a:bodyPr lIns="0" tIns="0" rIns="0" bIns="0" rtlCol="0" anchor="t">
            <a:spAutoFit/>
          </a:bodyPr>
          <a:lstStyle/>
          <a:p>
            <a:pPr algn="r">
              <a:lnSpc>
                <a:spcPts val="2499"/>
              </a:lnSpc>
            </a:pPr>
            <a:r>
              <a:rPr lang="en-US" sz="1562">
                <a:solidFill>
                  <a:srgbClr val="CFD0D8"/>
                </a:solidFill>
                <a:latin typeface="Roboto"/>
                <a:ea typeface="Roboto"/>
                <a:cs typeface="Roboto"/>
                <a:sym typeface="Roboto"/>
              </a:rPr>
              <a:t>Present findings to GHMC planning and transport departments. Refine hotspot rankings with official data. Publish summary article on LinkedIn/Medium with #1M1B #Hyderabad hashtags.</a:t>
            </a:r>
          </a:p>
        </p:txBody>
      </p:sp>
      <p:sp>
        <p:nvSpPr>
          <p:cNvPr id="16" name="TextBox 16"/>
          <p:cNvSpPr txBox="1"/>
          <p:nvPr/>
        </p:nvSpPr>
        <p:spPr>
          <a:xfrm>
            <a:off x="807987" y="3342084"/>
            <a:ext cx="7325916" cy="712889"/>
          </a:xfrm>
          <a:prstGeom prst="rect">
            <a:avLst/>
          </a:prstGeom>
        </p:spPr>
        <p:txBody>
          <a:bodyPr lIns="0" tIns="0" rIns="0" bIns="0" rtlCol="0" anchor="t">
            <a:spAutoFit/>
          </a:bodyPr>
          <a:lstStyle/>
          <a:p>
            <a:pPr algn="r">
              <a:lnSpc>
                <a:spcPts val="2499"/>
              </a:lnSpc>
            </a:pPr>
            <a:r>
              <a:rPr lang="en-US" sz="1562" b="1">
                <a:solidFill>
                  <a:srgbClr val="CFD0D8"/>
                </a:solidFill>
                <a:latin typeface="Roboto Bold"/>
                <a:ea typeface="Roboto Bold"/>
                <a:cs typeface="Roboto Bold"/>
                <a:sym typeface="Roboto Bold"/>
              </a:rPr>
              <a:t>Expected Outcome:</a:t>
            </a:r>
            <a:r>
              <a:rPr lang="en-US" sz="1562">
                <a:solidFill>
                  <a:srgbClr val="CFD0D8"/>
                </a:solidFill>
                <a:latin typeface="Roboto"/>
                <a:ea typeface="Roboto"/>
                <a:cs typeface="Roboto"/>
                <a:sym typeface="Roboto"/>
              </a:rPr>
              <a:t> GHMC interest in integrating hotspot map into 2026 climate plan</a:t>
            </a:r>
          </a:p>
        </p:txBody>
      </p:sp>
      <p:grpSp>
        <p:nvGrpSpPr>
          <p:cNvPr id="17" name="Group 17"/>
          <p:cNvGrpSpPr/>
          <p:nvPr/>
        </p:nvGrpSpPr>
        <p:grpSpPr>
          <a:xfrm>
            <a:off x="9342682" y="3237014"/>
            <a:ext cx="606028" cy="28575"/>
            <a:chOff x="0" y="0"/>
            <a:chExt cx="808038" cy="38100"/>
          </a:xfrm>
        </p:grpSpPr>
        <p:sp>
          <p:nvSpPr>
            <p:cNvPr id="18" name="Freeform 18"/>
            <p:cNvSpPr/>
            <p:nvPr/>
          </p:nvSpPr>
          <p:spPr>
            <a:xfrm>
              <a:off x="0" y="0"/>
              <a:ext cx="808101" cy="38100"/>
            </a:xfrm>
            <a:custGeom>
              <a:avLst/>
              <a:gdLst/>
              <a:ahLst/>
              <a:cxnLst/>
              <a:rect l="l" t="t" r="r" b="b"/>
              <a:pathLst>
                <a:path w="808101" h="38100">
                  <a:moveTo>
                    <a:pt x="0" y="19050"/>
                  </a:moveTo>
                  <a:cubicBezTo>
                    <a:pt x="0" y="8509"/>
                    <a:pt x="8509" y="0"/>
                    <a:pt x="19050" y="0"/>
                  </a:cubicBezTo>
                  <a:lnTo>
                    <a:pt x="789051" y="0"/>
                  </a:lnTo>
                  <a:cubicBezTo>
                    <a:pt x="799592" y="0"/>
                    <a:pt x="808101" y="8509"/>
                    <a:pt x="808101" y="19050"/>
                  </a:cubicBezTo>
                  <a:cubicBezTo>
                    <a:pt x="808101" y="29591"/>
                    <a:pt x="799465" y="38100"/>
                    <a:pt x="789051" y="38100"/>
                  </a:cubicBezTo>
                  <a:lnTo>
                    <a:pt x="19050" y="38100"/>
                  </a:lnTo>
                  <a:cubicBezTo>
                    <a:pt x="8509" y="38100"/>
                    <a:pt x="0" y="29591"/>
                    <a:pt x="0" y="19050"/>
                  </a:cubicBezTo>
                  <a:close/>
                </a:path>
              </a:pathLst>
            </a:custGeom>
            <a:solidFill>
              <a:srgbClr val="313E80"/>
            </a:solidFill>
            <a:ln w="12700">
              <a:solidFill>
                <a:srgbClr val="000000"/>
              </a:solidFill>
            </a:ln>
          </p:spPr>
          <p:txBody>
            <a:bodyPr/>
            <a:lstStyle/>
            <a:p>
              <a:endParaRPr lang="en-IN"/>
            </a:p>
          </p:txBody>
        </p:sp>
      </p:grpSp>
      <p:grpSp>
        <p:nvGrpSpPr>
          <p:cNvPr id="19" name="Group 19"/>
          <p:cNvGrpSpPr/>
          <p:nvPr/>
        </p:nvGrpSpPr>
        <p:grpSpPr>
          <a:xfrm>
            <a:off x="8911981" y="3019273"/>
            <a:ext cx="464048" cy="464048"/>
            <a:chOff x="0" y="0"/>
            <a:chExt cx="618731" cy="618731"/>
          </a:xfrm>
        </p:grpSpPr>
        <p:sp>
          <p:nvSpPr>
            <p:cNvPr id="20" name="Freeform 20"/>
            <p:cNvSpPr/>
            <p:nvPr/>
          </p:nvSpPr>
          <p:spPr>
            <a:xfrm>
              <a:off x="6350" y="6350"/>
              <a:ext cx="606044" cy="606044"/>
            </a:xfrm>
            <a:custGeom>
              <a:avLst/>
              <a:gdLst/>
              <a:ahLst/>
              <a:cxnLst/>
              <a:rect l="l" t="t" r="r" b="b"/>
              <a:pathLst>
                <a:path w="606044" h="606044">
                  <a:moveTo>
                    <a:pt x="0" y="113157"/>
                  </a:moveTo>
                  <a:cubicBezTo>
                    <a:pt x="0" y="50673"/>
                    <a:pt x="50673" y="0"/>
                    <a:pt x="113157" y="0"/>
                  </a:cubicBezTo>
                  <a:lnTo>
                    <a:pt x="492887" y="0"/>
                  </a:lnTo>
                  <a:cubicBezTo>
                    <a:pt x="555371" y="0"/>
                    <a:pt x="606044" y="50673"/>
                    <a:pt x="606044" y="113157"/>
                  </a:cubicBezTo>
                  <a:lnTo>
                    <a:pt x="606044" y="492887"/>
                  </a:lnTo>
                  <a:cubicBezTo>
                    <a:pt x="606044" y="555371"/>
                    <a:pt x="555371" y="606044"/>
                    <a:pt x="492887" y="606044"/>
                  </a:cubicBezTo>
                  <a:lnTo>
                    <a:pt x="113157" y="606044"/>
                  </a:lnTo>
                  <a:cubicBezTo>
                    <a:pt x="50673" y="606044"/>
                    <a:pt x="0" y="555371"/>
                    <a:pt x="0" y="492887"/>
                  </a:cubicBezTo>
                  <a:close/>
                </a:path>
              </a:pathLst>
            </a:custGeom>
            <a:solidFill>
              <a:srgbClr val="182567"/>
            </a:solidFill>
            <a:ln w="12700">
              <a:solidFill>
                <a:srgbClr val="000000"/>
              </a:solidFill>
            </a:ln>
          </p:spPr>
          <p:txBody>
            <a:bodyPr/>
            <a:lstStyle/>
            <a:p>
              <a:endParaRPr lang="en-IN"/>
            </a:p>
          </p:txBody>
        </p:sp>
        <p:sp>
          <p:nvSpPr>
            <p:cNvPr id="21" name="Freeform 21"/>
            <p:cNvSpPr/>
            <p:nvPr/>
          </p:nvSpPr>
          <p:spPr>
            <a:xfrm>
              <a:off x="0" y="0"/>
              <a:ext cx="618744" cy="618744"/>
            </a:xfrm>
            <a:custGeom>
              <a:avLst/>
              <a:gdLst/>
              <a:ahLst/>
              <a:cxnLst/>
              <a:rect l="l" t="t" r="r" b="b"/>
              <a:pathLst>
                <a:path w="618744" h="618744">
                  <a:moveTo>
                    <a:pt x="0" y="119507"/>
                  </a:moveTo>
                  <a:cubicBezTo>
                    <a:pt x="0" y="53467"/>
                    <a:pt x="53467" y="0"/>
                    <a:pt x="119507" y="0"/>
                  </a:cubicBezTo>
                  <a:lnTo>
                    <a:pt x="499237" y="0"/>
                  </a:lnTo>
                  <a:lnTo>
                    <a:pt x="499237" y="6350"/>
                  </a:lnTo>
                  <a:lnTo>
                    <a:pt x="499237" y="0"/>
                  </a:lnTo>
                  <a:lnTo>
                    <a:pt x="499237" y="6350"/>
                  </a:lnTo>
                  <a:lnTo>
                    <a:pt x="499237" y="0"/>
                  </a:lnTo>
                  <a:cubicBezTo>
                    <a:pt x="565277" y="0"/>
                    <a:pt x="618744" y="53467"/>
                    <a:pt x="618744" y="119507"/>
                  </a:cubicBezTo>
                  <a:lnTo>
                    <a:pt x="612394" y="119507"/>
                  </a:lnTo>
                  <a:lnTo>
                    <a:pt x="618744" y="119507"/>
                  </a:lnTo>
                  <a:lnTo>
                    <a:pt x="618744" y="499237"/>
                  </a:lnTo>
                  <a:lnTo>
                    <a:pt x="612394" y="499237"/>
                  </a:lnTo>
                  <a:lnTo>
                    <a:pt x="618744" y="499237"/>
                  </a:lnTo>
                  <a:cubicBezTo>
                    <a:pt x="618744" y="565277"/>
                    <a:pt x="565277" y="618744"/>
                    <a:pt x="499237" y="618744"/>
                  </a:cubicBezTo>
                  <a:lnTo>
                    <a:pt x="499237" y="612394"/>
                  </a:lnTo>
                  <a:lnTo>
                    <a:pt x="499237" y="618744"/>
                  </a:lnTo>
                  <a:lnTo>
                    <a:pt x="119507" y="618744"/>
                  </a:lnTo>
                  <a:lnTo>
                    <a:pt x="119507" y="612394"/>
                  </a:lnTo>
                  <a:lnTo>
                    <a:pt x="119507" y="618744"/>
                  </a:lnTo>
                  <a:cubicBezTo>
                    <a:pt x="53467" y="618744"/>
                    <a:pt x="0" y="565277"/>
                    <a:pt x="0" y="499237"/>
                  </a:cubicBezTo>
                  <a:lnTo>
                    <a:pt x="0" y="119507"/>
                  </a:lnTo>
                  <a:lnTo>
                    <a:pt x="6350" y="119507"/>
                  </a:lnTo>
                  <a:lnTo>
                    <a:pt x="0" y="119507"/>
                  </a:lnTo>
                  <a:moveTo>
                    <a:pt x="12700" y="119507"/>
                  </a:moveTo>
                  <a:lnTo>
                    <a:pt x="12700" y="499237"/>
                  </a:lnTo>
                  <a:lnTo>
                    <a:pt x="6350" y="499237"/>
                  </a:lnTo>
                  <a:lnTo>
                    <a:pt x="12700" y="499237"/>
                  </a:lnTo>
                  <a:cubicBezTo>
                    <a:pt x="12700" y="558165"/>
                    <a:pt x="60452" y="606044"/>
                    <a:pt x="119507" y="606044"/>
                  </a:cubicBezTo>
                  <a:lnTo>
                    <a:pt x="499237" y="606044"/>
                  </a:lnTo>
                  <a:cubicBezTo>
                    <a:pt x="558165" y="606044"/>
                    <a:pt x="606044" y="558292"/>
                    <a:pt x="606044" y="499237"/>
                  </a:cubicBezTo>
                  <a:lnTo>
                    <a:pt x="606044" y="119507"/>
                  </a:lnTo>
                  <a:cubicBezTo>
                    <a:pt x="606044" y="60452"/>
                    <a:pt x="558165" y="12700"/>
                    <a:pt x="499237" y="12700"/>
                  </a:cubicBezTo>
                  <a:lnTo>
                    <a:pt x="119507" y="12700"/>
                  </a:lnTo>
                  <a:lnTo>
                    <a:pt x="119507" y="6350"/>
                  </a:lnTo>
                  <a:lnTo>
                    <a:pt x="119507" y="12700"/>
                  </a:lnTo>
                  <a:cubicBezTo>
                    <a:pt x="60452" y="12700"/>
                    <a:pt x="12700" y="60452"/>
                    <a:pt x="12700" y="119507"/>
                  </a:cubicBezTo>
                  <a:close/>
                </a:path>
              </a:pathLst>
            </a:custGeom>
            <a:solidFill>
              <a:srgbClr val="313E80"/>
            </a:solidFill>
            <a:ln w="12700">
              <a:solidFill>
                <a:srgbClr val="000000"/>
              </a:solidFill>
            </a:ln>
          </p:spPr>
          <p:txBody>
            <a:bodyPr/>
            <a:lstStyle/>
            <a:p>
              <a:endParaRPr lang="en-IN"/>
            </a:p>
          </p:txBody>
        </p:sp>
      </p:grpSp>
      <p:sp>
        <p:nvSpPr>
          <p:cNvPr id="22" name="TextBox 22"/>
          <p:cNvSpPr txBox="1"/>
          <p:nvPr/>
        </p:nvSpPr>
        <p:spPr>
          <a:xfrm>
            <a:off x="8992495" y="3100016"/>
            <a:ext cx="303009" cy="340671"/>
          </a:xfrm>
          <a:prstGeom prst="rect">
            <a:avLst/>
          </a:prstGeom>
        </p:spPr>
        <p:txBody>
          <a:bodyPr lIns="0" tIns="0" rIns="0" bIns="0" rtlCol="0" anchor="t">
            <a:spAutoFit/>
          </a:bodyPr>
          <a:lstStyle/>
          <a:p>
            <a:pPr algn="ctr">
              <a:lnSpc>
                <a:spcPts val="2375"/>
              </a:lnSpc>
            </a:pPr>
            <a:r>
              <a:rPr lang="en-US" sz="2375">
                <a:solidFill>
                  <a:srgbClr val="CFD0D8"/>
                </a:solidFill>
                <a:latin typeface="Roboto"/>
                <a:ea typeface="Roboto"/>
                <a:cs typeface="Roboto"/>
                <a:sym typeface="Roboto"/>
              </a:rPr>
              <a:t>2</a:t>
            </a:r>
          </a:p>
        </p:txBody>
      </p:sp>
      <p:sp>
        <p:nvSpPr>
          <p:cNvPr id="23" name="TextBox 23"/>
          <p:cNvSpPr txBox="1"/>
          <p:nvPr/>
        </p:nvSpPr>
        <p:spPr>
          <a:xfrm>
            <a:off x="10154098" y="3064821"/>
            <a:ext cx="6582518" cy="344243"/>
          </a:xfrm>
          <a:prstGeom prst="rect">
            <a:avLst/>
          </a:prstGeom>
        </p:spPr>
        <p:txBody>
          <a:bodyPr lIns="0" tIns="0" rIns="0" bIns="0" rtlCol="0" anchor="t">
            <a:spAutoFit/>
          </a:bodyPr>
          <a:lstStyle/>
          <a:p>
            <a:pPr algn="l">
              <a:lnSpc>
                <a:spcPts val="2437"/>
              </a:lnSpc>
            </a:pPr>
            <a:r>
              <a:rPr lang="en-US" sz="1937">
                <a:solidFill>
                  <a:srgbClr val="CFD0D8"/>
                </a:solidFill>
                <a:latin typeface="Roboto"/>
                <a:ea typeface="Roboto"/>
                <a:cs typeface="Roboto"/>
                <a:sym typeface="Roboto"/>
              </a:rPr>
              <a:t>Phase 2: Community Pilot &amp; Ground Truth (Feb–Mar 2026)</a:t>
            </a:r>
          </a:p>
        </p:txBody>
      </p:sp>
      <p:sp>
        <p:nvSpPr>
          <p:cNvPr id="24" name="TextBox 24"/>
          <p:cNvSpPr txBox="1"/>
          <p:nvPr/>
        </p:nvSpPr>
        <p:spPr>
          <a:xfrm>
            <a:off x="10154098" y="3463528"/>
            <a:ext cx="7325916" cy="1035996"/>
          </a:xfrm>
          <a:prstGeom prst="rect">
            <a:avLst/>
          </a:prstGeom>
        </p:spPr>
        <p:txBody>
          <a:bodyPr lIns="0" tIns="0" rIns="0" bIns="0" rtlCol="0" anchor="t">
            <a:spAutoFit/>
          </a:bodyPr>
          <a:lstStyle/>
          <a:p>
            <a:pPr algn="l">
              <a:lnSpc>
                <a:spcPts val="2499"/>
              </a:lnSpc>
            </a:pPr>
            <a:r>
              <a:rPr lang="en-US" sz="1562">
                <a:solidFill>
                  <a:srgbClr val="CFD0D8"/>
                </a:solidFill>
                <a:latin typeface="Roboto"/>
                <a:ea typeface="Roboto"/>
                <a:cs typeface="Roboto"/>
                <a:sym typeface="Roboto"/>
              </a:rPr>
              <a:t>Deploy 2–3 low-cost PM2.5 sensors in Adikmet and Ameerpet. Conduct 10–15 resident interviews on transport choices, air quality perception, and receptiveness to sustainable options. Validate model predictions against sensor data.</a:t>
            </a:r>
          </a:p>
        </p:txBody>
      </p:sp>
      <p:sp>
        <p:nvSpPr>
          <p:cNvPr id="25" name="TextBox 25"/>
          <p:cNvSpPr txBox="1"/>
          <p:nvPr/>
        </p:nvSpPr>
        <p:spPr>
          <a:xfrm>
            <a:off x="10154098" y="4553988"/>
            <a:ext cx="7325916" cy="389782"/>
          </a:xfrm>
          <a:prstGeom prst="rect">
            <a:avLst/>
          </a:prstGeom>
        </p:spPr>
        <p:txBody>
          <a:bodyPr lIns="0" tIns="0" rIns="0" bIns="0" rtlCol="0" anchor="t">
            <a:spAutoFit/>
          </a:bodyPr>
          <a:lstStyle/>
          <a:p>
            <a:pPr algn="l">
              <a:lnSpc>
                <a:spcPts val="2499"/>
              </a:lnSpc>
            </a:pPr>
            <a:r>
              <a:rPr lang="en-US" sz="1562" b="1">
                <a:solidFill>
                  <a:srgbClr val="CFD0D8"/>
                </a:solidFill>
                <a:latin typeface="Roboto Bold"/>
                <a:ea typeface="Roboto Bold"/>
                <a:cs typeface="Roboto Bold"/>
                <a:sym typeface="Roboto Bold"/>
              </a:rPr>
              <a:t>Expected Outcome:</a:t>
            </a:r>
            <a:r>
              <a:rPr lang="en-US" sz="1562">
                <a:solidFill>
                  <a:srgbClr val="CFD0D8"/>
                </a:solidFill>
                <a:latin typeface="Roboto"/>
                <a:ea typeface="Roboto"/>
                <a:cs typeface="Roboto"/>
                <a:sym typeface="Roboto"/>
              </a:rPr>
              <a:t> Refined model with community buy-in stories</a:t>
            </a:r>
          </a:p>
        </p:txBody>
      </p:sp>
      <p:grpSp>
        <p:nvGrpSpPr>
          <p:cNvPr id="26" name="Group 26"/>
          <p:cNvGrpSpPr/>
          <p:nvPr/>
        </p:nvGrpSpPr>
        <p:grpSpPr>
          <a:xfrm>
            <a:off x="8339290" y="4671860"/>
            <a:ext cx="606028" cy="28575"/>
            <a:chOff x="0" y="0"/>
            <a:chExt cx="808038" cy="38100"/>
          </a:xfrm>
        </p:grpSpPr>
        <p:sp>
          <p:nvSpPr>
            <p:cNvPr id="27" name="Freeform 27"/>
            <p:cNvSpPr/>
            <p:nvPr/>
          </p:nvSpPr>
          <p:spPr>
            <a:xfrm>
              <a:off x="0" y="0"/>
              <a:ext cx="808101" cy="38100"/>
            </a:xfrm>
            <a:custGeom>
              <a:avLst/>
              <a:gdLst/>
              <a:ahLst/>
              <a:cxnLst/>
              <a:rect l="l" t="t" r="r" b="b"/>
              <a:pathLst>
                <a:path w="808101" h="38100">
                  <a:moveTo>
                    <a:pt x="0" y="19050"/>
                  </a:moveTo>
                  <a:cubicBezTo>
                    <a:pt x="0" y="8509"/>
                    <a:pt x="8509" y="0"/>
                    <a:pt x="19050" y="0"/>
                  </a:cubicBezTo>
                  <a:lnTo>
                    <a:pt x="789051" y="0"/>
                  </a:lnTo>
                  <a:cubicBezTo>
                    <a:pt x="799592" y="0"/>
                    <a:pt x="808101" y="8509"/>
                    <a:pt x="808101" y="19050"/>
                  </a:cubicBezTo>
                  <a:cubicBezTo>
                    <a:pt x="808101" y="29591"/>
                    <a:pt x="799465" y="38100"/>
                    <a:pt x="789051" y="38100"/>
                  </a:cubicBezTo>
                  <a:lnTo>
                    <a:pt x="19050" y="38100"/>
                  </a:lnTo>
                  <a:cubicBezTo>
                    <a:pt x="8509" y="38100"/>
                    <a:pt x="0" y="29591"/>
                    <a:pt x="0" y="19050"/>
                  </a:cubicBezTo>
                  <a:close/>
                </a:path>
              </a:pathLst>
            </a:custGeom>
            <a:solidFill>
              <a:srgbClr val="313E80"/>
            </a:solidFill>
            <a:ln w="12700">
              <a:solidFill>
                <a:srgbClr val="000000"/>
              </a:solidFill>
            </a:ln>
          </p:spPr>
          <p:txBody>
            <a:bodyPr/>
            <a:lstStyle/>
            <a:p>
              <a:endParaRPr lang="en-IN"/>
            </a:p>
          </p:txBody>
        </p:sp>
      </p:grpSp>
      <p:grpSp>
        <p:nvGrpSpPr>
          <p:cNvPr id="28" name="Group 28"/>
          <p:cNvGrpSpPr/>
          <p:nvPr/>
        </p:nvGrpSpPr>
        <p:grpSpPr>
          <a:xfrm>
            <a:off x="8911981" y="4454128"/>
            <a:ext cx="464048" cy="464048"/>
            <a:chOff x="0" y="0"/>
            <a:chExt cx="618731" cy="618731"/>
          </a:xfrm>
        </p:grpSpPr>
        <p:sp>
          <p:nvSpPr>
            <p:cNvPr id="29" name="Freeform 29"/>
            <p:cNvSpPr/>
            <p:nvPr/>
          </p:nvSpPr>
          <p:spPr>
            <a:xfrm>
              <a:off x="6350" y="6350"/>
              <a:ext cx="606044" cy="606044"/>
            </a:xfrm>
            <a:custGeom>
              <a:avLst/>
              <a:gdLst/>
              <a:ahLst/>
              <a:cxnLst/>
              <a:rect l="l" t="t" r="r" b="b"/>
              <a:pathLst>
                <a:path w="606044" h="606044">
                  <a:moveTo>
                    <a:pt x="0" y="113157"/>
                  </a:moveTo>
                  <a:cubicBezTo>
                    <a:pt x="0" y="50673"/>
                    <a:pt x="50673" y="0"/>
                    <a:pt x="113157" y="0"/>
                  </a:cubicBezTo>
                  <a:lnTo>
                    <a:pt x="492887" y="0"/>
                  </a:lnTo>
                  <a:cubicBezTo>
                    <a:pt x="555371" y="0"/>
                    <a:pt x="606044" y="50673"/>
                    <a:pt x="606044" y="113157"/>
                  </a:cubicBezTo>
                  <a:lnTo>
                    <a:pt x="606044" y="492887"/>
                  </a:lnTo>
                  <a:cubicBezTo>
                    <a:pt x="606044" y="555371"/>
                    <a:pt x="555371" y="606044"/>
                    <a:pt x="492887" y="606044"/>
                  </a:cubicBezTo>
                  <a:lnTo>
                    <a:pt x="113157" y="606044"/>
                  </a:lnTo>
                  <a:cubicBezTo>
                    <a:pt x="50673" y="606044"/>
                    <a:pt x="0" y="555371"/>
                    <a:pt x="0" y="492887"/>
                  </a:cubicBezTo>
                  <a:close/>
                </a:path>
              </a:pathLst>
            </a:custGeom>
            <a:solidFill>
              <a:srgbClr val="182567"/>
            </a:solidFill>
            <a:ln w="12700">
              <a:solidFill>
                <a:srgbClr val="000000"/>
              </a:solidFill>
            </a:ln>
          </p:spPr>
          <p:txBody>
            <a:bodyPr/>
            <a:lstStyle/>
            <a:p>
              <a:endParaRPr lang="en-IN"/>
            </a:p>
          </p:txBody>
        </p:sp>
        <p:sp>
          <p:nvSpPr>
            <p:cNvPr id="30" name="Freeform 30"/>
            <p:cNvSpPr/>
            <p:nvPr/>
          </p:nvSpPr>
          <p:spPr>
            <a:xfrm>
              <a:off x="0" y="0"/>
              <a:ext cx="618744" cy="618744"/>
            </a:xfrm>
            <a:custGeom>
              <a:avLst/>
              <a:gdLst/>
              <a:ahLst/>
              <a:cxnLst/>
              <a:rect l="l" t="t" r="r" b="b"/>
              <a:pathLst>
                <a:path w="618744" h="618744">
                  <a:moveTo>
                    <a:pt x="0" y="119507"/>
                  </a:moveTo>
                  <a:cubicBezTo>
                    <a:pt x="0" y="53467"/>
                    <a:pt x="53467" y="0"/>
                    <a:pt x="119507" y="0"/>
                  </a:cubicBezTo>
                  <a:lnTo>
                    <a:pt x="499237" y="0"/>
                  </a:lnTo>
                  <a:lnTo>
                    <a:pt x="499237" y="6350"/>
                  </a:lnTo>
                  <a:lnTo>
                    <a:pt x="499237" y="0"/>
                  </a:lnTo>
                  <a:lnTo>
                    <a:pt x="499237" y="6350"/>
                  </a:lnTo>
                  <a:lnTo>
                    <a:pt x="499237" y="0"/>
                  </a:lnTo>
                  <a:cubicBezTo>
                    <a:pt x="565277" y="0"/>
                    <a:pt x="618744" y="53467"/>
                    <a:pt x="618744" y="119507"/>
                  </a:cubicBezTo>
                  <a:lnTo>
                    <a:pt x="612394" y="119507"/>
                  </a:lnTo>
                  <a:lnTo>
                    <a:pt x="618744" y="119507"/>
                  </a:lnTo>
                  <a:lnTo>
                    <a:pt x="618744" y="499237"/>
                  </a:lnTo>
                  <a:lnTo>
                    <a:pt x="612394" y="499237"/>
                  </a:lnTo>
                  <a:lnTo>
                    <a:pt x="618744" y="499237"/>
                  </a:lnTo>
                  <a:cubicBezTo>
                    <a:pt x="618744" y="565277"/>
                    <a:pt x="565277" y="618744"/>
                    <a:pt x="499237" y="618744"/>
                  </a:cubicBezTo>
                  <a:lnTo>
                    <a:pt x="499237" y="612394"/>
                  </a:lnTo>
                  <a:lnTo>
                    <a:pt x="499237" y="618744"/>
                  </a:lnTo>
                  <a:lnTo>
                    <a:pt x="119507" y="618744"/>
                  </a:lnTo>
                  <a:lnTo>
                    <a:pt x="119507" y="612394"/>
                  </a:lnTo>
                  <a:lnTo>
                    <a:pt x="119507" y="618744"/>
                  </a:lnTo>
                  <a:cubicBezTo>
                    <a:pt x="53467" y="618744"/>
                    <a:pt x="0" y="565277"/>
                    <a:pt x="0" y="499237"/>
                  </a:cubicBezTo>
                  <a:lnTo>
                    <a:pt x="0" y="119507"/>
                  </a:lnTo>
                  <a:lnTo>
                    <a:pt x="6350" y="119507"/>
                  </a:lnTo>
                  <a:lnTo>
                    <a:pt x="0" y="119507"/>
                  </a:lnTo>
                  <a:moveTo>
                    <a:pt x="12700" y="119507"/>
                  </a:moveTo>
                  <a:lnTo>
                    <a:pt x="12700" y="499237"/>
                  </a:lnTo>
                  <a:lnTo>
                    <a:pt x="6350" y="499237"/>
                  </a:lnTo>
                  <a:lnTo>
                    <a:pt x="12700" y="499237"/>
                  </a:lnTo>
                  <a:cubicBezTo>
                    <a:pt x="12700" y="558165"/>
                    <a:pt x="60452" y="606044"/>
                    <a:pt x="119507" y="606044"/>
                  </a:cubicBezTo>
                  <a:lnTo>
                    <a:pt x="499237" y="606044"/>
                  </a:lnTo>
                  <a:cubicBezTo>
                    <a:pt x="558165" y="606044"/>
                    <a:pt x="606044" y="558292"/>
                    <a:pt x="606044" y="499237"/>
                  </a:cubicBezTo>
                  <a:lnTo>
                    <a:pt x="606044" y="119507"/>
                  </a:lnTo>
                  <a:cubicBezTo>
                    <a:pt x="606044" y="60452"/>
                    <a:pt x="558165" y="12700"/>
                    <a:pt x="499237" y="12700"/>
                  </a:cubicBezTo>
                  <a:lnTo>
                    <a:pt x="119507" y="12700"/>
                  </a:lnTo>
                  <a:lnTo>
                    <a:pt x="119507" y="6350"/>
                  </a:lnTo>
                  <a:lnTo>
                    <a:pt x="119507" y="12700"/>
                  </a:lnTo>
                  <a:cubicBezTo>
                    <a:pt x="60452" y="12700"/>
                    <a:pt x="12700" y="60452"/>
                    <a:pt x="12700" y="119507"/>
                  </a:cubicBezTo>
                  <a:close/>
                </a:path>
              </a:pathLst>
            </a:custGeom>
            <a:solidFill>
              <a:srgbClr val="313E80"/>
            </a:solidFill>
            <a:ln w="12700">
              <a:solidFill>
                <a:srgbClr val="000000"/>
              </a:solidFill>
            </a:ln>
          </p:spPr>
          <p:txBody>
            <a:bodyPr/>
            <a:lstStyle/>
            <a:p>
              <a:endParaRPr lang="en-IN"/>
            </a:p>
          </p:txBody>
        </p:sp>
      </p:grpSp>
      <p:sp>
        <p:nvSpPr>
          <p:cNvPr id="31" name="TextBox 31"/>
          <p:cNvSpPr txBox="1"/>
          <p:nvPr/>
        </p:nvSpPr>
        <p:spPr>
          <a:xfrm>
            <a:off x="8992495" y="4534872"/>
            <a:ext cx="303009" cy="340671"/>
          </a:xfrm>
          <a:prstGeom prst="rect">
            <a:avLst/>
          </a:prstGeom>
        </p:spPr>
        <p:txBody>
          <a:bodyPr lIns="0" tIns="0" rIns="0" bIns="0" rtlCol="0" anchor="t">
            <a:spAutoFit/>
          </a:bodyPr>
          <a:lstStyle/>
          <a:p>
            <a:pPr algn="ctr">
              <a:lnSpc>
                <a:spcPts val="2375"/>
              </a:lnSpc>
            </a:pPr>
            <a:r>
              <a:rPr lang="en-US" sz="2375">
                <a:solidFill>
                  <a:srgbClr val="CFD0D8"/>
                </a:solidFill>
                <a:latin typeface="Roboto"/>
                <a:ea typeface="Roboto"/>
                <a:cs typeface="Roboto"/>
                <a:sym typeface="Roboto"/>
              </a:rPr>
              <a:t>3</a:t>
            </a:r>
          </a:p>
        </p:txBody>
      </p:sp>
      <p:sp>
        <p:nvSpPr>
          <p:cNvPr id="32" name="TextBox 32"/>
          <p:cNvSpPr txBox="1"/>
          <p:nvPr/>
        </p:nvSpPr>
        <p:spPr>
          <a:xfrm>
            <a:off x="976760" y="4499667"/>
            <a:ext cx="7157142" cy="344243"/>
          </a:xfrm>
          <a:prstGeom prst="rect">
            <a:avLst/>
          </a:prstGeom>
        </p:spPr>
        <p:txBody>
          <a:bodyPr lIns="0" tIns="0" rIns="0" bIns="0" rtlCol="0" anchor="t">
            <a:spAutoFit/>
          </a:bodyPr>
          <a:lstStyle/>
          <a:p>
            <a:pPr algn="r">
              <a:lnSpc>
                <a:spcPts val="2437"/>
              </a:lnSpc>
            </a:pPr>
            <a:r>
              <a:rPr lang="en-US" sz="1937">
                <a:solidFill>
                  <a:srgbClr val="CFD0D8"/>
                </a:solidFill>
                <a:latin typeface="Roboto"/>
                <a:ea typeface="Roboto"/>
                <a:cs typeface="Roboto"/>
                <a:sym typeface="Roboto"/>
              </a:rPr>
              <a:t>Phase 3: Model Refinement &amp; ML Development (Apr–Jun 2026)</a:t>
            </a:r>
          </a:p>
        </p:txBody>
      </p:sp>
      <p:sp>
        <p:nvSpPr>
          <p:cNvPr id="33" name="TextBox 33"/>
          <p:cNvSpPr txBox="1"/>
          <p:nvPr/>
        </p:nvSpPr>
        <p:spPr>
          <a:xfrm>
            <a:off x="807987" y="4898384"/>
            <a:ext cx="7325916" cy="1035996"/>
          </a:xfrm>
          <a:prstGeom prst="rect">
            <a:avLst/>
          </a:prstGeom>
        </p:spPr>
        <p:txBody>
          <a:bodyPr lIns="0" tIns="0" rIns="0" bIns="0" rtlCol="0" anchor="t">
            <a:spAutoFit/>
          </a:bodyPr>
          <a:lstStyle/>
          <a:p>
            <a:pPr algn="r">
              <a:lnSpc>
                <a:spcPts val="2499"/>
              </a:lnSpc>
            </a:pPr>
            <a:r>
              <a:rPr lang="en-US" sz="1562">
                <a:solidFill>
                  <a:srgbClr val="CFD0D8"/>
                </a:solidFill>
                <a:latin typeface="Roboto"/>
                <a:ea typeface="Roboto"/>
                <a:cs typeface="Roboto"/>
                <a:sym typeface="Roboto"/>
              </a:rPr>
              <a:t>Integrate real traffic data (Google Maps API, GHMC road counts). Build ML model predicting hourly AQI from traffic and industrial scores. Add temporal variation for seasonal and episodic events. Enhance industrial data with official SPCB registry.</a:t>
            </a:r>
          </a:p>
        </p:txBody>
      </p:sp>
      <p:sp>
        <p:nvSpPr>
          <p:cNvPr id="34" name="TextBox 34"/>
          <p:cNvSpPr txBox="1"/>
          <p:nvPr/>
        </p:nvSpPr>
        <p:spPr>
          <a:xfrm>
            <a:off x="807987" y="5988844"/>
            <a:ext cx="7325916" cy="389782"/>
          </a:xfrm>
          <a:prstGeom prst="rect">
            <a:avLst/>
          </a:prstGeom>
        </p:spPr>
        <p:txBody>
          <a:bodyPr lIns="0" tIns="0" rIns="0" bIns="0" rtlCol="0" anchor="t">
            <a:spAutoFit/>
          </a:bodyPr>
          <a:lstStyle/>
          <a:p>
            <a:pPr algn="r">
              <a:lnSpc>
                <a:spcPts val="2499"/>
              </a:lnSpc>
            </a:pPr>
            <a:r>
              <a:rPr lang="en-US" sz="1562" b="1">
                <a:solidFill>
                  <a:srgbClr val="CFD0D8"/>
                </a:solidFill>
                <a:latin typeface="Roboto Bold"/>
                <a:ea typeface="Roboto Bold"/>
                <a:cs typeface="Roboto Bold"/>
                <a:sym typeface="Roboto Bold"/>
              </a:rPr>
              <a:t>Expected Outcome:</a:t>
            </a:r>
            <a:r>
              <a:rPr lang="en-US" sz="1562">
                <a:solidFill>
                  <a:srgbClr val="CFD0D8"/>
                </a:solidFill>
                <a:latin typeface="Roboto"/>
                <a:ea typeface="Roboto"/>
                <a:cs typeface="Roboto"/>
                <a:sym typeface="Roboto"/>
              </a:rPr>
              <a:t> More accurate, predictive emission model</a:t>
            </a:r>
          </a:p>
        </p:txBody>
      </p:sp>
      <p:grpSp>
        <p:nvGrpSpPr>
          <p:cNvPr id="35" name="Group 35"/>
          <p:cNvGrpSpPr/>
          <p:nvPr/>
        </p:nvGrpSpPr>
        <p:grpSpPr>
          <a:xfrm>
            <a:off x="9342682" y="5833767"/>
            <a:ext cx="606028" cy="28575"/>
            <a:chOff x="0" y="0"/>
            <a:chExt cx="808038" cy="38100"/>
          </a:xfrm>
        </p:grpSpPr>
        <p:sp>
          <p:nvSpPr>
            <p:cNvPr id="36" name="Freeform 36"/>
            <p:cNvSpPr/>
            <p:nvPr/>
          </p:nvSpPr>
          <p:spPr>
            <a:xfrm>
              <a:off x="0" y="0"/>
              <a:ext cx="808101" cy="38100"/>
            </a:xfrm>
            <a:custGeom>
              <a:avLst/>
              <a:gdLst/>
              <a:ahLst/>
              <a:cxnLst/>
              <a:rect l="l" t="t" r="r" b="b"/>
              <a:pathLst>
                <a:path w="808101" h="38100">
                  <a:moveTo>
                    <a:pt x="0" y="19050"/>
                  </a:moveTo>
                  <a:cubicBezTo>
                    <a:pt x="0" y="8509"/>
                    <a:pt x="8509" y="0"/>
                    <a:pt x="19050" y="0"/>
                  </a:cubicBezTo>
                  <a:lnTo>
                    <a:pt x="789051" y="0"/>
                  </a:lnTo>
                  <a:cubicBezTo>
                    <a:pt x="799592" y="0"/>
                    <a:pt x="808101" y="8509"/>
                    <a:pt x="808101" y="19050"/>
                  </a:cubicBezTo>
                  <a:cubicBezTo>
                    <a:pt x="808101" y="29591"/>
                    <a:pt x="799465" y="38100"/>
                    <a:pt x="789051" y="38100"/>
                  </a:cubicBezTo>
                  <a:lnTo>
                    <a:pt x="19050" y="38100"/>
                  </a:lnTo>
                  <a:cubicBezTo>
                    <a:pt x="8509" y="38100"/>
                    <a:pt x="0" y="29591"/>
                    <a:pt x="0" y="19050"/>
                  </a:cubicBezTo>
                  <a:close/>
                </a:path>
              </a:pathLst>
            </a:custGeom>
            <a:solidFill>
              <a:srgbClr val="313E80"/>
            </a:solidFill>
            <a:ln w="12700">
              <a:solidFill>
                <a:srgbClr val="000000"/>
              </a:solidFill>
            </a:ln>
          </p:spPr>
          <p:txBody>
            <a:bodyPr/>
            <a:lstStyle/>
            <a:p>
              <a:endParaRPr lang="en-IN"/>
            </a:p>
          </p:txBody>
        </p:sp>
      </p:grpSp>
      <p:grpSp>
        <p:nvGrpSpPr>
          <p:cNvPr id="37" name="Group 37"/>
          <p:cNvGrpSpPr/>
          <p:nvPr/>
        </p:nvGrpSpPr>
        <p:grpSpPr>
          <a:xfrm>
            <a:off x="8911981" y="5616026"/>
            <a:ext cx="464048" cy="464048"/>
            <a:chOff x="0" y="0"/>
            <a:chExt cx="618731" cy="618731"/>
          </a:xfrm>
        </p:grpSpPr>
        <p:sp>
          <p:nvSpPr>
            <p:cNvPr id="38" name="Freeform 38"/>
            <p:cNvSpPr/>
            <p:nvPr/>
          </p:nvSpPr>
          <p:spPr>
            <a:xfrm>
              <a:off x="6350" y="6350"/>
              <a:ext cx="606044" cy="606044"/>
            </a:xfrm>
            <a:custGeom>
              <a:avLst/>
              <a:gdLst/>
              <a:ahLst/>
              <a:cxnLst/>
              <a:rect l="l" t="t" r="r" b="b"/>
              <a:pathLst>
                <a:path w="606044" h="606044">
                  <a:moveTo>
                    <a:pt x="0" y="113157"/>
                  </a:moveTo>
                  <a:cubicBezTo>
                    <a:pt x="0" y="50673"/>
                    <a:pt x="50673" y="0"/>
                    <a:pt x="113157" y="0"/>
                  </a:cubicBezTo>
                  <a:lnTo>
                    <a:pt x="492887" y="0"/>
                  </a:lnTo>
                  <a:cubicBezTo>
                    <a:pt x="555371" y="0"/>
                    <a:pt x="606044" y="50673"/>
                    <a:pt x="606044" y="113157"/>
                  </a:cubicBezTo>
                  <a:lnTo>
                    <a:pt x="606044" y="492887"/>
                  </a:lnTo>
                  <a:cubicBezTo>
                    <a:pt x="606044" y="555371"/>
                    <a:pt x="555371" y="606044"/>
                    <a:pt x="492887" y="606044"/>
                  </a:cubicBezTo>
                  <a:lnTo>
                    <a:pt x="113157" y="606044"/>
                  </a:lnTo>
                  <a:cubicBezTo>
                    <a:pt x="50673" y="606044"/>
                    <a:pt x="0" y="555371"/>
                    <a:pt x="0" y="492887"/>
                  </a:cubicBezTo>
                  <a:close/>
                </a:path>
              </a:pathLst>
            </a:custGeom>
            <a:solidFill>
              <a:srgbClr val="182567"/>
            </a:solidFill>
            <a:ln w="12700">
              <a:solidFill>
                <a:srgbClr val="000000"/>
              </a:solidFill>
            </a:ln>
          </p:spPr>
          <p:txBody>
            <a:bodyPr/>
            <a:lstStyle/>
            <a:p>
              <a:endParaRPr lang="en-IN"/>
            </a:p>
          </p:txBody>
        </p:sp>
        <p:sp>
          <p:nvSpPr>
            <p:cNvPr id="39" name="Freeform 39"/>
            <p:cNvSpPr/>
            <p:nvPr/>
          </p:nvSpPr>
          <p:spPr>
            <a:xfrm>
              <a:off x="0" y="0"/>
              <a:ext cx="618744" cy="618744"/>
            </a:xfrm>
            <a:custGeom>
              <a:avLst/>
              <a:gdLst/>
              <a:ahLst/>
              <a:cxnLst/>
              <a:rect l="l" t="t" r="r" b="b"/>
              <a:pathLst>
                <a:path w="618744" h="618744">
                  <a:moveTo>
                    <a:pt x="0" y="119507"/>
                  </a:moveTo>
                  <a:cubicBezTo>
                    <a:pt x="0" y="53467"/>
                    <a:pt x="53467" y="0"/>
                    <a:pt x="119507" y="0"/>
                  </a:cubicBezTo>
                  <a:lnTo>
                    <a:pt x="499237" y="0"/>
                  </a:lnTo>
                  <a:lnTo>
                    <a:pt x="499237" y="6350"/>
                  </a:lnTo>
                  <a:lnTo>
                    <a:pt x="499237" y="0"/>
                  </a:lnTo>
                  <a:lnTo>
                    <a:pt x="499237" y="6350"/>
                  </a:lnTo>
                  <a:lnTo>
                    <a:pt x="499237" y="0"/>
                  </a:lnTo>
                  <a:cubicBezTo>
                    <a:pt x="565277" y="0"/>
                    <a:pt x="618744" y="53467"/>
                    <a:pt x="618744" y="119507"/>
                  </a:cubicBezTo>
                  <a:lnTo>
                    <a:pt x="612394" y="119507"/>
                  </a:lnTo>
                  <a:lnTo>
                    <a:pt x="618744" y="119507"/>
                  </a:lnTo>
                  <a:lnTo>
                    <a:pt x="618744" y="499237"/>
                  </a:lnTo>
                  <a:lnTo>
                    <a:pt x="612394" y="499237"/>
                  </a:lnTo>
                  <a:lnTo>
                    <a:pt x="618744" y="499237"/>
                  </a:lnTo>
                  <a:cubicBezTo>
                    <a:pt x="618744" y="565277"/>
                    <a:pt x="565277" y="618744"/>
                    <a:pt x="499237" y="618744"/>
                  </a:cubicBezTo>
                  <a:lnTo>
                    <a:pt x="499237" y="612394"/>
                  </a:lnTo>
                  <a:lnTo>
                    <a:pt x="499237" y="618744"/>
                  </a:lnTo>
                  <a:lnTo>
                    <a:pt x="119507" y="618744"/>
                  </a:lnTo>
                  <a:lnTo>
                    <a:pt x="119507" y="612394"/>
                  </a:lnTo>
                  <a:lnTo>
                    <a:pt x="119507" y="618744"/>
                  </a:lnTo>
                  <a:cubicBezTo>
                    <a:pt x="53467" y="618744"/>
                    <a:pt x="0" y="565277"/>
                    <a:pt x="0" y="499237"/>
                  </a:cubicBezTo>
                  <a:lnTo>
                    <a:pt x="0" y="119507"/>
                  </a:lnTo>
                  <a:lnTo>
                    <a:pt x="6350" y="119507"/>
                  </a:lnTo>
                  <a:lnTo>
                    <a:pt x="0" y="119507"/>
                  </a:lnTo>
                  <a:moveTo>
                    <a:pt x="12700" y="119507"/>
                  </a:moveTo>
                  <a:lnTo>
                    <a:pt x="12700" y="499237"/>
                  </a:lnTo>
                  <a:lnTo>
                    <a:pt x="6350" y="499237"/>
                  </a:lnTo>
                  <a:lnTo>
                    <a:pt x="12700" y="499237"/>
                  </a:lnTo>
                  <a:cubicBezTo>
                    <a:pt x="12700" y="558165"/>
                    <a:pt x="60452" y="606044"/>
                    <a:pt x="119507" y="606044"/>
                  </a:cubicBezTo>
                  <a:lnTo>
                    <a:pt x="499237" y="606044"/>
                  </a:lnTo>
                  <a:cubicBezTo>
                    <a:pt x="558165" y="606044"/>
                    <a:pt x="606044" y="558292"/>
                    <a:pt x="606044" y="499237"/>
                  </a:cubicBezTo>
                  <a:lnTo>
                    <a:pt x="606044" y="119507"/>
                  </a:lnTo>
                  <a:cubicBezTo>
                    <a:pt x="606044" y="60452"/>
                    <a:pt x="558165" y="12700"/>
                    <a:pt x="499237" y="12700"/>
                  </a:cubicBezTo>
                  <a:lnTo>
                    <a:pt x="119507" y="12700"/>
                  </a:lnTo>
                  <a:lnTo>
                    <a:pt x="119507" y="6350"/>
                  </a:lnTo>
                  <a:lnTo>
                    <a:pt x="119507" y="12700"/>
                  </a:lnTo>
                  <a:cubicBezTo>
                    <a:pt x="60452" y="12700"/>
                    <a:pt x="12700" y="60452"/>
                    <a:pt x="12700" y="119507"/>
                  </a:cubicBezTo>
                  <a:close/>
                </a:path>
              </a:pathLst>
            </a:custGeom>
            <a:solidFill>
              <a:srgbClr val="313E80"/>
            </a:solidFill>
            <a:ln w="12700">
              <a:solidFill>
                <a:srgbClr val="000000"/>
              </a:solidFill>
            </a:ln>
          </p:spPr>
          <p:txBody>
            <a:bodyPr/>
            <a:lstStyle/>
            <a:p>
              <a:endParaRPr lang="en-IN"/>
            </a:p>
          </p:txBody>
        </p:sp>
      </p:grpSp>
      <p:sp>
        <p:nvSpPr>
          <p:cNvPr id="40" name="TextBox 40"/>
          <p:cNvSpPr txBox="1"/>
          <p:nvPr/>
        </p:nvSpPr>
        <p:spPr>
          <a:xfrm>
            <a:off x="8992495" y="5696769"/>
            <a:ext cx="303009" cy="340671"/>
          </a:xfrm>
          <a:prstGeom prst="rect">
            <a:avLst/>
          </a:prstGeom>
        </p:spPr>
        <p:txBody>
          <a:bodyPr lIns="0" tIns="0" rIns="0" bIns="0" rtlCol="0" anchor="t">
            <a:spAutoFit/>
          </a:bodyPr>
          <a:lstStyle/>
          <a:p>
            <a:pPr algn="ctr">
              <a:lnSpc>
                <a:spcPts val="2375"/>
              </a:lnSpc>
            </a:pPr>
            <a:r>
              <a:rPr lang="en-US" sz="2375">
                <a:solidFill>
                  <a:srgbClr val="CFD0D8"/>
                </a:solidFill>
                <a:latin typeface="Roboto"/>
                <a:ea typeface="Roboto"/>
                <a:cs typeface="Roboto"/>
                <a:sym typeface="Roboto"/>
              </a:rPr>
              <a:t>4</a:t>
            </a:r>
          </a:p>
        </p:txBody>
      </p:sp>
      <p:sp>
        <p:nvSpPr>
          <p:cNvPr id="41" name="TextBox 41"/>
          <p:cNvSpPr txBox="1"/>
          <p:nvPr/>
        </p:nvSpPr>
        <p:spPr>
          <a:xfrm>
            <a:off x="10154098" y="5661574"/>
            <a:ext cx="6935686" cy="344243"/>
          </a:xfrm>
          <a:prstGeom prst="rect">
            <a:avLst/>
          </a:prstGeom>
        </p:spPr>
        <p:txBody>
          <a:bodyPr lIns="0" tIns="0" rIns="0" bIns="0" rtlCol="0" anchor="t">
            <a:spAutoFit/>
          </a:bodyPr>
          <a:lstStyle/>
          <a:p>
            <a:pPr algn="l">
              <a:lnSpc>
                <a:spcPts val="2437"/>
              </a:lnSpc>
            </a:pPr>
            <a:r>
              <a:rPr lang="en-US" sz="1937">
                <a:solidFill>
                  <a:srgbClr val="CFD0D8"/>
                </a:solidFill>
                <a:latin typeface="Roboto"/>
                <a:ea typeface="Roboto"/>
                <a:cs typeface="Roboto"/>
                <a:sym typeface="Roboto"/>
              </a:rPr>
              <a:t>Phase 4: Replication &amp; Multi-City Comparison (Jul–Dec 2026)</a:t>
            </a:r>
          </a:p>
        </p:txBody>
      </p:sp>
      <p:sp>
        <p:nvSpPr>
          <p:cNvPr id="42" name="TextBox 42"/>
          <p:cNvSpPr txBox="1"/>
          <p:nvPr/>
        </p:nvSpPr>
        <p:spPr>
          <a:xfrm>
            <a:off x="10154098" y="6060281"/>
            <a:ext cx="7325916" cy="1035996"/>
          </a:xfrm>
          <a:prstGeom prst="rect">
            <a:avLst/>
          </a:prstGeom>
        </p:spPr>
        <p:txBody>
          <a:bodyPr lIns="0" tIns="0" rIns="0" bIns="0" rtlCol="0" anchor="t">
            <a:spAutoFit/>
          </a:bodyPr>
          <a:lstStyle/>
          <a:p>
            <a:pPr algn="l">
              <a:lnSpc>
                <a:spcPts val="2499"/>
              </a:lnSpc>
            </a:pPr>
            <a:r>
              <a:rPr lang="en-US" sz="1562">
                <a:solidFill>
                  <a:srgbClr val="CFD0D8"/>
                </a:solidFill>
                <a:latin typeface="Roboto"/>
                <a:ea typeface="Roboto"/>
                <a:cs typeface="Roboto"/>
                <a:sym typeface="Roboto"/>
              </a:rPr>
              <a:t>Extend framework to Pune and Bangalore using identical methodology. Create comparative analysis across cities. Document replicable "Hotspot Mapping Toolkit" for other Indian cities. Share via academic paper or open-source code.</a:t>
            </a:r>
          </a:p>
        </p:txBody>
      </p:sp>
      <p:sp>
        <p:nvSpPr>
          <p:cNvPr id="43" name="TextBox 43"/>
          <p:cNvSpPr txBox="1"/>
          <p:nvPr/>
        </p:nvSpPr>
        <p:spPr>
          <a:xfrm>
            <a:off x="10154098" y="7150741"/>
            <a:ext cx="7325916" cy="712889"/>
          </a:xfrm>
          <a:prstGeom prst="rect">
            <a:avLst/>
          </a:prstGeom>
        </p:spPr>
        <p:txBody>
          <a:bodyPr lIns="0" tIns="0" rIns="0" bIns="0" rtlCol="0" anchor="t">
            <a:spAutoFit/>
          </a:bodyPr>
          <a:lstStyle/>
          <a:p>
            <a:pPr algn="l">
              <a:lnSpc>
                <a:spcPts val="2499"/>
              </a:lnSpc>
            </a:pPr>
            <a:r>
              <a:rPr lang="en-US" sz="1562" b="1">
                <a:solidFill>
                  <a:srgbClr val="CFD0D8"/>
                </a:solidFill>
                <a:latin typeface="Roboto Bold"/>
                <a:ea typeface="Roboto Bold"/>
                <a:cs typeface="Roboto Bold"/>
                <a:sym typeface="Roboto Bold"/>
              </a:rPr>
              <a:t>Expected Outcome:</a:t>
            </a:r>
            <a:r>
              <a:rPr lang="en-US" sz="1562">
                <a:solidFill>
                  <a:srgbClr val="CFD0D8"/>
                </a:solidFill>
                <a:latin typeface="Roboto"/>
                <a:ea typeface="Roboto"/>
                <a:cs typeface="Roboto"/>
                <a:sym typeface="Roboto"/>
              </a:rPr>
              <a:t> Proof of concept for national scaling; 1M1B network expansion</a:t>
            </a:r>
          </a:p>
        </p:txBody>
      </p:sp>
      <p:grpSp>
        <p:nvGrpSpPr>
          <p:cNvPr id="44" name="Group 44"/>
          <p:cNvGrpSpPr/>
          <p:nvPr/>
        </p:nvGrpSpPr>
        <p:grpSpPr>
          <a:xfrm>
            <a:off x="8339290" y="7157142"/>
            <a:ext cx="606028" cy="28575"/>
            <a:chOff x="0" y="0"/>
            <a:chExt cx="808038" cy="38100"/>
          </a:xfrm>
        </p:grpSpPr>
        <p:sp>
          <p:nvSpPr>
            <p:cNvPr id="45" name="Freeform 45"/>
            <p:cNvSpPr/>
            <p:nvPr/>
          </p:nvSpPr>
          <p:spPr>
            <a:xfrm>
              <a:off x="0" y="0"/>
              <a:ext cx="808101" cy="38100"/>
            </a:xfrm>
            <a:custGeom>
              <a:avLst/>
              <a:gdLst/>
              <a:ahLst/>
              <a:cxnLst/>
              <a:rect l="l" t="t" r="r" b="b"/>
              <a:pathLst>
                <a:path w="808101" h="38100">
                  <a:moveTo>
                    <a:pt x="0" y="19050"/>
                  </a:moveTo>
                  <a:cubicBezTo>
                    <a:pt x="0" y="8509"/>
                    <a:pt x="8509" y="0"/>
                    <a:pt x="19050" y="0"/>
                  </a:cubicBezTo>
                  <a:lnTo>
                    <a:pt x="789051" y="0"/>
                  </a:lnTo>
                  <a:cubicBezTo>
                    <a:pt x="799592" y="0"/>
                    <a:pt x="808101" y="8509"/>
                    <a:pt x="808101" y="19050"/>
                  </a:cubicBezTo>
                  <a:cubicBezTo>
                    <a:pt x="808101" y="29591"/>
                    <a:pt x="799465" y="38100"/>
                    <a:pt x="789051" y="38100"/>
                  </a:cubicBezTo>
                  <a:lnTo>
                    <a:pt x="19050" y="38100"/>
                  </a:lnTo>
                  <a:cubicBezTo>
                    <a:pt x="8509" y="38100"/>
                    <a:pt x="0" y="29591"/>
                    <a:pt x="0" y="19050"/>
                  </a:cubicBezTo>
                  <a:close/>
                </a:path>
              </a:pathLst>
            </a:custGeom>
            <a:solidFill>
              <a:srgbClr val="313E80"/>
            </a:solidFill>
            <a:ln w="12700">
              <a:solidFill>
                <a:srgbClr val="000000"/>
              </a:solidFill>
            </a:ln>
          </p:spPr>
          <p:txBody>
            <a:bodyPr/>
            <a:lstStyle/>
            <a:p>
              <a:endParaRPr lang="en-IN"/>
            </a:p>
          </p:txBody>
        </p:sp>
      </p:grpSp>
      <p:grpSp>
        <p:nvGrpSpPr>
          <p:cNvPr id="46" name="Group 46"/>
          <p:cNvGrpSpPr/>
          <p:nvPr/>
        </p:nvGrpSpPr>
        <p:grpSpPr>
          <a:xfrm>
            <a:off x="8911981" y="6939410"/>
            <a:ext cx="464048" cy="464048"/>
            <a:chOff x="0" y="0"/>
            <a:chExt cx="618731" cy="618731"/>
          </a:xfrm>
        </p:grpSpPr>
        <p:sp>
          <p:nvSpPr>
            <p:cNvPr id="47" name="Freeform 47"/>
            <p:cNvSpPr/>
            <p:nvPr/>
          </p:nvSpPr>
          <p:spPr>
            <a:xfrm>
              <a:off x="6350" y="6350"/>
              <a:ext cx="606044" cy="606044"/>
            </a:xfrm>
            <a:custGeom>
              <a:avLst/>
              <a:gdLst/>
              <a:ahLst/>
              <a:cxnLst/>
              <a:rect l="l" t="t" r="r" b="b"/>
              <a:pathLst>
                <a:path w="606044" h="606044">
                  <a:moveTo>
                    <a:pt x="0" y="113157"/>
                  </a:moveTo>
                  <a:cubicBezTo>
                    <a:pt x="0" y="50673"/>
                    <a:pt x="50673" y="0"/>
                    <a:pt x="113157" y="0"/>
                  </a:cubicBezTo>
                  <a:lnTo>
                    <a:pt x="492887" y="0"/>
                  </a:lnTo>
                  <a:cubicBezTo>
                    <a:pt x="555371" y="0"/>
                    <a:pt x="606044" y="50673"/>
                    <a:pt x="606044" y="113157"/>
                  </a:cubicBezTo>
                  <a:lnTo>
                    <a:pt x="606044" y="492887"/>
                  </a:lnTo>
                  <a:cubicBezTo>
                    <a:pt x="606044" y="555371"/>
                    <a:pt x="555371" y="606044"/>
                    <a:pt x="492887" y="606044"/>
                  </a:cubicBezTo>
                  <a:lnTo>
                    <a:pt x="113157" y="606044"/>
                  </a:lnTo>
                  <a:cubicBezTo>
                    <a:pt x="50673" y="606044"/>
                    <a:pt x="0" y="555371"/>
                    <a:pt x="0" y="492887"/>
                  </a:cubicBezTo>
                  <a:close/>
                </a:path>
              </a:pathLst>
            </a:custGeom>
            <a:solidFill>
              <a:srgbClr val="182567"/>
            </a:solidFill>
            <a:ln w="12700">
              <a:solidFill>
                <a:srgbClr val="000000"/>
              </a:solidFill>
            </a:ln>
          </p:spPr>
          <p:txBody>
            <a:bodyPr/>
            <a:lstStyle/>
            <a:p>
              <a:endParaRPr lang="en-IN"/>
            </a:p>
          </p:txBody>
        </p:sp>
        <p:sp>
          <p:nvSpPr>
            <p:cNvPr id="48" name="Freeform 48"/>
            <p:cNvSpPr/>
            <p:nvPr/>
          </p:nvSpPr>
          <p:spPr>
            <a:xfrm>
              <a:off x="0" y="0"/>
              <a:ext cx="618744" cy="618744"/>
            </a:xfrm>
            <a:custGeom>
              <a:avLst/>
              <a:gdLst/>
              <a:ahLst/>
              <a:cxnLst/>
              <a:rect l="l" t="t" r="r" b="b"/>
              <a:pathLst>
                <a:path w="618744" h="618744">
                  <a:moveTo>
                    <a:pt x="0" y="119507"/>
                  </a:moveTo>
                  <a:cubicBezTo>
                    <a:pt x="0" y="53467"/>
                    <a:pt x="53467" y="0"/>
                    <a:pt x="119507" y="0"/>
                  </a:cubicBezTo>
                  <a:lnTo>
                    <a:pt x="499237" y="0"/>
                  </a:lnTo>
                  <a:lnTo>
                    <a:pt x="499237" y="6350"/>
                  </a:lnTo>
                  <a:lnTo>
                    <a:pt x="499237" y="0"/>
                  </a:lnTo>
                  <a:lnTo>
                    <a:pt x="499237" y="6350"/>
                  </a:lnTo>
                  <a:lnTo>
                    <a:pt x="499237" y="0"/>
                  </a:lnTo>
                  <a:cubicBezTo>
                    <a:pt x="565277" y="0"/>
                    <a:pt x="618744" y="53467"/>
                    <a:pt x="618744" y="119507"/>
                  </a:cubicBezTo>
                  <a:lnTo>
                    <a:pt x="612394" y="119507"/>
                  </a:lnTo>
                  <a:lnTo>
                    <a:pt x="618744" y="119507"/>
                  </a:lnTo>
                  <a:lnTo>
                    <a:pt x="618744" y="499237"/>
                  </a:lnTo>
                  <a:lnTo>
                    <a:pt x="612394" y="499237"/>
                  </a:lnTo>
                  <a:lnTo>
                    <a:pt x="618744" y="499237"/>
                  </a:lnTo>
                  <a:cubicBezTo>
                    <a:pt x="618744" y="565277"/>
                    <a:pt x="565277" y="618744"/>
                    <a:pt x="499237" y="618744"/>
                  </a:cubicBezTo>
                  <a:lnTo>
                    <a:pt x="499237" y="612394"/>
                  </a:lnTo>
                  <a:lnTo>
                    <a:pt x="499237" y="618744"/>
                  </a:lnTo>
                  <a:lnTo>
                    <a:pt x="119507" y="618744"/>
                  </a:lnTo>
                  <a:lnTo>
                    <a:pt x="119507" y="612394"/>
                  </a:lnTo>
                  <a:lnTo>
                    <a:pt x="119507" y="618744"/>
                  </a:lnTo>
                  <a:cubicBezTo>
                    <a:pt x="53467" y="618744"/>
                    <a:pt x="0" y="565277"/>
                    <a:pt x="0" y="499237"/>
                  </a:cubicBezTo>
                  <a:lnTo>
                    <a:pt x="0" y="119507"/>
                  </a:lnTo>
                  <a:lnTo>
                    <a:pt x="6350" y="119507"/>
                  </a:lnTo>
                  <a:lnTo>
                    <a:pt x="0" y="119507"/>
                  </a:lnTo>
                  <a:moveTo>
                    <a:pt x="12700" y="119507"/>
                  </a:moveTo>
                  <a:lnTo>
                    <a:pt x="12700" y="499237"/>
                  </a:lnTo>
                  <a:lnTo>
                    <a:pt x="6350" y="499237"/>
                  </a:lnTo>
                  <a:lnTo>
                    <a:pt x="12700" y="499237"/>
                  </a:lnTo>
                  <a:cubicBezTo>
                    <a:pt x="12700" y="558165"/>
                    <a:pt x="60452" y="606044"/>
                    <a:pt x="119507" y="606044"/>
                  </a:cubicBezTo>
                  <a:lnTo>
                    <a:pt x="499237" y="606044"/>
                  </a:lnTo>
                  <a:cubicBezTo>
                    <a:pt x="558165" y="606044"/>
                    <a:pt x="606044" y="558292"/>
                    <a:pt x="606044" y="499237"/>
                  </a:cubicBezTo>
                  <a:lnTo>
                    <a:pt x="606044" y="119507"/>
                  </a:lnTo>
                  <a:cubicBezTo>
                    <a:pt x="606044" y="60452"/>
                    <a:pt x="558165" y="12700"/>
                    <a:pt x="499237" y="12700"/>
                  </a:cubicBezTo>
                  <a:lnTo>
                    <a:pt x="119507" y="12700"/>
                  </a:lnTo>
                  <a:lnTo>
                    <a:pt x="119507" y="6350"/>
                  </a:lnTo>
                  <a:lnTo>
                    <a:pt x="119507" y="12700"/>
                  </a:lnTo>
                  <a:cubicBezTo>
                    <a:pt x="60452" y="12700"/>
                    <a:pt x="12700" y="60452"/>
                    <a:pt x="12700" y="119507"/>
                  </a:cubicBezTo>
                  <a:close/>
                </a:path>
              </a:pathLst>
            </a:custGeom>
            <a:solidFill>
              <a:srgbClr val="313E80"/>
            </a:solidFill>
            <a:ln w="12700">
              <a:solidFill>
                <a:srgbClr val="000000"/>
              </a:solidFill>
            </a:ln>
          </p:spPr>
          <p:txBody>
            <a:bodyPr/>
            <a:lstStyle/>
            <a:p>
              <a:endParaRPr lang="en-IN"/>
            </a:p>
          </p:txBody>
        </p:sp>
      </p:grpSp>
      <p:sp>
        <p:nvSpPr>
          <p:cNvPr id="49" name="TextBox 49"/>
          <p:cNvSpPr txBox="1"/>
          <p:nvPr/>
        </p:nvSpPr>
        <p:spPr>
          <a:xfrm>
            <a:off x="8992495" y="7020144"/>
            <a:ext cx="303009" cy="340671"/>
          </a:xfrm>
          <a:prstGeom prst="rect">
            <a:avLst/>
          </a:prstGeom>
        </p:spPr>
        <p:txBody>
          <a:bodyPr lIns="0" tIns="0" rIns="0" bIns="0" rtlCol="0" anchor="t">
            <a:spAutoFit/>
          </a:bodyPr>
          <a:lstStyle/>
          <a:p>
            <a:pPr algn="ctr">
              <a:lnSpc>
                <a:spcPts val="2375"/>
              </a:lnSpc>
            </a:pPr>
            <a:r>
              <a:rPr lang="en-US" sz="2375">
                <a:solidFill>
                  <a:srgbClr val="CFD0D8"/>
                </a:solidFill>
                <a:latin typeface="Roboto"/>
                <a:ea typeface="Roboto"/>
                <a:cs typeface="Roboto"/>
                <a:sym typeface="Roboto"/>
              </a:rPr>
              <a:t>5</a:t>
            </a:r>
          </a:p>
        </p:txBody>
      </p:sp>
      <p:sp>
        <p:nvSpPr>
          <p:cNvPr id="50" name="TextBox 50"/>
          <p:cNvSpPr txBox="1"/>
          <p:nvPr/>
        </p:nvSpPr>
        <p:spPr>
          <a:xfrm>
            <a:off x="2629491" y="6984949"/>
            <a:ext cx="5504412" cy="344243"/>
          </a:xfrm>
          <a:prstGeom prst="rect">
            <a:avLst/>
          </a:prstGeom>
        </p:spPr>
        <p:txBody>
          <a:bodyPr lIns="0" tIns="0" rIns="0" bIns="0" rtlCol="0" anchor="t">
            <a:spAutoFit/>
          </a:bodyPr>
          <a:lstStyle/>
          <a:p>
            <a:pPr algn="r">
              <a:lnSpc>
                <a:spcPts val="2437"/>
              </a:lnSpc>
            </a:pPr>
            <a:r>
              <a:rPr lang="en-US" sz="1937">
                <a:solidFill>
                  <a:srgbClr val="CFD0D8"/>
                </a:solidFill>
                <a:latin typeface="Roboto"/>
                <a:ea typeface="Roboto"/>
                <a:cs typeface="Roboto"/>
                <a:sym typeface="Roboto"/>
              </a:rPr>
              <a:t>Phase 5+: Policy &amp; Real-World Advocacy (2027+)</a:t>
            </a:r>
          </a:p>
        </p:txBody>
      </p:sp>
      <p:sp>
        <p:nvSpPr>
          <p:cNvPr id="51" name="TextBox 51"/>
          <p:cNvSpPr txBox="1"/>
          <p:nvPr/>
        </p:nvSpPr>
        <p:spPr>
          <a:xfrm>
            <a:off x="807987" y="7383666"/>
            <a:ext cx="7325916" cy="1359103"/>
          </a:xfrm>
          <a:prstGeom prst="rect">
            <a:avLst/>
          </a:prstGeom>
        </p:spPr>
        <p:txBody>
          <a:bodyPr lIns="0" tIns="0" rIns="0" bIns="0" rtlCol="0" anchor="t">
            <a:spAutoFit/>
          </a:bodyPr>
          <a:lstStyle/>
          <a:p>
            <a:pPr algn="r">
              <a:lnSpc>
                <a:spcPts val="2499"/>
              </a:lnSpc>
            </a:pPr>
            <a:r>
              <a:rPr lang="en-US" sz="1562">
                <a:solidFill>
                  <a:srgbClr val="CFD0D8"/>
                </a:solidFill>
                <a:latin typeface="Roboto"/>
                <a:ea typeface="Roboto"/>
                <a:cs typeface="Roboto"/>
                <a:sym typeface="Roboto"/>
              </a:rPr>
              <a:t>Partner with 1M1B network and environmental NGOs (ICLEI, Ceres, WRI) to advocate for hotspot-based climate plans. Support real-world pilot (EV corridor in Adikmet or industrial efficiency in Jeedimetla). Measure achieved AQI/CO₂ reductions. Scale best practices nationally.</a:t>
            </a:r>
          </a:p>
        </p:txBody>
      </p:sp>
      <p:sp>
        <p:nvSpPr>
          <p:cNvPr id="52" name="TextBox 52"/>
          <p:cNvSpPr txBox="1"/>
          <p:nvPr/>
        </p:nvSpPr>
        <p:spPr>
          <a:xfrm>
            <a:off x="807987" y="8797233"/>
            <a:ext cx="7325916" cy="712889"/>
          </a:xfrm>
          <a:prstGeom prst="rect">
            <a:avLst/>
          </a:prstGeom>
        </p:spPr>
        <p:txBody>
          <a:bodyPr lIns="0" tIns="0" rIns="0" bIns="0" rtlCol="0" anchor="t">
            <a:spAutoFit/>
          </a:bodyPr>
          <a:lstStyle/>
          <a:p>
            <a:pPr algn="r">
              <a:lnSpc>
                <a:spcPts val="2499"/>
              </a:lnSpc>
            </a:pPr>
            <a:r>
              <a:rPr lang="en-US" sz="1562" b="1">
                <a:solidFill>
                  <a:srgbClr val="CFD0D8"/>
                </a:solidFill>
                <a:latin typeface="Roboto Bold"/>
                <a:ea typeface="Roboto Bold"/>
                <a:cs typeface="Roboto Bold"/>
                <a:sym typeface="Roboto Bold"/>
              </a:rPr>
              <a:t>Expected Outcome:</a:t>
            </a:r>
            <a:r>
              <a:rPr lang="en-US" sz="1562">
                <a:solidFill>
                  <a:srgbClr val="CFD0D8"/>
                </a:solidFill>
                <a:latin typeface="Roboto"/>
                <a:ea typeface="Roboto"/>
                <a:cs typeface="Roboto"/>
                <a:sym typeface="Roboto"/>
              </a:rPr>
              <a:t> Measurable real-world impact; policy briefs and academic publications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00018">
                <a:alpha val="90196"/>
              </a:srgbClr>
            </a:solidFill>
            <a:ln w="12700">
              <a:solidFill>
                <a:srgbClr val="000000"/>
              </a:solidFill>
            </a:ln>
          </p:spPr>
          <p:txBody>
            <a:bodyPr/>
            <a:lstStyle/>
            <a:p>
              <a:endParaRPr lang="en-IN"/>
            </a:p>
          </p:txBody>
        </p:sp>
      </p:grpSp>
      <p:sp>
        <p:nvSpPr>
          <p:cNvPr id="5" name="TextBox 5"/>
          <p:cNvSpPr txBox="1"/>
          <p:nvPr/>
        </p:nvSpPr>
        <p:spPr>
          <a:xfrm>
            <a:off x="549621" y="358826"/>
            <a:ext cx="17188758" cy="1204322"/>
          </a:xfrm>
          <a:prstGeom prst="rect">
            <a:avLst/>
          </a:prstGeom>
        </p:spPr>
        <p:txBody>
          <a:bodyPr lIns="0" tIns="0" rIns="0" bIns="0" rtlCol="0" anchor="t">
            <a:spAutoFit/>
          </a:bodyPr>
          <a:lstStyle/>
          <a:p>
            <a:pPr algn="l">
              <a:lnSpc>
                <a:spcPts val="4625"/>
              </a:lnSpc>
            </a:pPr>
            <a:r>
              <a:rPr lang="en-US" sz="3687">
                <a:solidFill>
                  <a:srgbClr val="5A6ED8"/>
                </a:solidFill>
                <a:latin typeface="Roboto"/>
                <a:ea typeface="Roboto"/>
                <a:cs typeface="Roboto"/>
                <a:sym typeface="Roboto"/>
              </a:rPr>
              <a:t>Hyderabad's air can be cleaner.</a:t>
            </a:r>
            <a:r>
              <a:rPr lang="en-US" sz="3687">
                <a:solidFill>
                  <a:srgbClr val="FFFFFF"/>
                </a:solidFill>
                <a:latin typeface="Roboto"/>
                <a:ea typeface="Roboto"/>
                <a:cs typeface="Roboto"/>
                <a:sym typeface="Roboto"/>
              </a:rPr>
              <a:t> With data, focus, and community support, we can do this.</a:t>
            </a:r>
          </a:p>
        </p:txBody>
      </p:sp>
      <p:sp>
        <p:nvSpPr>
          <p:cNvPr id="6" name="Freeform 6" descr="preencoded.png"/>
          <p:cNvSpPr/>
          <p:nvPr/>
        </p:nvSpPr>
        <p:spPr>
          <a:xfrm>
            <a:off x="305180" y="1563148"/>
            <a:ext cx="17433199" cy="8723852"/>
          </a:xfrm>
          <a:custGeom>
            <a:avLst/>
            <a:gdLst/>
            <a:ahLst/>
            <a:cxnLst/>
            <a:rect l="l" t="t" r="r" b="b"/>
            <a:pathLst>
              <a:path w="17433199" h="8723852">
                <a:moveTo>
                  <a:pt x="0" y="0"/>
                </a:moveTo>
                <a:lnTo>
                  <a:pt x="17433199" y="0"/>
                </a:lnTo>
                <a:lnTo>
                  <a:pt x="17433199" y="8723852"/>
                </a:lnTo>
                <a:lnTo>
                  <a:pt x="0" y="8723852"/>
                </a:lnTo>
                <a:lnTo>
                  <a:pt x="0" y="0"/>
                </a:lnTo>
                <a:close/>
              </a:path>
            </a:pathLst>
          </a:custGeom>
          <a:blipFill>
            <a:blip r:embed="rId4"/>
            <a:stretch>
              <a:fillRect l="-6285" t="-9446" r="-6285" b="-15181"/>
            </a:stretch>
          </a:blipFill>
        </p:spPr>
        <p:txBody>
          <a:bodyPr/>
          <a:lstStyle/>
          <a:p>
            <a:endParaRPr lang="en-IN"/>
          </a:p>
        </p:txBody>
      </p:sp>
      <p:sp>
        <p:nvSpPr>
          <p:cNvPr id="7" name="TextBox 7"/>
          <p:cNvSpPr txBox="1"/>
          <p:nvPr/>
        </p:nvSpPr>
        <p:spPr>
          <a:xfrm>
            <a:off x="7492213" y="5898251"/>
            <a:ext cx="3629616" cy="484327"/>
          </a:xfrm>
          <a:prstGeom prst="rect">
            <a:avLst/>
          </a:prstGeom>
        </p:spPr>
        <p:txBody>
          <a:bodyPr lIns="0" tIns="0" rIns="0" bIns="0" rtlCol="0" anchor="t">
            <a:spAutoFit/>
          </a:bodyPr>
          <a:lstStyle/>
          <a:p>
            <a:pPr algn="ctr">
              <a:lnSpc>
                <a:spcPts val="2062"/>
              </a:lnSpc>
            </a:pPr>
            <a:r>
              <a:rPr lang="en-US" sz="1687">
                <a:solidFill>
                  <a:srgbClr val="FFFFFF"/>
                </a:solidFill>
                <a:latin typeface="Roboto"/>
                <a:ea typeface="Roboto"/>
                <a:cs typeface="Roboto"/>
                <a:sym typeface="Roboto"/>
              </a:rPr>
              <a:t>Cleaner Hyderabad</a:t>
            </a:r>
          </a:p>
        </p:txBody>
      </p:sp>
      <p:sp>
        <p:nvSpPr>
          <p:cNvPr id="8" name="TextBox 8"/>
          <p:cNvSpPr txBox="1"/>
          <p:nvPr/>
        </p:nvSpPr>
        <p:spPr>
          <a:xfrm>
            <a:off x="7492213" y="6508109"/>
            <a:ext cx="3629616" cy="769210"/>
          </a:xfrm>
          <a:prstGeom prst="rect">
            <a:avLst/>
          </a:prstGeom>
        </p:spPr>
        <p:txBody>
          <a:bodyPr lIns="0" tIns="0" rIns="0" bIns="0" rtlCol="0" anchor="t">
            <a:spAutoFit/>
          </a:bodyPr>
          <a:lstStyle/>
          <a:p>
            <a:pPr algn="ctr">
              <a:lnSpc>
                <a:spcPts val="1687"/>
              </a:lnSpc>
            </a:pPr>
            <a:r>
              <a:rPr lang="en-US" sz="1312">
                <a:solidFill>
                  <a:srgbClr val="FFFFFF"/>
                </a:solidFill>
                <a:latin typeface="Roboto"/>
                <a:ea typeface="Roboto"/>
                <a:cs typeface="Roboto"/>
                <a:sym typeface="Roboto"/>
              </a:rPr>
              <a:t>Data-driven community climate action</a:t>
            </a:r>
          </a:p>
        </p:txBody>
      </p:sp>
      <p:sp>
        <p:nvSpPr>
          <p:cNvPr id="9" name="TextBox 9"/>
          <p:cNvSpPr txBox="1"/>
          <p:nvPr/>
        </p:nvSpPr>
        <p:spPr>
          <a:xfrm>
            <a:off x="12759366" y="5812784"/>
            <a:ext cx="4186714" cy="959129"/>
          </a:xfrm>
          <a:prstGeom prst="rect">
            <a:avLst/>
          </a:prstGeom>
        </p:spPr>
        <p:txBody>
          <a:bodyPr lIns="0" tIns="0" rIns="0" bIns="0" rtlCol="0" anchor="t">
            <a:spAutoFit/>
          </a:bodyPr>
          <a:lstStyle/>
          <a:p>
            <a:pPr algn="ctr">
              <a:lnSpc>
                <a:spcPts val="2062"/>
              </a:lnSpc>
            </a:pPr>
            <a:r>
              <a:rPr lang="en-US" sz="1687">
                <a:solidFill>
                  <a:srgbClr val="FFFFFF"/>
                </a:solidFill>
                <a:latin typeface="Roboto"/>
                <a:ea typeface="Roboto"/>
                <a:cs typeface="Roboto"/>
                <a:sym typeface="Roboto"/>
              </a:rPr>
              <a:t>Validate with Community</a:t>
            </a:r>
          </a:p>
        </p:txBody>
      </p:sp>
      <p:sp>
        <p:nvSpPr>
          <p:cNvPr id="10" name="TextBox 10"/>
          <p:cNvSpPr txBox="1"/>
          <p:nvPr/>
        </p:nvSpPr>
        <p:spPr>
          <a:xfrm>
            <a:off x="12759366" y="6897443"/>
            <a:ext cx="4186714" cy="769210"/>
          </a:xfrm>
          <a:prstGeom prst="rect">
            <a:avLst/>
          </a:prstGeom>
        </p:spPr>
        <p:txBody>
          <a:bodyPr lIns="0" tIns="0" rIns="0" bIns="0" rtlCol="0" anchor="t">
            <a:spAutoFit/>
          </a:bodyPr>
          <a:lstStyle/>
          <a:p>
            <a:pPr algn="ctr">
              <a:lnSpc>
                <a:spcPts val="1687"/>
              </a:lnSpc>
            </a:pPr>
            <a:r>
              <a:rPr lang="en-US" sz="1312">
                <a:solidFill>
                  <a:srgbClr val="FFFFFF"/>
                </a:solidFill>
                <a:latin typeface="Roboto"/>
                <a:ea typeface="Roboto"/>
                <a:cs typeface="Roboto"/>
                <a:sym typeface="Roboto"/>
              </a:rPr>
              <a:t>Gather feedback and local insights</a:t>
            </a:r>
          </a:p>
        </p:txBody>
      </p:sp>
      <p:sp>
        <p:nvSpPr>
          <p:cNvPr id="11" name="TextBox 11"/>
          <p:cNvSpPr txBox="1"/>
          <p:nvPr/>
        </p:nvSpPr>
        <p:spPr>
          <a:xfrm>
            <a:off x="1507569" y="8481184"/>
            <a:ext cx="3798437" cy="484327"/>
          </a:xfrm>
          <a:prstGeom prst="rect">
            <a:avLst/>
          </a:prstGeom>
        </p:spPr>
        <p:txBody>
          <a:bodyPr lIns="0" tIns="0" rIns="0" bIns="0" rtlCol="0" anchor="t">
            <a:spAutoFit/>
          </a:bodyPr>
          <a:lstStyle/>
          <a:p>
            <a:pPr algn="ctr">
              <a:lnSpc>
                <a:spcPts val="2062"/>
              </a:lnSpc>
            </a:pPr>
            <a:r>
              <a:rPr lang="en-US" sz="1687">
                <a:solidFill>
                  <a:srgbClr val="FFFFFF"/>
                </a:solidFill>
                <a:latin typeface="Roboto"/>
                <a:ea typeface="Roboto"/>
                <a:cs typeface="Roboto"/>
                <a:sym typeface="Roboto"/>
              </a:rPr>
              <a:t>Scale to Cities</a:t>
            </a:r>
          </a:p>
        </p:txBody>
      </p:sp>
      <p:sp>
        <p:nvSpPr>
          <p:cNvPr id="12" name="TextBox 12"/>
          <p:cNvSpPr txBox="1"/>
          <p:nvPr/>
        </p:nvSpPr>
        <p:spPr>
          <a:xfrm>
            <a:off x="1313421" y="9091041"/>
            <a:ext cx="4186714" cy="769210"/>
          </a:xfrm>
          <a:prstGeom prst="rect">
            <a:avLst/>
          </a:prstGeom>
        </p:spPr>
        <p:txBody>
          <a:bodyPr lIns="0" tIns="0" rIns="0" bIns="0" rtlCol="0" anchor="t">
            <a:spAutoFit/>
          </a:bodyPr>
          <a:lstStyle/>
          <a:p>
            <a:pPr algn="ctr">
              <a:lnSpc>
                <a:spcPts val="1687"/>
              </a:lnSpc>
            </a:pPr>
            <a:r>
              <a:rPr lang="en-US" sz="1312">
                <a:solidFill>
                  <a:srgbClr val="FFFFFF"/>
                </a:solidFill>
                <a:latin typeface="Roboto"/>
                <a:ea typeface="Roboto"/>
                <a:cs typeface="Roboto"/>
                <a:sym typeface="Roboto"/>
              </a:rPr>
              <a:t>Expand successful models broadly</a:t>
            </a:r>
          </a:p>
        </p:txBody>
      </p:sp>
      <p:sp>
        <p:nvSpPr>
          <p:cNvPr id="13" name="TextBox 13"/>
          <p:cNvSpPr txBox="1"/>
          <p:nvPr/>
        </p:nvSpPr>
        <p:spPr>
          <a:xfrm>
            <a:off x="1980257" y="2825734"/>
            <a:ext cx="3798437" cy="484327"/>
          </a:xfrm>
          <a:prstGeom prst="rect">
            <a:avLst/>
          </a:prstGeom>
        </p:spPr>
        <p:txBody>
          <a:bodyPr lIns="0" tIns="0" rIns="0" bIns="0" rtlCol="0" anchor="t">
            <a:spAutoFit/>
          </a:bodyPr>
          <a:lstStyle/>
          <a:p>
            <a:pPr algn="ctr">
              <a:lnSpc>
                <a:spcPts val="2062"/>
              </a:lnSpc>
            </a:pPr>
            <a:r>
              <a:rPr lang="en-US" sz="1687">
                <a:solidFill>
                  <a:srgbClr val="CFD0D8"/>
                </a:solidFill>
                <a:latin typeface="Roboto"/>
                <a:ea typeface="Roboto"/>
                <a:cs typeface="Roboto"/>
                <a:sym typeface="Roboto"/>
              </a:rPr>
              <a:t>Implement Pilots</a:t>
            </a:r>
          </a:p>
        </p:txBody>
      </p:sp>
      <p:sp>
        <p:nvSpPr>
          <p:cNvPr id="14" name="TextBox 14"/>
          <p:cNvSpPr txBox="1"/>
          <p:nvPr/>
        </p:nvSpPr>
        <p:spPr>
          <a:xfrm>
            <a:off x="1786118" y="3435601"/>
            <a:ext cx="4186714" cy="769210"/>
          </a:xfrm>
          <a:prstGeom prst="rect">
            <a:avLst/>
          </a:prstGeom>
        </p:spPr>
        <p:txBody>
          <a:bodyPr lIns="0" tIns="0" rIns="0" bIns="0" rtlCol="0" anchor="t">
            <a:spAutoFit/>
          </a:bodyPr>
          <a:lstStyle/>
          <a:p>
            <a:pPr algn="ctr">
              <a:lnSpc>
                <a:spcPts val="1687"/>
              </a:lnSpc>
            </a:pPr>
            <a:r>
              <a:rPr lang="en-US" sz="1312">
                <a:solidFill>
                  <a:srgbClr val="CFD0D8"/>
                </a:solidFill>
                <a:latin typeface="Roboto"/>
                <a:ea typeface="Roboto"/>
                <a:cs typeface="Roboto"/>
                <a:sym typeface="Roboto"/>
              </a:rPr>
              <a:t>Test interventions in neighborhoods</a:t>
            </a:r>
          </a:p>
        </p:txBody>
      </p:sp>
      <p:sp>
        <p:nvSpPr>
          <p:cNvPr id="15" name="TextBox 15"/>
          <p:cNvSpPr txBox="1"/>
          <p:nvPr/>
        </p:nvSpPr>
        <p:spPr>
          <a:xfrm>
            <a:off x="549621" y="11468843"/>
            <a:ext cx="17188758" cy="267291"/>
          </a:xfrm>
          <a:prstGeom prst="rect">
            <a:avLst/>
          </a:prstGeom>
        </p:spPr>
        <p:txBody>
          <a:bodyPr lIns="0" tIns="0" rIns="0" bIns="0" rtlCol="0" anchor="t">
            <a:spAutoFit/>
          </a:bodyPr>
          <a:lstStyle/>
          <a:p>
            <a:pPr algn="l">
              <a:lnSpc>
                <a:spcPts val="1687"/>
              </a:lnSpc>
            </a:pPr>
            <a:r>
              <a:rPr lang="en-US" sz="1062">
                <a:solidFill>
                  <a:srgbClr val="CFD0D8"/>
                </a:solidFill>
                <a:latin typeface="Roboto"/>
                <a:ea typeface="Roboto"/>
                <a:cs typeface="Roboto"/>
                <a:sym typeface="Roboto"/>
              </a:rPr>
              <a:t>This isn't the end of the project—it's just the beginning. The next phase is real-world implementation, community validation, and scaling to other cities. Together, we can transform data into lasting climate action.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grpSp>
        <p:nvGrpSpPr>
          <p:cNvPr id="3" name="Group 3"/>
          <p:cNvGrpSpPr/>
          <p:nvPr/>
        </p:nvGrpSpPr>
        <p:grpSpPr>
          <a:xfrm>
            <a:off x="0" y="0"/>
            <a:ext cx="18288000" cy="10787062"/>
            <a:chOff x="0" y="0"/>
            <a:chExt cx="23253616" cy="13716000"/>
          </a:xfrm>
        </p:grpSpPr>
        <p:sp>
          <p:nvSpPr>
            <p:cNvPr id="4" name="Freeform 4" descr="preencoded.png"/>
            <p:cNvSpPr/>
            <p:nvPr/>
          </p:nvSpPr>
          <p:spPr>
            <a:xfrm>
              <a:off x="0" y="0"/>
              <a:ext cx="23253616" cy="13716000"/>
            </a:xfrm>
            <a:custGeom>
              <a:avLst/>
              <a:gdLst/>
              <a:ahLst/>
              <a:cxnLst/>
              <a:rect l="l" t="t" r="r" b="b"/>
              <a:pathLst>
                <a:path w="23253616" h="13716000">
                  <a:moveTo>
                    <a:pt x="0" y="0"/>
                  </a:moveTo>
                  <a:lnTo>
                    <a:pt x="23253616" y="0"/>
                  </a:lnTo>
                  <a:lnTo>
                    <a:pt x="23253616" y="13716000"/>
                  </a:lnTo>
                  <a:lnTo>
                    <a:pt x="0" y="13716000"/>
                  </a:lnTo>
                  <a:close/>
                </a:path>
              </a:pathLst>
            </a:custGeom>
            <a:blipFill>
              <a:blip r:embed="rId4">
                <a:alphaModFix amt="95000"/>
              </a:blip>
              <a:stretch>
                <a:fillRect l="-2430" r="-2430"/>
              </a:stretch>
            </a:blipFill>
          </p:spPr>
          <p:txBody>
            <a:bodyPr/>
            <a:lstStyle/>
            <a:p>
              <a:endParaRPr lang="en-IN"/>
            </a:p>
          </p:txBody>
        </p:sp>
      </p:grpSp>
      <p:grpSp>
        <p:nvGrpSpPr>
          <p:cNvPr id="5" name="Group 5"/>
          <p:cNvGrpSpPr/>
          <p:nvPr/>
        </p:nvGrpSpPr>
        <p:grpSpPr>
          <a:xfrm>
            <a:off x="0" y="0"/>
            <a:ext cx="18288000" cy="10287000"/>
            <a:chOff x="0" y="0"/>
            <a:chExt cx="23188012" cy="13043257"/>
          </a:xfrm>
        </p:grpSpPr>
        <p:sp>
          <p:nvSpPr>
            <p:cNvPr id="6" name="Freeform 6"/>
            <p:cNvSpPr/>
            <p:nvPr/>
          </p:nvSpPr>
          <p:spPr>
            <a:xfrm>
              <a:off x="0" y="0"/>
              <a:ext cx="23188013" cy="13043257"/>
            </a:xfrm>
            <a:custGeom>
              <a:avLst/>
              <a:gdLst/>
              <a:ahLst/>
              <a:cxnLst/>
              <a:rect l="l" t="t" r="r" b="b"/>
              <a:pathLst>
                <a:path w="23188013" h="13043257">
                  <a:moveTo>
                    <a:pt x="0" y="0"/>
                  </a:moveTo>
                  <a:lnTo>
                    <a:pt x="23188013" y="0"/>
                  </a:lnTo>
                  <a:lnTo>
                    <a:pt x="23188013" y="13043257"/>
                  </a:lnTo>
                  <a:lnTo>
                    <a:pt x="0" y="13043257"/>
                  </a:lnTo>
                  <a:close/>
                </a:path>
              </a:pathLst>
            </a:custGeom>
            <a:solidFill>
              <a:srgbClr val="000018">
                <a:alpha val="63922"/>
              </a:srgbClr>
            </a:solidFill>
            <a:ln w="12700">
              <a:solidFill>
                <a:srgbClr val="000000"/>
              </a:solidFill>
            </a:ln>
          </p:spPr>
          <p:txBody>
            <a:bodyPr/>
            <a:lstStyle/>
            <a:p>
              <a:endParaRPr lang="en-IN"/>
            </a:p>
          </p:txBody>
        </p:sp>
      </p:grpSp>
      <p:sp>
        <p:nvSpPr>
          <p:cNvPr id="7" name="TextBox 7"/>
          <p:cNvSpPr txBox="1"/>
          <p:nvPr/>
        </p:nvSpPr>
        <p:spPr>
          <a:xfrm>
            <a:off x="992238" y="3926529"/>
            <a:ext cx="12404522" cy="1607639"/>
          </a:xfrm>
          <a:prstGeom prst="rect">
            <a:avLst/>
          </a:prstGeom>
        </p:spPr>
        <p:txBody>
          <a:bodyPr lIns="0" tIns="0" rIns="0" bIns="0" rtlCol="0" anchor="t">
            <a:spAutoFit/>
          </a:bodyPr>
          <a:lstStyle/>
          <a:p>
            <a:pPr algn="l">
              <a:lnSpc>
                <a:spcPts val="12187"/>
              </a:lnSpc>
            </a:pPr>
            <a:r>
              <a:rPr lang="en-US" sz="9750">
                <a:solidFill>
                  <a:srgbClr val="FFFFFF"/>
                </a:solidFill>
                <a:latin typeface="Roboto"/>
                <a:ea typeface="Roboto"/>
                <a:cs typeface="Roboto"/>
                <a:sym typeface="Roboto"/>
              </a:rPr>
              <a:t>Thank You, 1M1B.</a:t>
            </a:r>
          </a:p>
        </p:txBody>
      </p:sp>
      <p:sp>
        <p:nvSpPr>
          <p:cNvPr id="8" name="TextBox 8"/>
          <p:cNvSpPr txBox="1"/>
          <p:nvPr/>
        </p:nvSpPr>
        <p:spPr>
          <a:xfrm>
            <a:off x="992238" y="5810993"/>
            <a:ext cx="16303523" cy="492176"/>
          </a:xfrm>
          <a:prstGeom prst="rect">
            <a:avLst/>
          </a:prstGeom>
        </p:spPr>
        <p:txBody>
          <a:bodyPr lIns="0" tIns="0" rIns="0" bIns="0" rtlCol="0" anchor="t">
            <a:spAutoFit/>
          </a:bodyPr>
          <a:lstStyle/>
          <a:p>
            <a:pPr algn="l">
              <a:lnSpc>
                <a:spcPts val="3125"/>
              </a:lnSpc>
            </a:pPr>
            <a:r>
              <a:rPr lang="en-US" sz="1937">
                <a:solidFill>
                  <a:srgbClr val="CFD0D8"/>
                </a:solidFill>
                <a:latin typeface="Roboto"/>
                <a:ea typeface="Roboto"/>
                <a:cs typeface="Roboto"/>
                <a:sym typeface="Roboto"/>
              </a:rPr>
              <a:t>For the invaluable opportunity to drive meaningful change and contribute to a cleaner Hyderabad.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2079</Words>
  <Application>Microsoft Office PowerPoint</Application>
  <PresentationFormat>Custom</PresentationFormat>
  <Paragraphs>221</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Arial</vt:lpstr>
      <vt:lpstr>Roboto Bold</vt:lpstr>
      <vt:lpstr>Roboto Bold Italics</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Urban-Emission-Hotspot-Mapping-Hyderabad (1).pptx</dc:title>
  <cp:lastModifiedBy>Yokshithchowdary kuchipudi</cp:lastModifiedBy>
  <cp:revision>1</cp:revision>
  <dcterms:created xsi:type="dcterms:W3CDTF">2006-08-16T00:00:00Z</dcterms:created>
  <dcterms:modified xsi:type="dcterms:W3CDTF">2026-01-02T06:47:04Z</dcterms:modified>
  <dc:identifier>DAG9DnDSzSo</dc:identifier>
</cp:coreProperties>
</file>